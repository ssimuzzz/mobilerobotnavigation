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71" r:id="rId10"/>
    <p:sldId id="264" r:id="rId11"/>
    <p:sldId id="265" r:id="rId12"/>
    <p:sldId id="266" r:id="rId13"/>
    <p:sldId id="267" r:id="rId14"/>
    <p:sldId id="268" r:id="rId15"/>
    <p:sldId id="269" r:id="rId16"/>
    <p:sldId id="270" r:id="rId17"/>
    <p:sldId id="273" r:id="rId18"/>
    <p:sldId id="276" r:id="rId19"/>
    <p:sldId id="274" r:id="rId20"/>
    <p:sldId id="272"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EDACC5F-7525-39CA-BE44-7F818D23E369}" name="Alessandro Fioritto" initials="AF" userId="S::152205@spes.uniud.it::badbab9d-d3e2-4602-91f9-125c1da0bed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477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308" autoAdjust="0"/>
    <p:restoredTop sz="94660"/>
  </p:normalViewPr>
  <p:slideViewPr>
    <p:cSldViewPr snapToGrid="0">
      <p:cViewPr varScale="1">
        <p:scale>
          <a:sx n="105" d="100"/>
          <a:sy n="105" d="100"/>
        </p:scale>
        <p:origin x="288"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8/10/relationships/authors" Target="author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titolo">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it-IT"/>
            </a:p>
          </p:txBody>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it-IT"/>
            </a:p>
          </p:txBody>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it-IT"/>
            </a:p>
          </p:txBody>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it-IT"/>
            </a:p>
          </p:txBody>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C7CC04FB-86A9-4518-B68C-513A8C480987}" type="datetimeFigureOut">
              <a:rPr lang="it-IT" smtClean="0"/>
              <a:t>18/02/2026</a:t>
            </a:fld>
            <a:endParaRPr lang="it-IT"/>
          </a:p>
        </p:txBody>
      </p:sp>
      <p:sp>
        <p:nvSpPr>
          <p:cNvPr id="5" name="Footer Placeholder 4"/>
          <p:cNvSpPr>
            <a:spLocks noGrp="1"/>
          </p:cNvSpPr>
          <p:nvPr>
            <p:ph type="ftr" sz="quarter" idx="11"/>
          </p:nvPr>
        </p:nvSpPr>
        <p:spPr>
          <a:xfrm>
            <a:off x="1876424" y="5410201"/>
            <a:ext cx="5124886" cy="365125"/>
          </a:xfrm>
        </p:spPr>
        <p:txBody>
          <a:bodyPr/>
          <a:lstStyle/>
          <a:p>
            <a:endParaRPr lang="it-IT"/>
          </a:p>
        </p:txBody>
      </p:sp>
      <p:sp>
        <p:nvSpPr>
          <p:cNvPr id="6" name="Slide Number Placeholder 5"/>
          <p:cNvSpPr>
            <a:spLocks noGrp="1"/>
          </p:cNvSpPr>
          <p:nvPr>
            <p:ph type="sldNum" sz="quarter" idx="12"/>
          </p:nvPr>
        </p:nvSpPr>
        <p:spPr>
          <a:xfrm>
            <a:off x="9896911" y="5410199"/>
            <a:ext cx="771089" cy="365125"/>
          </a:xfrm>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4838560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7CC04FB-86A9-4518-B68C-513A8C480987}" type="datetimeFigureOut">
              <a:rPr lang="it-IT" smtClean="0"/>
              <a:t>18/02/2026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18595726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C7CC04FB-86A9-4518-B68C-513A8C480987}" type="datetimeFigureOut">
              <a:rPr lang="it-IT" smtClean="0"/>
              <a:t>18/02/2026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7101397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C7CC04FB-86A9-4518-B68C-513A8C480987}" type="datetimeFigureOut">
              <a:rPr lang="it-IT" smtClean="0"/>
              <a:t>18/02/2026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5806628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141410" y="3073397"/>
            <a:ext cx="4878391"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6172200" y="3073397"/>
            <a:ext cx="4875210" cy="2717801"/>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C7CC04FB-86A9-4518-B68C-513A8C480987}" type="datetimeFigureOut">
              <a:rPr lang="it-IT" smtClean="0"/>
              <a:t>18/02/2026</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9528418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C7CC04FB-86A9-4518-B68C-513A8C480987}" type="datetimeFigureOut">
              <a:rPr lang="it-IT" smtClean="0"/>
              <a:t>18/02/2026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177147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CC04FB-86A9-4518-B68C-513A8C480987}" type="datetimeFigureOut">
              <a:rPr lang="it-IT" smtClean="0"/>
              <a:t>18/02/2026</a:t>
            </a:fld>
            <a:endParaRPr lang="it-IT"/>
          </a:p>
        </p:txBody>
      </p:sp>
      <p:sp>
        <p:nvSpPr>
          <p:cNvPr id="3" name="Footer Placeholder 2"/>
          <p:cNvSpPr>
            <a:spLocks noGrp="1"/>
          </p:cNvSpPr>
          <p:nvPr>
            <p:ph type="ftr" sz="quarter" idx="11"/>
          </p:nvPr>
        </p:nvSpPr>
        <p:spPr/>
        <p:txBody>
          <a:bodyPr/>
          <a:lstStyle/>
          <a:p>
            <a:endParaRPr lang="it-IT"/>
          </a:p>
        </p:txBody>
      </p:sp>
      <p:sp>
        <p:nvSpPr>
          <p:cNvPr id="4" name="Slide Number Placeholder 3"/>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25954500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it-IT"/>
              <a:t>Fare clic per modificare lo stile del titolo dello schema</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2773917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20124967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it-IT"/>
              <a:t>Fare clic sull'icona per inserire un'immagine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5751950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2613968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it-IT"/>
              <a:t>Fare clic per modificare lo stile del titolo dello schema</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9096055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C7CC04FB-86A9-4518-B68C-513A8C480987}" type="datetimeFigureOut">
              <a:rPr lang="it-IT" smtClean="0"/>
              <a:t>18/02/2026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6301001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it-IT"/>
              <a:t>Fare clic per modificare lo stile del titolo dello schema</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C7CC04FB-86A9-4518-B68C-513A8C480987}" type="datetimeFigureOut">
              <a:rPr lang="it-IT" smtClean="0"/>
              <a:t>18/02/2026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23087470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 immagine">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it-IT"/>
              <a:t>Fare clic per modificare lo stile del titolo dello schema</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it-IT"/>
              <a:t>Fare clic sull'icona per inserire un'immagine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3" name="Date Placeholder 2"/>
          <p:cNvSpPr>
            <a:spLocks noGrp="1"/>
          </p:cNvSpPr>
          <p:nvPr>
            <p:ph type="dt" sz="half" idx="10"/>
          </p:nvPr>
        </p:nvSpPr>
        <p:spPr/>
        <p:txBody>
          <a:bodyPr/>
          <a:lstStyle/>
          <a:p>
            <a:fld id="{C7CC04FB-86A9-4518-B68C-513A8C480987}" type="datetimeFigureOut">
              <a:rPr lang="it-IT" smtClean="0"/>
              <a:t>18/02/2026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19832813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7CC04FB-86A9-4518-B68C-513A8C480987}" type="datetimeFigureOut">
              <a:rPr lang="it-IT" smtClean="0"/>
              <a:t>18/02/2026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264178967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C7CC04FB-86A9-4518-B68C-513A8C480987}" type="datetimeFigureOut">
              <a:rPr lang="it-IT" smtClean="0"/>
              <a:t>18/02/2026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53989CFC-89DE-4F17-B3B6-DFC80C736B18}" type="slidenum">
              <a:rPr lang="it-IT" smtClean="0"/>
              <a:t>‹N›</a:t>
            </a:fld>
            <a:endParaRPr lang="it-IT"/>
          </a:p>
        </p:txBody>
      </p:sp>
    </p:spTree>
    <p:extLst>
      <p:ext uri="{BB962C8B-B14F-4D97-AF65-F5344CB8AC3E}">
        <p14:creationId xmlns:p14="http://schemas.microsoft.com/office/powerpoint/2010/main" val="30214856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it-IT"/>
              </a:p>
            </p:txBody>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it-IT"/>
              </a:p>
            </p:txBody>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it-IT"/>
              </a:p>
            </p:txBody>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it-IT"/>
              </a:p>
            </p:txBody>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7CC04FB-86A9-4518-B68C-513A8C480987}" type="datetimeFigureOut">
              <a:rPr lang="it-IT" smtClean="0"/>
              <a:t>18/02/2026</a:t>
            </a:fld>
            <a:endParaRPr lang="it-IT"/>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it-IT"/>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53989CFC-89DE-4F17-B3B6-DFC80C736B18}" type="slidenum">
              <a:rPr lang="it-IT" smtClean="0"/>
              <a:t>‹N›</a:t>
            </a:fld>
            <a:endParaRPr lang="it-IT"/>
          </a:p>
        </p:txBody>
      </p:sp>
    </p:spTree>
    <p:extLst>
      <p:ext uri="{BB962C8B-B14F-4D97-AF65-F5344CB8AC3E}">
        <p14:creationId xmlns:p14="http://schemas.microsoft.com/office/powerpoint/2010/main" val="241628012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1C6D790-69F0-40CA-813A-84D724D1C6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48476"/>
          </a:xfrm>
          <a:prstGeom prst="rect">
            <a:avLst/>
          </a:prstGeom>
          <a:solidFill>
            <a:schemeClr val="bg2">
              <a:lumMod val="5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ound Diagonal Corner Rectangle 7">
            <a:extLst>
              <a:ext uri="{FF2B5EF4-FFF2-40B4-BE49-F238E27FC236}">
                <a16:creationId xmlns:a16="http://schemas.microsoft.com/office/drawing/2014/main" id="{F5A78137-DBB7-4A93-98AC-5606814E2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40673" y="806450"/>
            <a:ext cx="9319476" cy="4502149"/>
          </a:xfrm>
          <a:prstGeom prst="round2DiagRect">
            <a:avLst>
              <a:gd name="adj1" fmla="val 7929"/>
              <a:gd name="adj2" fmla="val 0"/>
            </a:avLst>
          </a:prstGeom>
          <a:solidFill>
            <a:schemeClr val="bg2">
              <a:lumMod val="50000"/>
              <a:alpha val="80000"/>
            </a:schemeClr>
          </a:solidFill>
          <a:ln w="19050" cap="sq">
            <a:solidFill>
              <a:srgbClr val="FFFFFF">
                <a:alpha val="60000"/>
              </a:srgbClr>
            </a:solidFill>
            <a:miter lim="800000"/>
          </a:ln>
          <a:effectLst>
            <a:outerShdw blurRad="88900" dist="38100" dir="5400000" algn="t" rotWithShape="0">
              <a:srgbClr val="092338">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7BBB9D27-EADC-CFED-EFF4-13620AF79305}"/>
              </a:ext>
            </a:extLst>
          </p:cNvPr>
          <p:cNvSpPr>
            <a:spLocks noGrp="1"/>
          </p:cNvSpPr>
          <p:nvPr>
            <p:ph type="ctrTitle"/>
          </p:nvPr>
        </p:nvSpPr>
        <p:spPr>
          <a:xfrm>
            <a:off x="2685145" y="1125511"/>
            <a:ext cx="7135566" cy="2656971"/>
          </a:xfrm>
        </p:spPr>
        <p:txBody>
          <a:bodyPr>
            <a:normAutofit/>
          </a:bodyPr>
          <a:lstStyle/>
          <a:p>
            <a:r>
              <a:rPr lang="it-IT" sz="5400" dirty="0">
                <a:solidFill>
                  <a:srgbClr val="FFFFFF"/>
                </a:solidFill>
              </a:rPr>
              <a:t>project proposal</a:t>
            </a:r>
            <a:br>
              <a:rPr lang="it-IT" sz="5400" dirty="0">
                <a:solidFill>
                  <a:srgbClr val="FFFFFF"/>
                </a:solidFill>
              </a:rPr>
            </a:br>
            <a:r>
              <a:rPr lang="it-IT" sz="5400" dirty="0">
                <a:solidFill>
                  <a:srgbClr val="FFFFFF"/>
                </a:solidFill>
              </a:rPr>
              <a:t>Group K</a:t>
            </a:r>
          </a:p>
        </p:txBody>
      </p:sp>
      <p:sp>
        <p:nvSpPr>
          <p:cNvPr id="3" name="Sottotitolo 2">
            <a:extLst>
              <a:ext uri="{FF2B5EF4-FFF2-40B4-BE49-F238E27FC236}">
                <a16:creationId xmlns:a16="http://schemas.microsoft.com/office/drawing/2014/main" id="{6FEC3CB3-2302-7D30-3AA8-FD7B12691B25}"/>
              </a:ext>
            </a:extLst>
          </p:cNvPr>
          <p:cNvSpPr>
            <a:spLocks noGrp="1"/>
          </p:cNvSpPr>
          <p:nvPr>
            <p:ph type="subTitle" idx="1"/>
          </p:nvPr>
        </p:nvSpPr>
        <p:spPr>
          <a:xfrm>
            <a:off x="2684139" y="3782482"/>
            <a:ext cx="7136760" cy="1204383"/>
          </a:xfrm>
        </p:spPr>
        <p:txBody>
          <a:bodyPr>
            <a:normAutofit/>
          </a:bodyPr>
          <a:lstStyle/>
          <a:p>
            <a:r>
              <a:rPr lang="it-IT" sz="1800" dirty="0">
                <a:solidFill>
                  <a:srgbClr val="FFFFFF"/>
                </a:solidFill>
              </a:rPr>
              <a:t>Pilutti filippo Simonitti Samuele Alessandro Fioritto</a:t>
            </a:r>
          </a:p>
        </p:txBody>
      </p:sp>
    </p:spTree>
    <p:extLst>
      <p:ext uri="{BB962C8B-B14F-4D97-AF65-F5344CB8AC3E}">
        <p14:creationId xmlns:p14="http://schemas.microsoft.com/office/powerpoint/2010/main" val="2837898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89B6C04D-E0D5-17DC-AB1A-3FEDF3A79413}"/>
              </a:ext>
            </a:extLst>
          </p:cNvPr>
          <p:cNvSpPr>
            <a:spLocks noGrp="1"/>
          </p:cNvSpPr>
          <p:nvPr>
            <p:ph type="title"/>
          </p:nvPr>
        </p:nvSpPr>
        <p:spPr>
          <a:xfrm>
            <a:off x="1198811" y="1066800"/>
            <a:ext cx="3059969" cy="4697413"/>
          </a:xfrm>
        </p:spPr>
        <p:txBody>
          <a:bodyPr>
            <a:normAutofit/>
          </a:bodyPr>
          <a:lstStyle/>
          <a:p>
            <a:r>
              <a:rPr lang="it-IT" dirty="0"/>
              <a:t>enviROnment</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86EFCE9A-1145-8265-0A44-4F6FC8E3A51A}"/>
              </a:ext>
            </a:extLst>
          </p:cNvPr>
          <p:cNvSpPr>
            <a:spLocks noGrp="1"/>
          </p:cNvSpPr>
          <p:nvPr>
            <p:ph idx="1"/>
          </p:nvPr>
        </p:nvSpPr>
        <p:spPr>
          <a:xfrm>
            <a:off x="4782246" y="456406"/>
            <a:ext cx="7438329" cy="469741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We decided to use the normal turtlebot 3 arena with some changes: we added 3 pairs of walls to form a simple maze that the robot should navigate without hitting said walls or any other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solid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object</a:t>
            </a: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r>
              <a:rPr lang="it-IT" sz="2200" b="1" dirty="0">
                <a:latin typeface="Calibri Light" panose="020F0302020204030204" pitchFamily="34" charset="0"/>
                <a:ea typeface="Calibri Light" panose="020F0302020204030204" pitchFamily="34" charset="0"/>
                <a:cs typeface="Calibri Light" panose="020F0302020204030204" pitchFamily="34" charset="0"/>
              </a:rPr>
              <a:t>Optional: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If</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find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robot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too</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efficient</a:t>
            </a:r>
            <a:r>
              <a:rPr lang="it-IT" sz="2200" dirty="0">
                <a:latin typeface="Calibri Light" panose="020F0302020204030204" pitchFamily="34" charset="0"/>
                <a:ea typeface="Calibri Light" panose="020F0302020204030204" pitchFamily="34" charset="0"/>
                <a:cs typeface="Calibri Light" panose="020F0302020204030204" pitchFamily="34" charset="0"/>
              </a:rPr>
              <a:t>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navigating</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maze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plan to make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harder</a:t>
            </a:r>
            <a:r>
              <a:rPr lang="it-IT" sz="2200" dirty="0">
                <a:latin typeface="Calibri Light" panose="020F0302020204030204" pitchFamily="34" charset="0"/>
                <a:ea typeface="Calibri Light" panose="020F0302020204030204" pitchFamily="34" charset="0"/>
                <a:cs typeface="Calibri Light" panose="020F0302020204030204" pitchFamily="34" charset="0"/>
              </a:rPr>
              <a:t> (by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adding</a:t>
            </a:r>
            <a:r>
              <a:rPr lang="it-IT" sz="2200" dirty="0">
                <a:latin typeface="Calibri Light" panose="020F0302020204030204" pitchFamily="34" charset="0"/>
                <a:ea typeface="Calibri Light" panose="020F0302020204030204" pitchFamily="34" charset="0"/>
                <a:cs typeface="Calibri Light" panose="020F0302020204030204" pitchFamily="34" charset="0"/>
              </a:rPr>
              <a:t> more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obstacles</a:t>
            </a:r>
            <a:r>
              <a:rPr lang="it-IT" sz="2200" dirty="0">
                <a:latin typeface="Calibri Light" panose="020F0302020204030204" pitchFamily="34" charset="0"/>
                <a:ea typeface="Calibri Light" panose="020F0302020204030204" pitchFamily="34" charset="0"/>
                <a:cs typeface="Calibri Light" panose="020F0302020204030204" pitchFamily="34" charset="0"/>
              </a:rPr>
              <a:t> or a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longer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route</a:t>
            </a:r>
            <a:r>
              <a:rPr lang="it-IT" sz="2200" dirty="0">
                <a:latin typeface="Calibri Light" panose="020F0302020204030204" pitchFamily="34" charset="0"/>
                <a:ea typeface="Calibri Light" panose="020F0302020204030204" pitchFamily="34" charset="0"/>
                <a:cs typeface="Calibri Light" panose="020F0302020204030204" pitchFamily="34" charset="0"/>
              </a:rPr>
              <a:t> to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objective</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endParaRPr lang="it-IT" sz="2200" b="1"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p:txBody>
      </p:sp>
      <p:pic>
        <p:nvPicPr>
          <p:cNvPr id="5" name="Immagine 4" descr="Immagine che contiene Policromia, pixel&#10;&#10;Il contenuto generato dall'IA potrebbe non essere corretto.">
            <a:extLst>
              <a:ext uri="{FF2B5EF4-FFF2-40B4-BE49-F238E27FC236}">
                <a16:creationId xmlns:a16="http://schemas.microsoft.com/office/drawing/2014/main" id="{B76CB909-7CE4-6670-9602-DA515957F5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8309" y="3784568"/>
            <a:ext cx="2456626" cy="2710755"/>
          </a:xfrm>
          <a:prstGeom prst="rect">
            <a:avLst/>
          </a:prstGeom>
        </p:spPr>
      </p:pic>
      <p:pic>
        <p:nvPicPr>
          <p:cNvPr id="7" name="Immagine 6" descr="Immagine che contiene schermata, pixel, design&#10;&#10;Il contenuto generato dall'IA potrebbe non essere corretto.">
            <a:extLst>
              <a:ext uri="{FF2B5EF4-FFF2-40B4-BE49-F238E27FC236}">
                <a16:creationId xmlns:a16="http://schemas.microsoft.com/office/drawing/2014/main" id="{7D7F3170-4F44-A18A-2A8D-D1D3FAA057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45408" y="3784567"/>
            <a:ext cx="3847132" cy="2710756"/>
          </a:xfrm>
          <a:prstGeom prst="rect">
            <a:avLst/>
          </a:prstGeom>
        </p:spPr>
      </p:pic>
    </p:spTree>
    <p:extLst>
      <p:ext uri="{BB962C8B-B14F-4D97-AF65-F5344CB8AC3E}">
        <p14:creationId xmlns:p14="http://schemas.microsoft.com/office/powerpoint/2010/main" val="36882784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9A7FF5C4-5DB8-1649-345B-29A90A41BAE1}"/>
              </a:ext>
            </a:extLst>
          </p:cNvPr>
          <p:cNvSpPr>
            <a:spLocks noGrp="1"/>
          </p:cNvSpPr>
          <p:nvPr>
            <p:ph type="title"/>
          </p:nvPr>
        </p:nvSpPr>
        <p:spPr>
          <a:xfrm>
            <a:off x="1891425" y="1162050"/>
            <a:ext cx="1142270" cy="4697413"/>
          </a:xfrm>
        </p:spPr>
        <p:txBody>
          <a:bodyPr>
            <a:normAutofit/>
          </a:bodyPr>
          <a:lstStyle/>
          <a:p>
            <a:r>
              <a:rPr lang="it-IT" dirty="0" err="1"/>
              <a:t>tASK</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813CABC3-E6F0-C3C2-DB64-3E5459B3AFAF}"/>
              </a:ext>
            </a:extLst>
          </p:cNvPr>
          <p:cNvSpPr>
            <a:spLocks noGrp="1"/>
          </p:cNvSpPr>
          <p:nvPr>
            <p:ph idx="1"/>
          </p:nvPr>
        </p:nvSpPr>
        <p:spPr>
          <a:xfrm>
            <a:off x="4744146" y="1305037"/>
            <a:ext cx="7395467" cy="4238402"/>
          </a:xfrm>
        </p:spPr>
        <p:txBody>
          <a:bodyPr>
            <a:normAutofit/>
          </a:bodyPr>
          <a:lstStyle/>
          <a:p>
            <a:pPr marL="0" indent="0">
              <a:buNone/>
            </a:pPr>
            <a:r>
              <a:rPr lang="it-IT" sz="2200" b="1" dirty="0">
                <a:latin typeface="Calibri Light" panose="020F0302020204030204" pitchFamily="34" charset="0"/>
                <a:ea typeface="Calibri Light" panose="020F0302020204030204" pitchFamily="34" charset="0"/>
                <a:cs typeface="Calibri Light" panose="020F0302020204030204" pitchFamily="34" charset="0"/>
              </a:rPr>
              <a:t>Primary task: </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The chosen task is for the robot to navigate the maze without hitting the walls, the columns or the perimeter of the arena and after that, at the end of the arena, there is a specific position the robot should go towards until it reaches it.</a:t>
            </a:r>
          </a:p>
          <a:p>
            <a:pPr marL="0" indent="0">
              <a:buNone/>
            </a:pP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r>
              <a:rPr lang="it-IT" sz="2200" b="1" dirty="0">
                <a:latin typeface="Calibri Light" panose="020F0302020204030204" pitchFamily="34" charset="0"/>
                <a:ea typeface="Calibri Light" panose="020F0302020204030204" pitchFamily="34" charset="0"/>
                <a:cs typeface="Calibri Light" panose="020F0302020204030204" pitchFamily="34" charset="0"/>
              </a:rPr>
              <a:t>Optional task:</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After reaching the first given position, the turtlebot should navigate the maze backwards, back to the starting position.</a:t>
            </a:r>
          </a:p>
        </p:txBody>
      </p:sp>
    </p:spTree>
    <p:extLst>
      <p:ext uri="{BB962C8B-B14F-4D97-AF65-F5344CB8AC3E}">
        <p14:creationId xmlns:p14="http://schemas.microsoft.com/office/powerpoint/2010/main" val="1061524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94D5E1D8-08D7-0639-5C29-61B5F621E4C1}"/>
              </a:ext>
            </a:extLst>
          </p:cNvPr>
          <p:cNvSpPr>
            <a:spLocks noGrp="1"/>
          </p:cNvSpPr>
          <p:nvPr>
            <p:ph type="title"/>
          </p:nvPr>
        </p:nvSpPr>
        <p:spPr>
          <a:xfrm>
            <a:off x="1274595" y="1093788"/>
            <a:ext cx="3059969" cy="4697413"/>
          </a:xfrm>
        </p:spPr>
        <p:txBody>
          <a:bodyPr>
            <a:normAutofit/>
          </a:bodyPr>
          <a:lstStyle/>
          <a:p>
            <a:r>
              <a:rPr lang="it-IT" dirty="0"/>
              <a:t>Input and </a:t>
            </a:r>
            <a:r>
              <a:rPr lang="it-IT" dirty="0" err="1"/>
              <a:t>sensor</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479A80B3-ADB6-D479-7FFE-44E59E949341}"/>
              </a:ext>
            </a:extLst>
          </p:cNvPr>
          <p:cNvSpPr>
            <a:spLocks noGrp="1"/>
          </p:cNvSpPr>
          <p:nvPr>
            <p:ph idx="1"/>
          </p:nvPr>
        </p:nvSpPr>
        <p:spPr>
          <a:xfrm>
            <a:off x="4891609" y="1858963"/>
            <a:ext cx="7014642" cy="311626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For the visual input of the robot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want</a:t>
            </a:r>
            <a:r>
              <a:rPr lang="it-IT" sz="2200" dirty="0">
                <a:latin typeface="Calibri Light" panose="020F0302020204030204" pitchFamily="34" charset="0"/>
                <a:ea typeface="Calibri Light" panose="020F0302020204030204" pitchFamily="34" charset="0"/>
                <a:cs typeface="Calibri Light" panose="020F0302020204030204" pitchFamily="34" charset="0"/>
              </a:rPr>
              <a:t>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exclusively</a:t>
            </a:r>
            <a:r>
              <a:rPr lang="it-IT" sz="2200" dirty="0">
                <a:latin typeface="Calibri Light" panose="020F0302020204030204" pitchFamily="34" charset="0"/>
                <a:ea typeface="Calibri Light" panose="020F0302020204030204" pitchFamily="34" charset="0"/>
                <a:cs typeface="Calibri Light" panose="020F0302020204030204" pitchFamily="34" charset="0"/>
              </a:rPr>
              <a:t> use the laser sensor: this is because we figured that the laser would be less burdensome than image processing.</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We also changed the number of scannings, from 5 scans (one every 72°) to 24 scans (one every 15°) to hopefully solve some problems with the original model, mainly the tendency to crash on the columns.</a:t>
            </a:r>
          </a:p>
        </p:txBody>
      </p:sp>
    </p:spTree>
    <p:extLst>
      <p:ext uri="{BB962C8B-B14F-4D97-AF65-F5344CB8AC3E}">
        <p14:creationId xmlns:p14="http://schemas.microsoft.com/office/powerpoint/2010/main" val="901464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3C392B05-7D13-08FC-8B70-DD18B549C159}"/>
              </a:ext>
            </a:extLst>
          </p:cNvPr>
          <p:cNvSpPr>
            <a:spLocks noGrp="1"/>
          </p:cNvSpPr>
          <p:nvPr>
            <p:ph type="title"/>
          </p:nvPr>
        </p:nvSpPr>
        <p:spPr>
          <a:xfrm>
            <a:off x="1019015" y="1093787"/>
            <a:ext cx="3059969" cy="4697413"/>
          </a:xfrm>
        </p:spPr>
        <p:txBody>
          <a:bodyPr>
            <a:normAutofit/>
          </a:bodyPr>
          <a:lstStyle/>
          <a:p>
            <a:r>
              <a:rPr lang="it-IT" dirty="0" err="1"/>
              <a:t>Drl</a:t>
            </a:r>
            <a:r>
              <a:rPr lang="it-IT" dirty="0"/>
              <a:t> </a:t>
            </a:r>
            <a:r>
              <a:rPr lang="it-IT" dirty="0" err="1"/>
              <a:t>algorithm</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7491F4A8-ED4C-CC79-0822-BBA51610FEEB}"/>
              </a:ext>
            </a:extLst>
          </p:cNvPr>
          <p:cNvSpPr>
            <a:spLocks noGrp="1"/>
          </p:cNvSpPr>
          <p:nvPr>
            <p:ph idx="1"/>
          </p:nvPr>
        </p:nvSpPr>
        <p:spPr>
          <a:xfrm>
            <a:off x="4852016" y="1975199"/>
            <a:ext cx="7113051" cy="2687289"/>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We intend to use DQN algorithm as its fast training time could allows us to try different combination of weights and parameter values in a relatively short amount of time.</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If we are not able to obtain good results, we plan to try Policy Optimization Algorithms (Reinforce or Actor Critic) which would require much more training time.</a:t>
            </a:r>
          </a:p>
        </p:txBody>
      </p:sp>
    </p:spTree>
    <p:extLst>
      <p:ext uri="{BB962C8B-B14F-4D97-AF65-F5344CB8AC3E}">
        <p14:creationId xmlns:p14="http://schemas.microsoft.com/office/powerpoint/2010/main" val="3435778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C5CDE8B4-FB85-7EB4-6460-A6DC6877A495}"/>
              </a:ext>
            </a:extLst>
          </p:cNvPr>
          <p:cNvSpPr>
            <a:spLocks noGrp="1"/>
          </p:cNvSpPr>
          <p:nvPr>
            <p:ph type="title"/>
          </p:nvPr>
        </p:nvSpPr>
        <p:spPr>
          <a:xfrm>
            <a:off x="1019015" y="1093787"/>
            <a:ext cx="3059969" cy="4697413"/>
          </a:xfrm>
        </p:spPr>
        <p:txBody>
          <a:bodyPr>
            <a:normAutofit/>
          </a:bodyPr>
          <a:lstStyle/>
          <a:p>
            <a:r>
              <a:rPr lang="it-IT" dirty="0" err="1"/>
              <a:t>Reward</a:t>
            </a:r>
            <a:r>
              <a:rPr lang="it-IT" dirty="0"/>
              <a:t> </a:t>
            </a:r>
            <a:r>
              <a:rPr lang="it-IT" dirty="0" err="1"/>
              <a:t>structure</a:t>
            </a:r>
            <a:r>
              <a:rPr lang="it-IT" dirty="0"/>
              <a:t> and curriculum</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4FE48175-44D0-64B3-A504-4925663E7AB8}"/>
              </a:ext>
            </a:extLst>
          </p:cNvPr>
          <p:cNvSpPr>
            <a:spLocks noGrp="1"/>
          </p:cNvSpPr>
          <p:nvPr>
            <p:ph idx="1"/>
          </p:nvPr>
        </p:nvSpPr>
        <p:spPr>
          <a:xfrm>
            <a:off x="4940836" y="1075531"/>
            <a:ext cx="7094001" cy="4697413"/>
          </a:xfrm>
        </p:spPr>
        <p:txBody>
          <a:bodyPr>
            <a:normAutofit fontScale="92500"/>
          </a:bodyPr>
          <a:lstStyle/>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We aim to use a more sparse reward scheme, specifically want to use goal sampling curriculum, meaning that we start from a simple objective (e.g. pass the first line of walls) and build up to a more complex one (reach the coordinates on the other side of the arena) and balance this with an exploration bonus; to optimize the maze navigation time and smoothness we also plan to implement factorized rewards (collision avoidance, time to target).</a:t>
            </a:r>
          </a:p>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We want the robot to perform the maze navigation precisely and, with limited outside information, the exploration bonus could provides adaptability to different types of mazes.</a:t>
            </a:r>
          </a:p>
        </p:txBody>
      </p:sp>
    </p:spTree>
    <p:extLst>
      <p:ext uri="{BB962C8B-B14F-4D97-AF65-F5344CB8AC3E}">
        <p14:creationId xmlns:p14="http://schemas.microsoft.com/office/powerpoint/2010/main" val="8163518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30DD7379-43FC-9C9D-5AC3-4EE8442067C2}"/>
              </a:ext>
            </a:extLst>
          </p:cNvPr>
          <p:cNvSpPr>
            <a:spLocks noGrp="1"/>
          </p:cNvSpPr>
          <p:nvPr>
            <p:ph type="title"/>
          </p:nvPr>
        </p:nvSpPr>
        <p:spPr>
          <a:xfrm>
            <a:off x="1019015" y="1093787"/>
            <a:ext cx="3059969" cy="4697413"/>
          </a:xfrm>
        </p:spPr>
        <p:txBody>
          <a:bodyPr>
            <a:normAutofit/>
          </a:bodyPr>
          <a:lstStyle/>
          <a:p>
            <a:r>
              <a:rPr lang="it-IT" dirty="0"/>
              <a:t>Training strategy</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6021F035-15C3-AAA5-AB38-D8E738AAC3FB}"/>
              </a:ext>
            </a:extLst>
          </p:cNvPr>
          <p:cNvSpPr>
            <a:spLocks noGrp="1"/>
          </p:cNvSpPr>
          <p:nvPr>
            <p:ph idx="1"/>
          </p:nvPr>
        </p:nvSpPr>
        <p:spPr>
          <a:xfrm>
            <a:off x="4940836" y="930275"/>
            <a:ext cx="7082729" cy="4697413"/>
          </a:xfrm>
        </p:spPr>
        <p:txBody>
          <a:bodyPr>
            <a:normAutofit fontScale="92500"/>
          </a:bodyPr>
          <a:lstStyle/>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In the past months, as we made some trainings on the different models provided we understood that a good choice of parameters and reward weights is crucial if we want to have good results: we want to train different models with less episodes to infer on what’s the best combination of parameters for these specific objectives (mainly the decay rate, the batch size, learning rate and the reward function).</a:t>
            </a:r>
          </a:p>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Also, choosing a good network architecture is pivital in ensuring the best outcome for the training so we plan to explore </a:t>
            </a:r>
            <a:r>
              <a:rPr lang="it-IT" dirty="0" err="1">
                <a:latin typeface="Calibri Light" panose="020F0302020204030204" pitchFamily="34" charset="0"/>
                <a:ea typeface="Calibri Light" panose="020F0302020204030204" pitchFamily="34" charset="0"/>
                <a:cs typeface="Calibri Light" panose="020F0302020204030204" pitchFamily="34" charset="0"/>
              </a:rPr>
              <a:t>different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types</a:t>
            </a:r>
            <a:r>
              <a:rPr lang="it-IT" dirty="0">
                <a:latin typeface="Calibri Light" panose="020F0302020204030204" pitchFamily="34" charset="0"/>
                <a:ea typeface="Calibri Light" panose="020F0302020204030204" pitchFamily="34" charset="0"/>
                <a:cs typeface="Calibri Light" panose="020F0302020204030204" pitchFamily="34" charset="0"/>
              </a:rPr>
              <a:t> (e.g. Fully connected, Residual, RNN) to find the best suited one for our goals.</a:t>
            </a:r>
          </a:p>
        </p:txBody>
      </p:sp>
    </p:spTree>
    <p:extLst>
      <p:ext uri="{BB962C8B-B14F-4D97-AF65-F5344CB8AC3E}">
        <p14:creationId xmlns:p14="http://schemas.microsoft.com/office/powerpoint/2010/main" val="29156819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C4A7F217-EBD1-F279-9024-651A000AF3A7}"/>
              </a:ext>
            </a:extLst>
          </p:cNvPr>
          <p:cNvSpPr>
            <a:spLocks noGrp="1"/>
          </p:cNvSpPr>
          <p:nvPr>
            <p:ph type="title"/>
          </p:nvPr>
        </p:nvSpPr>
        <p:spPr>
          <a:xfrm>
            <a:off x="1019015" y="1093787"/>
            <a:ext cx="3059969" cy="4697413"/>
          </a:xfrm>
        </p:spPr>
        <p:txBody>
          <a:bodyPr>
            <a:normAutofit/>
          </a:bodyPr>
          <a:lstStyle/>
          <a:p>
            <a:r>
              <a:rPr lang="it-IT" dirty="0"/>
              <a:t>Evaluation </a:t>
            </a:r>
            <a:r>
              <a:rPr lang="it-IT" dirty="0" err="1"/>
              <a:t>metrics</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B5A3A62C-9F20-EC47-7378-4B63560DDD1B}"/>
              </a:ext>
            </a:extLst>
          </p:cNvPr>
          <p:cNvSpPr>
            <a:spLocks noGrp="1"/>
          </p:cNvSpPr>
          <p:nvPr>
            <p:ph idx="1"/>
          </p:nvPr>
        </p:nvSpPr>
        <p:spPr>
          <a:xfrm>
            <a:off x="4910040" y="1550639"/>
            <a:ext cx="6997003" cy="3747198"/>
          </a:xfrm>
        </p:spPr>
        <p:txBody>
          <a:bodyPr>
            <a:normAutofit lnSpcReduction="10000"/>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Having a number of clear objectives makes it easy to evaluate the success of the overall training process and, in addition to avoiding obstacles and reaching the final coordinates, we want to use the number of steps, meaning the time needed, to reach the final objective as another evalution metric.</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This has also the purpose of helping us troubleshooting, as a slower time helps us to evaluate if we need to change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our</a:t>
            </a:r>
            <a:r>
              <a:rPr lang="it-IT" sz="2200" dirty="0">
                <a:latin typeface="Calibri Light" panose="020F0302020204030204" pitchFamily="34" charset="0"/>
                <a:ea typeface="Calibri Light" panose="020F0302020204030204" pitchFamily="34" charset="0"/>
                <a:cs typeface="Calibri Light" panose="020F0302020204030204" pitchFamily="34" charset="0"/>
              </a:rPr>
              <a:t> training strategy.</a:t>
            </a:r>
          </a:p>
        </p:txBody>
      </p:sp>
    </p:spTree>
    <p:extLst>
      <p:ext uri="{BB962C8B-B14F-4D97-AF65-F5344CB8AC3E}">
        <p14:creationId xmlns:p14="http://schemas.microsoft.com/office/powerpoint/2010/main" val="286075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C892AB0-7D6D-4FC9-9105-0CB4271618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07353E4-FA19-40CB-8AF8-3A8E6704BE0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72533" y="0"/>
            <a:ext cx="598488" cy="1981201"/>
            <a:chOff x="194733" y="0"/>
            <a:chExt cx="598488" cy="1981201"/>
          </a:xfrm>
        </p:grpSpPr>
        <p:sp>
          <p:nvSpPr>
            <p:cNvPr id="11" name="Freeform 35">
              <a:extLst>
                <a:ext uri="{FF2B5EF4-FFF2-40B4-BE49-F238E27FC236}">
                  <a16:creationId xmlns:a16="http://schemas.microsoft.com/office/drawing/2014/main" id="{697D009D-8E70-460A-BE57-321BB07641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flipV="1">
              <a:off x="285221" y="0"/>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solidFill>
              <a:schemeClr val="tx2">
                <a:alpha val="80000"/>
              </a:schemeClr>
            </a:solidFill>
            <a:ln>
              <a:noFill/>
            </a:ln>
          </p:spPr>
          <p:txBody>
            <a:bodyPr/>
            <a:lstStyle/>
            <a:p>
              <a:endParaRPr lang="it-IT"/>
            </a:p>
          </p:txBody>
        </p:sp>
        <p:sp>
          <p:nvSpPr>
            <p:cNvPr id="12" name="Freeform 36">
              <a:extLst>
                <a:ext uri="{FF2B5EF4-FFF2-40B4-BE49-F238E27FC236}">
                  <a16:creationId xmlns:a16="http://schemas.microsoft.com/office/drawing/2014/main" id="{D0001F35-F282-403E-8D08-0D204D851F7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flipV="1">
              <a:off x="526521" y="1141413"/>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solidFill>
              <a:schemeClr val="tx2">
                <a:alpha val="80000"/>
              </a:schemeClr>
            </a:solidFill>
            <a:ln>
              <a:noFill/>
            </a:ln>
          </p:spPr>
          <p:txBody>
            <a:bodyPr/>
            <a:lstStyle/>
            <a:p>
              <a:endParaRPr lang="it-IT"/>
            </a:p>
          </p:txBody>
        </p:sp>
        <p:sp>
          <p:nvSpPr>
            <p:cNvPr id="13" name="Freeform 38">
              <a:extLst>
                <a:ext uri="{FF2B5EF4-FFF2-40B4-BE49-F238E27FC236}">
                  <a16:creationId xmlns:a16="http://schemas.microsoft.com/office/drawing/2014/main" id="{3F8A69A2-2D15-40CD-8C14-A18643ABA57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flipV="1">
              <a:off x="389996" y="1792288"/>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14" name="Freeform 39">
              <a:extLst>
                <a:ext uri="{FF2B5EF4-FFF2-40B4-BE49-F238E27FC236}">
                  <a16:creationId xmlns:a16="http://schemas.microsoft.com/office/drawing/2014/main" id="{B665CA2A-9D55-4786-9343-EB46672627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flipV="1">
              <a:off x="194733" y="0"/>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solidFill>
              <a:schemeClr val="tx2">
                <a:alpha val="80000"/>
              </a:schemeClr>
            </a:solidFill>
            <a:ln>
              <a:noFill/>
            </a:ln>
          </p:spPr>
          <p:txBody>
            <a:bodyPr/>
            <a:lstStyle/>
            <a:p>
              <a:endParaRPr lang="it-IT"/>
            </a:p>
          </p:txBody>
        </p:sp>
        <p:sp>
          <p:nvSpPr>
            <p:cNvPr id="15" name="Freeform 40">
              <a:extLst>
                <a:ext uri="{FF2B5EF4-FFF2-40B4-BE49-F238E27FC236}">
                  <a16:creationId xmlns:a16="http://schemas.microsoft.com/office/drawing/2014/main" id="{CEE9BD85-96DF-4CDF-BC0F-C4E46062B3A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flipV="1">
              <a:off x="602721" y="24288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16" name="Rectangle 41">
              <a:extLst>
                <a:ext uri="{FF2B5EF4-FFF2-40B4-BE49-F238E27FC236}">
                  <a16:creationId xmlns:a16="http://schemas.microsoft.com/office/drawing/2014/main" id="{6BB6F5E5-6CA3-4B20-86A7-1174D6E71FB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flipV="1">
              <a:off x="693208" y="0"/>
              <a:ext cx="23813" cy="252413"/>
            </a:xfrm>
            <a:prstGeom prst="rect">
              <a:avLst/>
            </a:prstGeom>
            <a:solidFill>
              <a:schemeClr val="tx2">
                <a:alpha val="80000"/>
              </a:schemeClr>
            </a:solidFill>
            <a:ln>
              <a:noFill/>
            </a:ln>
          </p:spPr>
          <p:txBody>
            <a:bodyPr/>
            <a:lstStyle/>
            <a:p>
              <a:endParaRPr lang="it-IT"/>
            </a:p>
          </p:txBody>
        </p:sp>
      </p:grpSp>
      <p:grpSp>
        <p:nvGrpSpPr>
          <p:cNvPr id="18" name="Group 17">
            <a:extLst>
              <a:ext uri="{FF2B5EF4-FFF2-40B4-BE49-F238E27FC236}">
                <a16:creationId xmlns:a16="http://schemas.microsoft.com/office/drawing/2014/main" id="{0328E69E-CE3D-4110-8BF7-AD3C0C10CB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085512" y="0"/>
            <a:ext cx="650875" cy="1730375"/>
            <a:chOff x="11347978" y="0"/>
            <a:chExt cx="650875" cy="1730375"/>
          </a:xfrm>
        </p:grpSpPr>
        <p:sp>
          <p:nvSpPr>
            <p:cNvPr id="19" name="Freeform 32">
              <a:extLst>
                <a:ext uri="{FF2B5EF4-FFF2-40B4-BE49-F238E27FC236}">
                  <a16:creationId xmlns:a16="http://schemas.microsoft.com/office/drawing/2014/main" id="{30F84C80-9E12-4460-B88F-D03839F0C8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67041"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solidFill>
              <a:schemeClr val="tx2">
                <a:alpha val="80000"/>
              </a:schemeClr>
            </a:solidFill>
            <a:ln>
              <a:noFill/>
            </a:ln>
          </p:spPr>
          <p:txBody>
            <a:bodyPr/>
            <a:lstStyle/>
            <a:p>
              <a:endParaRPr lang="it-IT"/>
            </a:p>
          </p:txBody>
        </p:sp>
        <p:sp>
          <p:nvSpPr>
            <p:cNvPr id="20" name="Freeform 33">
              <a:extLst>
                <a:ext uri="{FF2B5EF4-FFF2-40B4-BE49-F238E27FC236}">
                  <a16:creationId xmlns:a16="http://schemas.microsoft.com/office/drawing/2014/main" id="{2F84C18C-5783-48FF-9DE0-FDA327CFC4F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47978"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solidFill>
              <a:schemeClr val="tx2">
                <a:alpha val="80000"/>
              </a:schemeClr>
            </a:solidFill>
            <a:ln>
              <a:noFill/>
            </a:ln>
          </p:spPr>
          <p:txBody>
            <a:bodyPr/>
            <a:lstStyle/>
            <a:p>
              <a:endParaRPr lang="it-IT"/>
            </a:p>
          </p:txBody>
        </p:sp>
        <p:sp>
          <p:nvSpPr>
            <p:cNvPr id="21" name="Freeform 34">
              <a:extLst>
                <a:ext uri="{FF2B5EF4-FFF2-40B4-BE49-F238E27FC236}">
                  <a16:creationId xmlns:a16="http://schemas.microsoft.com/office/drawing/2014/main" id="{08C6A855-346C-4589-9AD4-5E15BCBC7A2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14678"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22" name="Freeform 37">
              <a:extLst>
                <a:ext uri="{FF2B5EF4-FFF2-40B4-BE49-F238E27FC236}">
                  <a16:creationId xmlns:a16="http://schemas.microsoft.com/office/drawing/2014/main" id="{7E64BEE6-1157-421C-A02A-47639E4D9F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694053"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solidFill>
              <a:schemeClr val="tx2">
                <a:alpha val="80000"/>
              </a:schemeClr>
            </a:solidFill>
            <a:ln>
              <a:noFill/>
            </a:ln>
          </p:spPr>
          <p:txBody>
            <a:bodyPr/>
            <a:lstStyle/>
            <a:p>
              <a:endParaRPr lang="it-IT"/>
            </a:p>
          </p:txBody>
        </p:sp>
      </p:grpSp>
      <p:grpSp>
        <p:nvGrpSpPr>
          <p:cNvPr id="24" name="Group 23">
            <a:extLst>
              <a:ext uri="{FF2B5EF4-FFF2-40B4-BE49-F238E27FC236}">
                <a16:creationId xmlns:a16="http://schemas.microsoft.com/office/drawing/2014/main" id="{F64806C9-3599-45A7-BCFF-F762C54276F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440267" y="5118101"/>
            <a:ext cx="650875" cy="1730375"/>
            <a:chOff x="118533" y="5118101"/>
            <a:chExt cx="650875" cy="1730375"/>
          </a:xfrm>
        </p:grpSpPr>
        <p:sp>
          <p:nvSpPr>
            <p:cNvPr id="25" name="Freeform 32">
              <a:extLst>
                <a:ext uri="{FF2B5EF4-FFF2-40B4-BE49-F238E27FC236}">
                  <a16:creationId xmlns:a16="http://schemas.microsoft.com/office/drawing/2014/main" id="{41D6E755-9558-4CAA-8F56-469D231C35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flipV="1">
              <a:off x="237596" y="6335713"/>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solidFill>
              <a:schemeClr val="tx2">
                <a:alpha val="80000"/>
              </a:schemeClr>
            </a:solidFill>
            <a:ln>
              <a:noFill/>
            </a:ln>
          </p:spPr>
          <p:txBody>
            <a:bodyPr/>
            <a:lstStyle/>
            <a:p>
              <a:endParaRPr lang="it-IT"/>
            </a:p>
          </p:txBody>
        </p:sp>
        <p:sp>
          <p:nvSpPr>
            <p:cNvPr id="26" name="Freeform 33">
              <a:extLst>
                <a:ext uri="{FF2B5EF4-FFF2-40B4-BE49-F238E27FC236}">
                  <a16:creationId xmlns:a16="http://schemas.microsoft.com/office/drawing/2014/main" id="{8FCD41C4-606C-446C-8C81-6353C64424A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flipV="1">
              <a:off x="118533" y="622141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solidFill>
              <a:schemeClr val="tx2">
                <a:alpha val="80000"/>
              </a:schemeClr>
            </a:solidFill>
            <a:ln>
              <a:noFill/>
            </a:ln>
          </p:spPr>
          <p:txBody>
            <a:bodyPr/>
            <a:lstStyle/>
            <a:p>
              <a:endParaRPr lang="it-IT"/>
            </a:p>
          </p:txBody>
        </p:sp>
        <p:sp>
          <p:nvSpPr>
            <p:cNvPr id="27" name="Freeform 34">
              <a:extLst>
                <a:ext uri="{FF2B5EF4-FFF2-40B4-BE49-F238E27FC236}">
                  <a16:creationId xmlns:a16="http://schemas.microsoft.com/office/drawing/2014/main" id="{274CFBE4-CEA6-4C81-BB1E-83E1896771D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flipV="1">
              <a:off x="385233" y="5118101"/>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28" name="Freeform 37">
              <a:extLst>
                <a:ext uri="{FF2B5EF4-FFF2-40B4-BE49-F238E27FC236}">
                  <a16:creationId xmlns:a16="http://schemas.microsoft.com/office/drawing/2014/main" id="{24813D3D-7B30-42F2-9065-1B40F140C7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flipV="1">
              <a:off x="464608" y="5299075"/>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solidFill>
              <a:schemeClr val="tx2">
                <a:alpha val="80000"/>
              </a:schemeClr>
            </a:solidFill>
            <a:ln>
              <a:noFill/>
            </a:ln>
          </p:spPr>
          <p:txBody>
            <a:bodyPr/>
            <a:lstStyle/>
            <a:p>
              <a:endParaRPr lang="it-IT"/>
            </a:p>
          </p:txBody>
        </p:sp>
      </p:grpSp>
      <p:grpSp>
        <p:nvGrpSpPr>
          <p:cNvPr id="30" name="Group 29">
            <a:extLst>
              <a:ext uri="{FF2B5EF4-FFF2-40B4-BE49-F238E27FC236}">
                <a16:creationId xmlns:a16="http://schemas.microsoft.com/office/drawing/2014/main" id="{1287AC97-A8E8-4B45-A50A-3057A88B408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1229445" y="4867275"/>
            <a:ext cx="598488" cy="1981201"/>
            <a:chOff x="11424178" y="4867275"/>
            <a:chExt cx="598488" cy="1981201"/>
          </a:xfrm>
        </p:grpSpPr>
        <p:sp>
          <p:nvSpPr>
            <p:cNvPr id="31" name="Freeform 35">
              <a:extLst>
                <a:ext uri="{FF2B5EF4-FFF2-40B4-BE49-F238E27FC236}">
                  <a16:creationId xmlns:a16="http://schemas.microsoft.com/office/drawing/2014/main" id="{57D70AA8-D36C-4DF9-B7D7-4E2C9BEFD9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14666"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solidFill>
              <a:schemeClr val="tx2">
                <a:alpha val="80000"/>
              </a:schemeClr>
            </a:solidFill>
            <a:ln>
              <a:noFill/>
            </a:ln>
          </p:spPr>
          <p:txBody>
            <a:bodyPr/>
            <a:lstStyle/>
            <a:p>
              <a:endParaRPr lang="it-IT"/>
            </a:p>
          </p:txBody>
        </p:sp>
        <p:sp>
          <p:nvSpPr>
            <p:cNvPr id="32" name="Freeform 36">
              <a:extLst>
                <a:ext uri="{FF2B5EF4-FFF2-40B4-BE49-F238E27FC236}">
                  <a16:creationId xmlns:a16="http://schemas.microsoft.com/office/drawing/2014/main" id="{74D88556-8C5B-41AF-9FA0-92D2734708D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55966"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solidFill>
              <a:schemeClr val="tx2">
                <a:alpha val="80000"/>
              </a:schemeClr>
            </a:solidFill>
            <a:ln>
              <a:noFill/>
            </a:ln>
          </p:spPr>
          <p:txBody>
            <a:bodyPr/>
            <a:lstStyle/>
            <a:p>
              <a:endParaRPr lang="it-IT"/>
            </a:p>
          </p:txBody>
        </p:sp>
        <p:sp>
          <p:nvSpPr>
            <p:cNvPr id="33" name="Freeform 38">
              <a:extLst>
                <a:ext uri="{FF2B5EF4-FFF2-40B4-BE49-F238E27FC236}">
                  <a16:creationId xmlns:a16="http://schemas.microsoft.com/office/drawing/2014/main" id="{17E00558-8912-48C6-8202-D8A2D854B7D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19441"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34" name="Freeform 39">
              <a:extLst>
                <a:ext uri="{FF2B5EF4-FFF2-40B4-BE49-F238E27FC236}">
                  <a16:creationId xmlns:a16="http://schemas.microsoft.com/office/drawing/2014/main" id="{7E4C092A-90EF-4870-97FC-C2D97FD2CE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24178"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solidFill>
              <a:schemeClr val="tx2">
                <a:alpha val="80000"/>
              </a:schemeClr>
            </a:solidFill>
            <a:ln>
              <a:noFill/>
            </a:ln>
          </p:spPr>
          <p:txBody>
            <a:bodyPr/>
            <a:lstStyle/>
            <a:p>
              <a:endParaRPr lang="it-IT"/>
            </a:p>
          </p:txBody>
        </p:sp>
        <p:sp>
          <p:nvSpPr>
            <p:cNvPr id="35" name="Freeform 40">
              <a:extLst>
                <a:ext uri="{FF2B5EF4-FFF2-40B4-BE49-F238E27FC236}">
                  <a16:creationId xmlns:a16="http://schemas.microsoft.com/office/drawing/2014/main" id="{0C8C091A-4902-4B98-BB6B-AF6FA1174BB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32166"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solidFill>
              <a:schemeClr val="tx2">
                <a:alpha val="80000"/>
              </a:schemeClr>
            </a:solidFill>
            <a:ln>
              <a:noFill/>
            </a:ln>
          </p:spPr>
          <p:txBody>
            <a:bodyPr/>
            <a:lstStyle/>
            <a:p>
              <a:endParaRPr lang="it-IT"/>
            </a:p>
          </p:txBody>
        </p:sp>
        <p:sp>
          <p:nvSpPr>
            <p:cNvPr id="36" name="Rectangle 41">
              <a:extLst>
                <a:ext uri="{FF2B5EF4-FFF2-40B4-BE49-F238E27FC236}">
                  <a16:creationId xmlns:a16="http://schemas.microsoft.com/office/drawing/2014/main" id="{50C57AA3-5B6E-4C49-9AE3-D130A25404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22653" y="6596063"/>
              <a:ext cx="23813" cy="252413"/>
            </a:xfrm>
            <a:prstGeom prst="rect">
              <a:avLst/>
            </a:prstGeom>
            <a:solidFill>
              <a:schemeClr val="tx2">
                <a:alpha val="80000"/>
              </a:schemeClr>
            </a:solidFill>
            <a:ln>
              <a:noFill/>
            </a:ln>
          </p:spPr>
          <p:txBody>
            <a:bodyPr/>
            <a:lstStyle/>
            <a:p>
              <a:endParaRPr lang="it-IT"/>
            </a:p>
          </p:txBody>
        </p:sp>
      </p:grpSp>
      <p:sp>
        <p:nvSpPr>
          <p:cNvPr id="38" name="Rectangle 37">
            <a:extLst>
              <a:ext uri="{FF2B5EF4-FFF2-40B4-BE49-F238E27FC236}">
                <a16:creationId xmlns:a16="http://schemas.microsoft.com/office/drawing/2014/main" id="{6D29BE04-4454-4832-B83F-10D001BFF9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2">
              <a:lumMod val="5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Round Diagonal Corner Rectangle 7">
            <a:extLst>
              <a:ext uri="{FF2B5EF4-FFF2-40B4-BE49-F238E27FC236}">
                <a16:creationId xmlns:a16="http://schemas.microsoft.com/office/drawing/2014/main" id="{98714CE9-3C2C-48E1-8B8F-CFB7735C43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2867" y="766234"/>
            <a:ext cx="10346266" cy="5325532"/>
          </a:xfrm>
          <a:prstGeom prst="round2DiagRect">
            <a:avLst>
              <a:gd name="adj1" fmla="val 4147"/>
              <a:gd name="adj2" fmla="val 0"/>
            </a:avLst>
          </a:prstGeom>
          <a:solidFill>
            <a:schemeClr val="bg2">
              <a:lumMod val="50000"/>
              <a:alpha val="80000"/>
            </a:schemeClr>
          </a:solidFill>
          <a:ln w="19050" cap="sq">
            <a:solidFill>
              <a:srgbClr val="FFFFFF">
                <a:alpha val="60000"/>
              </a:srgbClr>
            </a:solidFill>
            <a:miter lim="800000"/>
          </a:ln>
          <a:effectLst>
            <a:outerShdw blurRad="88900" dist="38100" dir="5400000" algn="t"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72BCD812-853D-1799-B0D4-B970F7EDD90F}"/>
              </a:ext>
            </a:extLst>
          </p:cNvPr>
          <p:cNvSpPr>
            <a:spLocks noGrp="1"/>
          </p:cNvSpPr>
          <p:nvPr>
            <p:ph type="title"/>
          </p:nvPr>
        </p:nvSpPr>
        <p:spPr>
          <a:xfrm>
            <a:off x="1566335" y="1611822"/>
            <a:ext cx="9048219" cy="1092200"/>
          </a:xfrm>
        </p:spPr>
        <p:txBody>
          <a:bodyPr anchor="ctr">
            <a:normAutofit/>
          </a:bodyPr>
          <a:lstStyle/>
          <a:p>
            <a:pPr algn="ctr"/>
            <a:r>
              <a:rPr lang="it-IT" dirty="0" err="1">
                <a:solidFill>
                  <a:srgbClr val="FFFFFF"/>
                </a:solidFill>
              </a:rPr>
              <a:t>Actual</a:t>
            </a:r>
            <a:r>
              <a:rPr lang="it-IT" dirty="0">
                <a:solidFill>
                  <a:srgbClr val="FFFFFF"/>
                </a:solidFill>
              </a:rPr>
              <a:t> </a:t>
            </a:r>
            <a:r>
              <a:rPr lang="it-IT" dirty="0" err="1">
                <a:solidFill>
                  <a:srgbClr val="FFFFFF"/>
                </a:solidFill>
              </a:rPr>
              <a:t>implementation</a:t>
            </a:r>
            <a:r>
              <a:rPr lang="it-IT" dirty="0">
                <a:solidFill>
                  <a:srgbClr val="FFFFFF"/>
                </a:solidFill>
              </a:rPr>
              <a:t> and </a:t>
            </a:r>
            <a:r>
              <a:rPr lang="it-IT" dirty="0" err="1">
                <a:solidFill>
                  <a:srgbClr val="FFFFFF"/>
                </a:solidFill>
              </a:rPr>
              <a:t>achieved</a:t>
            </a:r>
            <a:r>
              <a:rPr lang="it-IT" dirty="0">
                <a:solidFill>
                  <a:srgbClr val="FFFFFF"/>
                </a:solidFill>
              </a:rPr>
              <a:t> goals</a:t>
            </a:r>
          </a:p>
        </p:txBody>
      </p:sp>
      <p:sp>
        <p:nvSpPr>
          <p:cNvPr id="3" name="Segnaposto contenuto 2">
            <a:extLst>
              <a:ext uri="{FF2B5EF4-FFF2-40B4-BE49-F238E27FC236}">
                <a16:creationId xmlns:a16="http://schemas.microsoft.com/office/drawing/2014/main" id="{AF4C08F8-2566-3009-4CB9-1741A776C9E5}"/>
              </a:ext>
            </a:extLst>
          </p:cNvPr>
          <p:cNvSpPr>
            <a:spLocks noGrp="1"/>
          </p:cNvSpPr>
          <p:nvPr>
            <p:ph idx="1"/>
          </p:nvPr>
        </p:nvSpPr>
        <p:spPr>
          <a:xfrm>
            <a:off x="1577446" y="2843193"/>
            <a:ext cx="9048218" cy="2602988"/>
          </a:xfrm>
        </p:spPr>
        <p:txBody>
          <a:bodyPr anchor="ctr">
            <a:normAutofit/>
          </a:bodyPr>
          <a:lstStyle/>
          <a:p>
            <a:pPr marL="0" indent="0">
              <a:buNone/>
            </a:pPr>
            <a:r>
              <a:rPr lang="it-IT" sz="2000" dirty="0">
                <a:solidFill>
                  <a:srgbClr val="FFFFFF"/>
                </a:solidFill>
              </a:rPr>
              <a:t>Introduzione</a:t>
            </a:r>
          </a:p>
        </p:txBody>
      </p:sp>
    </p:spTree>
    <p:extLst>
      <p:ext uri="{BB962C8B-B14F-4D97-AF65-F5344CB8AC3E}">
        <p14:creationId xmlns:p14="http://schemas.microsoft.com/office/powerpoint/2010/main" val="13357910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E7BBA9A3-AEBC-AB89-8A17-880443368170}"/>
              </a:ext>
            </a:extLst>
          </p:cNvPr>
          <p:cNvSpPr>
            <a:spLocks noGrp="1"/>
          </p:cNvSpPr>
          <p:nvPr>
            <p:ph type="title"/>
          </p:nvPr>
        </p:nvSpPr>
        <p:spPr>
          <a:xfrm>
            <a:off x="1019015" y="1093787"/>
            <a:ext cx="3059969" cy="4697413"/>
          </a:xfrm>
        </p:spPr>
        <p:txBody>
          <a:bodyPr>
            <a:normAutofit/>
          </a:bodyPr>
          <a:lstStyle/>
          <a:p>
            <a:r>
              <a:rPr lang="it-IT" dirty="0"/>
              <a:t>Environment</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A1733E62-7B1E-231C-E034-7EE714A779DF}"/>
              </a:ext>
            </a:extLst>
          </p:cNvPr>
          <p:cNvSpPr>
            <a:spLocks noGrp="1"/>
          </p:cNvSpPr>
          <p:nvPr>
            <p:ph idx="1"/>
          </p:nvPr>
        </p:nvSpPr>
        <p:spPr>
          <a:xfrm>
            <a:off x="4940836" y="456406"/>
            <a:ext cx="6965414" cy="4697413"/>
          </a:xfrm>
        </p:spPr>
        <p:txBody>
          <a:bodyPr>
            <a:normAutofit/>
          </a:bodyPr>
          <a:lstStyle/>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used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original</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maze</a:t>
            </a:r>
            <a:r>
              <a:rPr lang="it-IT" sz="2200" dirty="0">
                <a:latin typeface="Calibri Light" panose="020F0302020204030204" pitchFamily="34" charset="0"/>
                <a:ea typeface="Calibri Light" panose="020F0302020204030204" pitchFamily="34" charset="0"/>
                <a:cs typeface="Calibri Light" panose="020F0302020204030204" pitchFamily="34" charset="0"/>
              </a:rPr>
              <a:t> for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all</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phases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instructed</a:t>
            </a:r>
            <a:r>
              <a:rPr lang="it-IT" sz="2200" dirty="0">
                <a:latin typeface="Calibri Light" panose="020F0302020204030204" pitchFamily="34" charset="0"/>
                <a:ea typeface="Calibri Light" panose="020F0302020204030204" pitchFamily="34" charset="0"/>
                <a:cs typeface="Calibri Light" panose="020F0302020204030204" pitchFamily="34" charset="0"/>
              </a:rPr>
              <a:t> by the professor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also</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created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two</a:t>
            </a:r>
            <a:r>
              <a:rPr lang="it-IT" sz="2200" dirty="0">
                <a:latin typeface="Calibri Light" panose="020F0302020204030204" pitchFamily="34" charset="0"/>
                <a:ea typeface="Calibri Light" panose="020F0302020204030204" pitchFamily="34" charset="0"/>
                <a:cs typeface="Calibri Light" panose="020F0302020204030204" pitchFamily="34" charset="0"/>
              </a:rPr>
              <a:t> more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mazes</a:t>
            </a:r>
            <a:r>
              <a:rPr lang="it-IT" sz="2200" dirty="0">
                <a:latin typeface="Calibri Light" panose="020F0302020204030204" pitchFamily="34" charset="0"/>
                <a:ea typeface="Calibri Light" panose="020F0302020204030204" pitchFamily="34" charset="0"/>
                <a:cs typeface="Calibri Light" panose="020F0302020204030204" pitchFamily="34" charset="0"/>
              </a:rPr>
              <a:t> with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aim</a:t>
            </a:r>
            <a:r>
              <a:rPr lang="it-IT" sz="2200" dirty="0">
                <a:latin typeface="Calibri Light" panose="020F0302020204030204" pitchFamily="34" charset="0"/>
                <a:ea typeface="Calibri Light" panose="020F0302020204030204" pitchFamily="34" charset="0"/>
                <a:cs typeface="Calibri Light" panose="020F0302020204030204" pitchFamily="34" charset="0"/>
              </a:rPr>
              <a:t> of testing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generalization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of the training: one specular to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original</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one more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complex</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but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sadly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get</a:t>
            </a:r>
            <a:r>
              <a:rPr lang="it-IT" sz="2200" dirty="0">
                <a:latin typeface="Calibri Light" panose="020F0302020204030204" pitchFamily="34" charset="0"/>
                <a:ea typeface="Calibri Light" panose="020F0302020204030204" pitchFamily="34" charset="0"/>
                <a:cs typeface="Calibri Light" panose="020F0302020204030204" pitchFamily="34" charset="0"/>
              </a:rPr>
              <a:t> to use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them</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never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that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successful</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p:txBody>
      </p:sp>
      <p:pic>
        <p:nvPicPr>
          <p:cNvPr id="5" name="Immagine 4" descr="Immagine che contiene Policromia, schermata, pixel, design&#10;&#10;Il contenuto generato dall'IA potrebbe non essere corretto.">
            <a:extLst>
              <a:ext uri="{FF2B5EF4-FFF2-40B4-BE49-F238E27FC236}">
                <a16:creationId xmlns:a16="http://schemas.microsoft.com/office/drawing/2014/main" id="{3FFFE290-580F-7645-79E8-95A3746DBD8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89330" y="3672491"/>
            <a:ext cx="2672470" cy="2962656"/>
          </a:xfrm>
          <a:prstGeom prst="rect">
            <a:avLst/>
          </a:prstGeom>
        </p:spPr>
      </p:pic>
    </p:spTree>
    <p:extLst>
      <p:ext uri="{BB962C8B-B14F-4D97-AF65-F5344CB8AC3E}">
        <p14:creationId xmlns:p14="http://schemas.microsoft.com/office/powerpoint/2010/main" val="42803948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37ED93E6-67B1-2E72-A41D-987A208D9AEF}"/>
              </a:ext>
            </a:extLst>
          </p:cNvPr>
          <p:cNvSpPr>
            <a:spLocks noGrp="1"/>
          </p:cNvSpPr>
          <p:nvPr>
            <p:ph type="title"/>
          </p:nvPr>
        </p:nvSpPr>
        <p:spPr>
          <a:xfrm>
            <a:off x="1019015" y="1093787"/>
            <a:ext cx="3059969" cy="4697413"/>
          </a:xfrm>
        </p:spPr>
        <p:txBody>
          <a:bodyPr>
            <a:normAutofit/>
          </a:bodyPr>
          <a:lstStyle/>
          <a:p>
            <a:r>
              <a:rPr lang="it-IT" dirty="0" err="1"/>
              <a:t>tASK</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EADACF79-FD26-5EF3-8E10-C6025AC22887}"/>
              </a:ext>
            </a:extLst>
          </p:cNvPr>
          <p:cNvSpPr>
            <a:spLocks noGrp="1"/>
          </p:cNvSpPr>
          <p:nvPr>
            <p:ph idx="1"/>
          </p:nvPr>
        </p:nvSpPr>
        <p:spPr>
          <a:xfrm>
            <a:off x="4855112" y="1093788"/>
            <a:ext cx="7132101" cy="4697413"/>
          </a:xfrm>
        </p:spPr>
        <p:txBody>
          <a:bodyPr>
            <a:normAutofit/>
          </a:bodyPr>
          <a:lstStyle/>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Unfortunately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fulfill</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original</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sz="2200" dirty="0">
                <a:latin typeface="Calibri Light" panose="020F0302020204030204" pitchFamily="34" charset="0"/>
                <a:ea typeface="Calibri Light" panose="020F0302020204030204" pitchFamily="34" charset="0"/>
                <a:cs typeface="Calibri Light" panose="020F0302020204030204" pitchFamily="34" charset="0"/>
              </a:rPr>
              <a:t> goal: the robot,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all</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tested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configuration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had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serious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issues</a:t>
            </a:r>
            <a:r>
              <a:rPr lang="it-IT" sz="2200" dirty="0">
                <a:latin typeface="Calibri Light" panose="020F0302020204030204" pitchFamily="34" charset="0"/>
                <a:ea typeface="Calibri Light" panose="020F0302020204030204" pitchFamily="34" charset="0"/>
                <a:cs typeface="Calibri Light" panose="020F0302020204030204" pitchFamily="34" charset="0"/>
              </a:rPr>
              <a:t> with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navigation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especially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towards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medium goal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provided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which</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shouldn’t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have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been</a:t>
            </a:r>
            <a:r>
              <a:rPr lang="it-IT" sz="2200" dirty="0">
                <a:latin typeface="Calibri Light" panose="020F0302020204030204" pitchFamily="34" charset="0"/>
                <a:ea typeface="Calibri Light" panose="020F0302020204030204" pitchFamily="34" charset="0"/>
                <a:cs typeface="Calibri Light" panose="020F0302020204030204" pitchFamily="34" charset="0"/>
              </a:rPr>
              <a:t>,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our</a:t>
            </a:r>
            <a:r>
              <a:rPr lang="it-IT" sz="2200" dirty="0">
                <a:latin typeface="Calibri Light" panose="020F0302020204030204" pitchFamily="34" charset="0"/>
                <a:ea typeface="Calibri Light" panose="020F0302020204030204" pitchFamily="34" charset="0"/>
                <a:cs typeface="Calibri Light" panose="020F0302020204030204" pitchFamily="34" charset="0"/>
              </a:rPr>
              <a:t> opinion,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too</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difficult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reach</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primary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concern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that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allow</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us</a:t>
            </a:r>
            <a:r>
              <a:rPr lang="it-IT" sz="2200" dirty="0">
                <a:latin typeface="Calibri Light" panose="020F0302020204030204" pitchFamily="34" charset="0"/>
                <a:ea typeface="Calibri Light" panose="020F0302020204030204" pitchFamily="34" charset="0"/>
                <a:cs typeface="Calibri Light" panose="020F0302020204030204" pitchFamily="34" charset="0"/>
              </a:rPr>
              <a:t> to continue with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actual</a:t>
            </a:r>
            <a:r>
              <a:rPr lang="it-IT" sz="2200" dirty="0">
                <a:latin typeface="Calibri Light" panose="020F0302020204030204" pitchFamily="34" charset="0"/>
                <a:ea typeface="Calibri Light" panose="020F0302020204030204" pitchFamily="34" charset="0"/>
                <a:cs typeface="Calibri Light" panose="020F0302020204030204" pitchFamily="34" charset="0"/>
              </a:rPr>
              <a:t> testing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phase</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p:txBody>
      </p:sp>
    </p:spTree>
    <p:extLst>
      <p:ext uri="{BB962C8B-B14F-4D97-AF65-F5344CB8AC3E}">
        <p14:creationId xmlns:p14="http://schemas.microsoft.com/office/powerpoint/2010/main" val="27036875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6" name="Group 45">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47"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48"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49"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0"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1"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2"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3"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4"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5"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6"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7"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8"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59"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0"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1"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2"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3"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64"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5"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6"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7"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8"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9"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70"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71"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72"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73"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44A7DDBA-6D84-E73D-438C-094ED8314D01}"/>
              </a:ext>
            </a:extLst>
          </p:cNvPr>
          <p:cNvSpPr>
            <a:spLocks noGrp="1"/>
          </p:cNvSpPr>
          <p:nvPr>
            <p:ph type="title"/>
          </p:nvPr>
        </p:nvSpPr>
        <p:spPr>
          <a:xfrm>
            <a:off x="1019015" y="1093787"/>
            <a:ext cx="3059969" cy="4697413"/>
          </a:xfrm>
        </p:spPr>
        <p:txBody>
          <a:bodyPr>
            <a:normAutofit/>
          </a:bodyPr>
          <a:lstStyle/>
          <a:p>
            <a:r>
              <a:rPr lang="it-IT" dirty="0"/>
              <a:t>INPUT AND SENSOR</a:t>
            </a:r>
          </a:p>
        </p:txBody>
      </p:sp>
      <p:sp useBgFill="1">
        <p:nvSpPr>
          <p:cNvPr id="75"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CC6B875C-65F9-83E2-9ED4-76D4332C1769}"/>
              </a:ext>
            </a:extLst>
          </p:cNvPr>
          <p:cNvSpPr>
            <a:spLocks noGrp="1"/>
          </p:cNvSpPr>
          <p:nvPr>
            <p:ph idx="1"/>
          </p:nvPr>
        </p:nvSpPr>
        <p:spPr>
          <a:xfrm>
            <a:off x="4855112" y="1093788"/>
            <a:ext cx="7113051" cy="469741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only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things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tried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modifying</a:t>
            </a:r>
            <a:r>
              <a:rPr lang="it-IT" sz="2200" dirty="0">
                <a:latin typeface="Calibri Light" panose="020F0302020204030204" pitchFamily="34" charset="0"/>
                <a:ea typeface="Calibri Light" panose="020F0302020204030204" pitchFamily="34" charset="0"/>
                <a:cs typeface="Calibri Light" panose="020F0302020204030204" pitchFamily="34" charset="0"/>
              </a:rPr>
              <a:t> from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original</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proposition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number</a:t>
            </a:r>
            <a:r>
              <a:rPr lang="it-IT" sz="2200" dirty="0">
                <a:latin typeface="Calibri Light" panose="020F0302020204030204" pitchFamily="34" charset="0"/>
                <a:ea typeface="Calibri Light" panose="020F0302020204030204" pitchFamily="34" charset="0"/>
                <a:cs typeface="Calibri Light" panose="020F0302020204030204" pitchFamily="34" charset="0"/>
              </a:rPr>
              <a:t> of readings,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decreased</a:t>
            </a:r>
            <a:r>
              <a:rPr lang="it-IT" sz="2200" dirty="0">
                <a:latin typeface="Calibri Light" panose="020F0302020204030204" pitchFamily="34" charset="0"/>
                <a:ea typeface="Calibri Light" panose="020F0302020204030204" pitchFamily="34" charset="0"/>
                <a:cs typeface="Calibri Light" panose="020F0302020204030204" pitchFamily="34" charset="0"/>
              </a:rPr>
              <a:t> from 24 to 18 (one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every</a:t>
            </a:r>
            <a:r>
              <a:rPr lang="it-IT" sz="2200" dirty="0">
                <a:latin typeface="Calibri Light" panose="020F0302020204030204" pitchFamily="34" charset="0"/>
                <a:ea typeface="Calibri Light" panose="020F0302020204030204" pitchFamily="34" charset="0"/>
                <a:cs typeface="Calibri Light" panose="020F0302020204030204" pitchFamily="34" charset="0"/>
              </a:rPr>
              <a:t> 20°) and the linear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angular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movement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velocity</a:t>
            </a:r>
            <a:r>
              <a:rPr lang="it-IT" sz="2200" dirty="0">
                <a:latin typeface="Calibri Light" panose="020F0302020204030204" pitchFamily="34" charset="0"/>
                <a:ea typeface="Calibri Light" panose="020F0302020204030204" pitchFamily="34" charset="0"/>
                <a:cs typeface="Calibri Light" panose="020F0302020204030204" pitchFamily="34" charset="0"/>
              </a:rPr>
              <a:t>: with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former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notice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significant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changes</a:t>
            </a:r>
            <a:r>
              <a:rPr lang="it-IT" sz="2200" dirty="0">
                <a:latin typeface="Calibri Light" panose="020F0302020204030204" pitchFamily="34" charset="0"/>
                <a:ea typeface="Calibri Light" panose="020F0302020204030204" pitchFamily="34" charset="0"/>
                <a:cs typeface="Calibri Light" panose="020F0302020204030204" pitchFamily="34" charset="0"/>
              </a:rPr>
              <a:t> in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but</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latters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helped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robot to do more precise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movements</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apperantly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marginally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lowered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collision</a:t>
            </a:r>
            <a:r>
              <a:rPr lang="it-IT" sz="2200" dirty="0">
                <a:latin typeface="Calibri Light" panose="020F0302020204030204" pitchFamily="34" charset="0"/>
                <a:ea typeface="Calibri Light" panose="020F0302020204030204" pitchFamily="34" charset="0"/>
                <a:cs typeface="Calibri Light" panose="020F0302020204030204" pitchFamily="34" charset="0"/>
              </a:rPr>
              <a:t> rate in some of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tests</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p:txBody>
      </p:sp>
    </p:spTree>
    <p:extLst>
      <p:ext uri="{BB962C8B-B14F-4D97-AF65-F5344CB8AC3E}">
        <p14:creationId xmlns:p14="http://schemas.microsoft.com/office/powerpoint/2010/main" val="16598028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EB591D41-5F46-B45D-8C2A-12EDE5ED83BA}"/>
              </a:ext>
            </a:extLst>
          </p:cNvPr>
          <p:cNvSpPr>
            <a:spLocks noGrp="1"/>
          </p:cNvSpPr>
          <p:nvPr>
            <p:ph type="title"/>
          </p:nvPr>
        </p:nvSpPr>
        <p:spPr>
          <a:xfrm>
            <a:off x="1019015" y="1093787"/>
            <a:ext cx="3059969" cy="4697413"/>
          </a:xfrm>
        </p:spPr>
        <p:txBody>
          <a:bodyPr>
            <a:normAutofit/>
          </a:bodyPr>
          <a:lstStyle/>
          <a:p>
            <a:r>
              <a:rPr lang="it-IT" dirty="0" err="1"/>
              <a:t>Drl</a:t>
            </a:r>
            <a:r>
              <a:rPr lang="it-IT" dirty="0"/>
              <a:t> </a:t>
            </a:r>
            <a:r>
              <a:rPr lang="it-IT" dirty="0" err="1"/>
              <a:t>algorithm</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Segnaposto contenuto 2">
                <a:extLst>
                  <a:ext uri="{FF2B5EF4-FFF2-40B4-BE49-F238E27FC236}">
                    <a16:creationId xmlns:a16="http://schemas.microsoft.com/office/drawing/2014/main" id="{79A534F2-0765-C205-86AA-544D8D05EB16}"/>
                  </a:ext>
                </a:extLst>
              </p:cNvPr>
              <p:cNvSpPr>
                <a:spLocks noGrp="1"/>
              </p:cNvSpPr>
              <p:nvPr>
                <p:ph idx="1"/>
              </p:nvPr>
            </p:nvSpPr>
            <p:spPr>
              <a:xfrm>
                <a:off x="4855112" y="1093788"/>
                <a:ext cx="7051138" cy="4697413"/>
              </a:xfrm>
            </p:spPr>
            <p:txBody>
              <a:bodyPr>
                <a:normAutofit/>
              </a:bodyPr>
              <a:lstStyle/>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Since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using</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normal</a:t>
                </a:r>
                <a:r>
                  <a:rPr lang="it-IT" sz="2200" dirty="0">
                    <a:latin typeface="Calibri Light" panose="020F0302020204030204" pitchFamily="34" charset="0"/>
                    <a:ea typeface="Calibri Light" panose="020F0302020204030204" pitchFamily="34" charset="0"/>
                    <a:cs typeface="Calibri Light" panose="020F0302020204030204" pitchFamily="34" charset="0"/>
                  </a:rPr>
                  <a:t> DQN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provided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very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poor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opted</a:t>
                </a:r>
                <a:r>
                  <a:rPr lang="it-IT" sz="2200" dirty="0">
                    <a:latin typeface="Calibri Light" panose="020F0302020204030204" pitchFamily="34" charset="0"/>
                    <a:ea typeface="Calibri Light" panose="020F0302020204030204" pitchFamily="34" charset="0"/>
                    <a:cs typeface="Calibri Light" panose="020F0302020204030204" pitchFamily="34" charset="0"/>
                  </a:rPr>
                  <a:t> to switch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another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version</a:t>
                </a:r>
                <a:r>
                  <a:rPr lang="it-IT" sz="2200" dirty="0">
                    <a:latin typeface="Calibri Light" panose="020F0302020204030204" pitchFamily="34" charset="0"/>
                    <a:ea typeface="Calibri Light" panose="020F0302020204030204" pitchFamily="34" charset="0"/>
                    <a:cs typeface="Calibri Light" panose="020F0302020204030204" pitchFamily="34" charset="0"/>
                  </a:rPr>
                  <a:t> of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called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DuelingDQN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version</a:t>
                </a:r>
                <a:r>
                  <a:rPr lang="it-IT" sz="2200" dirty="0">
                    <a:latin typeface="Calibri Light" panose="020F0302020204030204" pitchFamily="34" charset="0"/>
                    <a:ea typeface="Calibri Light" panose="020F0302020204030204" pitchFamily="34" charset="0"/>
                    <a:cs typeface="Calibri Light" panose="020F0302020204030204" pitchFamily="34" charset="0"/>
                  </a:rPr>
                  <a:t> works by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separating</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state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value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14:m>
                  <m:oMath xmlns:m="http://schemas.openxmlformats.org/officeDocument/2006/math">
                    <m:r>
                      <a:rPr lang="it-IT" sz="2200" i="1"/>
                      <m:t>𝑉</m:t>
                    </m:r>
                    <m:d>
                      <m:dPr>
                        <m:ctrlPr>
                          <a:rPr lang="ar-AE" sz="2200" i="1"/>
                        </m:ctrlPr>
                      </m:dPr>
                      <m:e>
                        <m:r>
                          <a:rPr lang="ar-AE" sz="2200" i="1"/>
                          <m:t>𝑠</m:t>
                        </m:r>
                      </m:e>
                    </m:d>
                  </m:oMath>
                </a14:m>
                <a:r>
                  <a:rPr lang="it-IT" sz="2200" dirty="0">
                    <a:latin typeface="Calibri Light" panose="020F0302020204030204" pitchFamily="34" charset="0"/>
                    <a:ea typeface="Calibri Light" panose="020F0302020204030204" pitchFamily="34" charset="0"/>
                    <a:cs typeface="Calibri Light" panose="020F0302020204030204" pitchFamily="34" charset="0"/>
                  </a:rPr>
                  <a:t> from the action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advantage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14:m>
                  <m:oMath xmlns:m="http://schemas.openxmlformats.org/officeDocument/2006/math">
                    <m:r>
                      <a:rPr lang="it-IT" sz="2200" i="1"/>
                      <m:t>𝐴</m:t>
                    </m:r>
                    <m:d>
                      <m:dPr>
                        <m:sepChr m:val=","/>
                        <m:ctrlPr>
                          <a:rPr lang="ar-AE" sz="2200" i="1"/>
                        </m:ctrlPr>
                      </m:dPr>
                      <m:e>
                        <m:r>
                          <a:rPr lang="ar-AE" sz="2200" i="1"/>
                          <m:t>𝑠</m:t>
                        </m:r>
                      </m:e>
                      <m:e>
                        <m:r>
                          <a:rPr lang="ar-AE" sz="2200" i="1"/>
                          <m:t>𝑎</m:t>
                        </m:r>
                      </m:e>
                    </m:d>
                  </m:oMath>
                </a14:m>
                <a:r>
                  <a:rPr lang="ar-AE"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a:latin typeface="Calibri Light" panose="020F0302020204030204" pitchFamily="34" charset="0"/>
                    <a:ea typeface="Calibri Light" panose="020F0302020204030204" pitchFamily="34" charset="0"/>
                    <a:cs typeface="Calibri Light" panose="020F0302020204030204" pitchFamily="34" charset="0"/>
                  </a:rPr>
                  <a:t>and making the learning more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stable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when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many</a:t>
                </a:r>
                <a:r>
                  <a:rPr lang="it-IT" sz="2200" dirty="0">
                    <a:latin typeface="Calibri Light" panose="020F0302020204030204" pitchFamily="34" charset="0"/>
                    <a:ea typeface="Calibri Light" panose="020F0302020204030204" pitchFamily="34" charset="0"/>
                    <a:cs typeface="Calibri Light" panose="020F0302020204030204" pitchFamily="34" charset="0"/>
                  </a:rPr>
                  <a:t> actions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have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similar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effects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our</a:t>
                </a:r>
                <a:r>
                  <a:rPr lang="it-IT" sz="2200" dirty="0">
                    <a:latin typeface="Calibri Light" panose="020F0302020204030204" pitchFamily="34" charset="0"/>
                    <a:ea typeface="Calibri Light" panose="020F0302020204030204" pitchFamily="34" charset="0"/>
                    <a:cs typeface="Calibri Light" panose="020F0302020204030204" pitchFamily="34" charset="0"/>
                  </a:rPr>
                  <a:t> case.</a:t>
                </a: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improvement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noticeable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success rate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climbed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significantly</a:t>
                </a:r>
                <a:r>
                  <a:rPr lang="it-IT" sz="2200" dirty="0">
                    <a:latin typeface="Calibri Light" panose="020F0302020204030204" pitchFamily="34" charset="0"/>
                    <a:ea typeface="Calibri Light" panose="020F0302020204030204" pitchFamily="34" charset="0"/>
                    <a:cs typeface="Calibri Light" panose="020F0302020204030204" pitchFamily="34" charset="0"/>
                  </a:rPr>
                  <a:t> in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final</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batches</a:t>
                </a:r>
                <a:r>
                  <a:rPr lang="it-IT" sz="2200" dirty="0">
                    <a:latin typeface="Calibri Light" panose="020F0302020204030204" pitchFamily="34" charset="0"/>
                    <a:ea typeface="Calibri Light" panose="020F0302020204030204" pitchFamily="34" charset="0"/>
                    <a:cs typeface="Calibri Light" panose="020F0302020204030204" pitchFamily="34" charset="0"/>
                  </a:rPr>
                  <a:t> of the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episodes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but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didn’t</a:t>
                </a:r>
                <a:r>
                  <a:rPr lang="it-IT" sz="2200" dirty="0">
                    <a:latin typeface="Calibri Light" panose="020F0302020204030204" pitchFamily="34" charset="0"/>
                    <a:ea typeface="Calibri Light" panose="020F0302020204030204" pitchFamily="34" charset="0"/>
                    <a:cs typeface="Calibri Light" panose="020F0302020204030204" pitchFamily="34" charset="0"/>
                  </a:rPr>
                  <a:t> solve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main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problem</a:t>
                </a:r>
                <a:r>
                  <a:rPr lang="it-IT" sz="2200" dirty="0">
                    <a:latin typeface="Calibri Light" panose="020F0302020204030204" pitchFamily="34" charset="0"/>
                    <a:ea typeface="Calibri Light" panose="020F0302020204030204" pitchFamily="34" charset="0"/>
                    <a:cs typeface="Calibri Light" panose="020F0302020204030204" pitchFamily="34" charset="0"/>
                  </a:rPr>
                  <a:t> of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navigation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towards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medium goal.</a:t>
                </a:r>
              </a:p>
            </p:txBody>
          </p:sp>
        </mc:Choice>
        <mc:Fallback>
          <p:sp>
            <p:nvSpPr>
              <p:cNvPr id="3" name="Segnaposto contenuto 2">
                <a:extLst>
                  <a:ext uri="{FF2B5EF4-FFF2-40B4-BE49-F238E27FC236}">
                    <a16:creationId xmlns:a16="http://schemas.microsoft.com/office/drawing/2014/main" id="{79A534F2-0765-C205-86AA-544D8D05EB16}"/>
                  </a:ext>
                </a:extLst>
              </p:cNvPr>
              <p:cNvSpPr>
                <a:spLocks noGrp="1" noRot="1" noChangeAspect="1" noMove="1" noResize="1" noEditPoints="1" noAdjustHandles="1" noChangeArrowheads="1" noChangeShapeType="1" noTextEdit="1"/>
              </p:cNvSpPr>
              <p:nvPr>
                <p:ph idx="1"/>
              </p:nvPr>
            </p:nvSpPr>
            <p:spPr>
              <a:xfrm>
                <a:off x="4855112" y="1093788"/>
                <a:ext cx="7051138" cy="4697413"/>
              </a:xfrm>
              <a:blipFill>
                <a:blip r:embed="rId2"/>
                <a:stretch>
                  <a:fillRect l="-1124" r="-864"/>
                </a:stretch>
              </a:blipFill>
            </p:spPr>
            <p:txBody>
              <a:bodyPr/>
              <a:lstStyle/>
              <a:p>
                <a:r>
                  <a:rPr lang="it-IT">
                    <a:noFill/>
                  </a:rPr>
                  <a:t> </a:t>
                </a:r>
              </a:p>
            </p:txBody>
          </p:sp>
        </mc:Fallback>
      </mc:AlternateContent>
    </p:spTree>
    <p:extLst>
      <p:ext uri="{BB962C8B-B14F-4D97-AF65-F5344CB8AC3E}">
        <p14:creationId xmlns:p14="http://schemas.microsoft.com/office/powerpoint/2010/main" val="185115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23D5F361-AB69-B79A-704F-CDA2FB1C46D4}"/>
              </a:ext>
            </a:extLst>
          </p:cNvPr>
          <p:cNvSpPr>
            <a:spLocks noGrp="1"/>
          </p:cNvSpPr>
          <p:nvPr>
            <p:ph type="title"/>
          </p:nvPr>
        </p:nvSpPr>
        <p:spPr>
          <a:xfrm>
            <a:off x="1019015" y="1093787"/>
            <a:ext cx="3059969" cy="4697413"/>
          </a:xfrm>
        </p:spPr>
        <p:txBody>
          <a:bodyPr>
            <a:normAutofit/>
          </a:bodyPr>
          <a:lstStyle/>
          <a:p>
            <a:r>
              <a:rPr lang="it-IT" dirty="0" err="1"/>
              <a:t>Reward</a:t>
            </a:r>
            <a:r>
              <a:rPr lang="it-IT" dirty="0"/>
              <a:t> </a:t>
            </a:r>
            <a:r>
              <a:rPr lang="it-IT" dirty="0" err="1"/>
              <a:t>structure</a:t>
            </a:r>
            <a:r>
              <a:rPr lang="it-IT" dirty="0"/>
              <a:t> and curriculum</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C682DFD2-F728-8086-BBE0-D56A8614E7FC}"/>
              </a:ext>
            </a:extLst>
          </p:cNvPr>
          <p:cNvSpPr>
            <a:spLocks noGrp="1"/>
          </p:cNvSpPr>
          <p:nvPr>
            <p:ph idx="1"/>
          </p:nvPr>
        </p:nvSpPr>
        <p:spPr>
          <a:xfrm>
            <a:off x="4855112" y="1093788"/>
            <a:ext cx="7051137" cy="4697413"/>
          </a:xfrm>
        </p:spPr>
        <p:txBody>
          <a:bodyPr>
            <a:normAutofit fontScale="92500" lnSpcReduction="10000"/>
          </a:bodyPr>
          <a:lstStyle/>
          <a:p>
            <a:pPr marL="0" indent="0">
              <a:buNone/>
            </a:pPr>
            <a:r>
              <a:rPr lang="it-IT" dirty="0" err="1">
                <a:latin typeface="Calibri Light" panose="020F0302020204030204" pitchFamily="34" charset="0"/>
                <a:ea typeface="Calibri Light" panose="020F0302020204030204" pitchFamily="34" charset="0"/>
                <a:cs typeface="Calibri Light" panose="020F0302020204030204" pitchFamily="34" charset="0"/>
              </a:rPr>
              <a:t>As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originally</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used</a:t>
            </a:r>
            <a:r>
              <a:rPr lang="it-IT" dirty="0">
                <a:latin typeface="Calibri Light" panose="020F0302020204030204" pitchFamily="34" charset="0"/>
                <a:ea typeface="Calibri Light" panose="020F0302020204030204" pitchFamily="34" charset="0"/>
                <a:cs typeface="Calibri Light" panose="020F0302020204030204" pitchFamily="34" charset="0"/>
              </a:rPr>
              <a:t> the Goal Sampling Curriculum with 3 </a:t>
            </a:r>
            <a:r>
              <a:rPr lang="it-IT" dirty="0" err="1">
                <a:latin typeface="Calibri Light" panose="020F0302020204030204" pitchFamily="34" charset="0"/>
                <a:ea typeface="Calibri Light" panose="020F0302020204030204" pitchFamily="34" charset="0"/>
                <a:cs typeface="Calibri Light" panose="020F0302020204030204" pitchFamily="34" charset="0"/>
              </a:rPr>
              <a:t>types</a:t>
            </a:r>
            <a:r>
              <a:rPr lang="it-IT" dirty="0">
                <a:latin typeface="Calibri Light" panose="020F0302020204030204" pitchFamily="34" charset="0"/>
                <a:ea typeface="Calibri Light" panose="020F0302020204030204" pitchFamily="34" charset="0"/>
                <a:cs typeface="Calibri Light" panose="020F0302020204030204" pitchFamily="34" charset="0"/>
              </a:rPr>
              <a:t> of goal, </a:t>
            </a:r>
            <a:r>
              <a:rPr lang="it-IT" dirty="0" err="1">
                <a:latin typeface="Calibri Light" panose="020F0302020204030204" pitchFamily="34" charset="0"/>
                <a:ea typeface="Calibri Light" panose="020F0302020204030204" pitchFamily="34" charset="0"/>
                <a:cs typeface="Calibri Light" panose="020F0302020204030204" pitchFamily="34" charset="0"/>
              </a:rPr>
              <a:t>named</a:t>
            </a:r>
            <a:r>
              <a:rPr lang="it-IT" dirty="0">
                <a:latin typeface="Calibri Light" panose="020F0302020204030204" pitchFamily="34" charset="0"/>
                <a:ea typeface="Calibri Light" panose="020F0302020204030204" pitchFamily="34" charset="0"/>
                <a:cs typeface="Calibri Light" panose="020F0302020204030204" pitchFamily="34" charset="0"/>
              </a:rPr>
              <a:t> Easy, Medium and Hard: the easy goal </a:t>
            </a:r>
            <a:r>
              <a:rPr lang="it-IT" dirty="0" err="1">
                <a:latin typeface="Calibri Light" panose="020F0302020204030204" pitchFamily="34" charset="0"/>
                <a:ea typeface="Calibri Light" panose="020F0302020204030204" pitchFamily="34" charset="0"/>
                <a:cs typeface="Calibri Light" panose="020F0302020204030204" pitchFamily="34" charset="0"/>
              </a:rPr>
              <a:t>was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directly</a:t>
            </a:r>
            <a:r>
              <a:rPr lang="it-IT" dirty="0">
                <a:latin typeface="Calibri Light" panose="020F0302020204030204" pitchFamily="34" charset="0"/>
                <a:ea typeface="Calibri Light" panose="020F0302020204030204" pitchFamily="34" charset="0"/>
                <a:cs typeface="Calibri Light" panose="020F0302020204030204" pitchFamily="34" charset="0"/>
              </a:rPr>
              <a:t> in front of the </a:t>
            </a:r>
            <a:r>
              <a:rPr lang="it-IT" dirty="0" err="1">
                <a:latin typeface="Calibri Light" panose="020F0302020204030204" pitchFamily="34" charset="0"/>
                <a:ea typeface="Calibri Light" panose="020F0302020204030204" pitchFamily="34" charset="0"/>
                <a:cs typeface="Calibri Light" panose="020F0302020204030204" pitchFamily="34" charset="0"/>
              </a:rPr>
              <a:t>starting</a:t>
            </a:r>
            <a:r>
              <a:rPr lang="it-IT" dirty="0">
                <a:latin typeface="Calibri Light" panose="020F0302020204030204" pitchFamily="34" charset="0"/>
                <a:ea typeface="Calibri Light" panose="020F0302020204030204" pitchFamily="34" charset="0"/>
                <a:cs typeface="Calibri Light" panose="020F0302020204030204" pitchFamily="34" charset="0"/>
              </a:rPr>
              <a:t> position of the robot and the medium goal </a:t>
            </a:r>
            <a:r>
              <a:rPr lang="it-IT" dirty="0" err="1">
                <a:latin typeface="Calibri Light" panose="020F0302020204030204" pitchFamily="34" charset="0"/>
                <a:ea typeface="Calibri Light" panose="020F0302020204030204" pitchFamily="34" charset="0"/>
                <a:cs typeface="Calibri Light" panose="020F0302020204030204" pitchFamily="34" charset="0"/>
              </a:rPr>
              <a:t>as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slightly</a:t>
            </a:r>
            <a:r>
              <a:rPr lang="it-IT" dirty="0">
                <a:latin typeface="Calibri Light" panose="020F0302020204030204" pitchFamily="34" charset="0"/>
                <a:ea typeface="Calibri Light" panose="020F0302020204030204" pitchFamily="34" charset="0"/>
                <a:cs typeface="Calibri Light" panose="020F0302020204030204" pitchFamily="34" charset="0"/>
              </a:rPr>
              <a:t> to the </a:t>
            </a:r>
            <a:r>
              <a:rPr lang="it-IT" dirty="0" err="1">
                <a:latin typeface="Calibri Light" panose="020F0302020204030204" pitchFamily="34" charset="0"/>
                <a:ea typeface="Calibri Light" panose="020F0302020204030204" pitchFamily="34" charset="0"/>
                <a:cs typeface="Calibri Light" panose="020F0302020204030204" pitchFamily="34" charset="0"/>
              </a:rPr>
              <a:t>left</a:t>
            </a:r>
            <a:r>
              <a:rPr lang="it-IT" dirty="0">
                <a:latin typeface="Calibri Light" panose="020F0302020204030204" pitchFamily="34" charset="0"/>
                <a:ea typeface="Calibri Light" panose="020F0302020204030204" pitchFamily="34" charset="0"/>
                <a:cs typeface="Calibri Light" panose="020F0302020204030204" pitchFamily="34" charset="0"/>
              </a:rPr>
              <a:t> of the </a:t>
            </a:r>
            <a:r>
              <a:rPr lang="it-IT" dirty="0" err="1">
                <a:latin typeface="Calibri Light" panose="020F0302020204030204" pitchFamily="34" charset="0"/>
                <a:ea typeface="Calibri Light" panose="020F0302020204030204" pitchFamily="34" charset="0"/>
                <a:cs typeface="Calibri Light" panose="020F0302020204030204" pitchFamily="34" charset="0"/>
              </a:rPr>
              <a:t>former</a:t>
            </a:r>
            <a:r>
              <a:rPr lang="it-IT" dirty="0">
                <a:latin typeface="Calibri Light" panose="020F0302020204030204" pitchFamily="34" charset="0"/>
                <a:ea typeface="Calibri Light" panose="020F0302020204030204" pitchFamily="34" charset="0"/>
                <a:cs typeface="Calibri Light" panose="020F0302020204030204" pitchFamily="34" charset="0"/>
              </a:rPr>
              <a:t>. The robot </a:t>
            </a:r>
            <a:r>
              <a:rPr lang="it-IT" dirty="0" err="1">
                <a:latin typeface="Calibri Light" panose="020F0302020204030204" pitchFamily="34" charset="0"/>
                <a:ea typeface="Calibri Light" panose="020F0302020204030204" pitchFamily="34" charset="0"/>
                <a:cs typeface="Calibri Light" panose="020F0302020204030204" pitchFamily="34" charset="0"/>
              </a:rPr>
              <a:t>refused</a:t>
            </a:r>
            <a:r>
              <a:rPr lang="it-IT" dirty="0">
                <a:latin typeface="Calibri Light" panose="020F0302020204030204" pitchFamily="34" charset="0"/>
                <a:ea typeface="Calibri Light" panose="020F0302020204030204" pitchFamily="34" charset="0"/>
                <a:cs typeface="Calibri Light" panose="020F0302020204030204" pitchFamily="34" charset="0"/>
              </a:rPr>
              <a:t> to navigate with </a:t>
            </a:r>
            <a:r>
              <a:rPr lang="it-IT" dirty="0" err="1">
                <a:latin typeface="Calibri Light" panose="020F0302020204030204" pitchFamily="34" charset="0"/>
                <a:ea typeface="Calibri Light" panose="020F0302020204030204" pitchFamily="34" charset="0"/>
                <a:cs typeface="Calibri Light" panose="020F0302020204030204" pitchFamily="34" charset="0"/>
              </a:rPr>
              <a:t>stability</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towards</a:t>
            </a:r>
            <a:r>
              <a:rPr lang="it-IT" dirty="0">
                <a:latin typeface="Calibri Light" panose="020F0302020204030204" pitchFamily="34" charset="0"/>
                <a:ea typeface="Calibri Light" panose="020F0302020204030204" pitchFamily="34" charset="0"/>
                <a:cs typeface="Calibri Light" panose="020F0302020204030204" pitchFamily="34" charset="0"/>
              </a:rPr>
              <a:t> the medium goal in </a:t>
            </a:r>
            <a:r>
              <a:rPr lang="it-IT" dirty="0" err="1">
                <a:latin typeface="Calibri Light" panose="020F0302020204030204" pitchFamily="34" charset="0"/>
                <a:ea typeface="Calibri Light" panose="020F0302020204030204" pitchFamily="34" charset="0"/>
                <a:cs typeface="Calibri Light" panose="020F0302020204030204" pitchFamily="34" charset="0"/>
              </a:rPr>
              <a:t>any</a:t>
            </a:r>
            <a:r>
              <a:rPr lang="it-IT" dirty="0">
                <a:latin typeface="Calibri Light" panose="020F0302020204030204" pitchFamily="34" charset="0"/>
                <a:ea typeface="Calibri Light" panose="020F0302020204030204" pitchFamily="34" charset="0"/>
                <a:cs typeface="Calibri Light" panose="020F0302020204030204" pitchFamily="34" charset="0"/>
              </a:rPr>
              <a:t> of the </a:t>
            </a:r>
            <a:r>
              <a:rPr lang="it-IT" dirty="0" err="1">
                <a:latin typeface="Calibri Light" panose="020F0302020204030204" pitchFamily="34" charset="0"/>
                <a:ea typeface="Calibri Light" panose="020F0302020204030204" pitchFamily="34" charset="0"/>
                <a:cs typeface="Calibri Light" panose="020F0302020204030204" pitchFamily="34" charset="0"/>
              </a:rPr>
              <a:t>tests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have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done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even</a:t>
            </a:r>
            <a:r>
              <a:rPr lang="it-IT" dirty="0">
                <a:latin typeface="Calibri Light" panose="020F0302020204030204" pitchFamily="34" charset="0"/>
                <a:ea typeface="Calibri Light" panose="020F0302020204030204" pitchFamily="34" charset="0"/>
                <a:cs typeface="Calibri Light" panose="020F0302020204030204" pitchFamily="34" charset="0"/>
              </a:rPr>
              <a:t> and </a:t>
            </a:r>
            <a:r>
              <a:rPr lang="it-IT" dirty="0" err="1">
                <a:latin typeface="Calibri Light" panose="020F0302020204030204" pitchFamily="34" charset="0"/>
                <a:ea typeface="Calibri Light" panose="020F0302020204030204" pitchFamily="34" charset="0"/>
                <a:cs typeface="Calibri Light" panose="020F0302020204030204" pitchFamily="34" charset="0"/>
              </a:rPr>
              <a:t>especially</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when</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forced</a:t>
            </a:r>
            <a:r>
              <a:rPr lang="it-IT" dirty="0">
                <a:latin typeface="Calibri Light" panose="020F0302020204030204" pitchFamily="34" charset="0"/>
                <a:ea typeface="Calibri Light" panose="020F0302020204030204" pitchFamily="34" charset="0"/>
                <a:cs typeface="Calibri Light" panose="020F0302020204030204" pitchFamily="34" charset="0"/>
              </a:rPr>
              <a:t> to </a:t>
            </a:r>
            <a:r>
              <a:rPr lang="it-IT" dirty="0" err="1">
                <a:latin typeface="Calibri Light" panose="020F0302020204030204" pitchFamily="34" charset="0"/>
                <a:ea typeface="Calibri Light" panose="020F0302020204030204" pitchFamily="34" charset="0"/>
                <a:cs typeface="Calibri Light" panose="020F0302020204030204" pitchFamily="34" charset="0"/>
              </a:rPr>
              <a:t>choose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this</a:t>
            </a:r>
            <a:r>
              <a:rPr lang="it-IT" dirty="0">
                <a:latin typeface="Calibri Light" panose="020F0302020204030204" pitchFamily="34" charset="0"/>
                <a:ea typeface="Calibri Light" panose="020F0302020204030204" pitchFamily="34" charset="0"/>
                <a:cs typeface="Calibri Light" panose="020F0302020204030204" pitchFamily="34" charset="0"/>
              </a:rPr>
              <a:t> goal in the training.</a:t>
            </a:r>
          </a:p>
          <a:p>
            <a:pPr marL="0" indent="0">
              <a:buNone/>
            </a:pPr>
            <a:r>
              <a:rPr lang="it-IT" dirty="0">
                <a:latin typeface="Calibri Light" panose="020F0302020204030204" pitchFamily="34" charset="0"/>
                <a:ea typeface="Calibri Light" panose="020F0302020204030204" pitchFamily="34" charset="0"/>
                <a:cs typeface="Calibri Light" panose="020F0302020204030204" pitchFamily="34" charset="0"/>
              </a:rPr>
              <a:t>The </a:t>
            </a:r>
            <a:r>
              <a:rPr lang="it-IT" dirty="0" err="1">
                <a:latin typeface="Calibri Light" panose="020F0302020204030204" pitchFamily="34" charset="0"/>
                <a:ea typeface="Calibri Light" panose="020F0302020204030204" pitchFamily="34" charset="0"/>
                <a:cs typeface="Calibri Light" panose="020F0302020204030204" pitchFamily="34" charset="0"/>
              </a:rPr>
              <a:t>usual</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reward</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structure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used</a:t>
            </a:r>
            <a:r>
              <a:rPr lang="it-IT" dirty="0">
                <a:latin typeface="Calibri Light" panose="020F0302020204030204" pitchFamily="34" charset="0"/>
                <a:ea typeface="Calibri Light" panose="020F0302020204030204" pitchFamily="34" charset="0"/>
                <a:cs typeface="Calibri Light" panose="020F0302020204030204" pitchFamily="34" charset="0"/>
              </a:rPr>
              <a:t> to </a:t>
            </a:r>
            <a:r>
              <a:rPr lang="it-IT" dirty="0" err="1">
                <a:latin typeface="Calibri Light" panose="020F0302020204030204" pitchFamily="34" charset="0"/>
                <a:ea typeface="Calibri Light" panose="020F0302020204030204" pitchFamily="34" charset="0"/>
                <a:cs typeface="Calibri Light" panose="020F0302020204030204" pitchFamily="34" charset="0"/>
              </a:rPr>
              <a:t>train</a:t>
            </a:r>
            <a:r>
              <a:rPr lang="it-IT" dirty="0">
                <a:latin typeface="Calibri Light" panose="020F0302020204030204" pitchFamily="34" charset="0"/>
                <a:ea typeface="Calibri Light" panose="020F0302020204030204" pitchFamily="34" charset="0"/>
                <a:cs typeface="Calibri Light" panose="020F0302020204030204" pitchFamily="34" charset="0"/>
              </a:rPr>
              <a:t> the robot </a:t>
            </a:r>
            <a:r>
              <a:rPr lang="it-IT" dirty="0" err="1">
                <a:latin typeface="Calibri Light" panose="020F0302020204030204" pitchFamily="34" charset="0"/>
                <a:ea typeface="Calibri Light" panose="020F0302020204030204" pitchFamily="34" charset="0"/>
                <a:cs typeface="Calibri Light" panose="020F0302020204030204" pitchFamily="34" charset="0"/>
              </a:rPr>
              <a:t>was</a:t>
            </a:r>
            <a:r>
              <a:rPr lang="it-IT" dirty="0">
                <a:latin typeface="Calibri Light" panose="020F0302020204030204" pitchFamily="34" charset="0"/>
                <a:ea typeface="Calibri Light" panose="020F0302020204030204" pitchFamily="34" charset="0"/>
                <a:cs typeface="Calibri Light" panose="020F0302020204030204" pitchFamily="34" charset="0"/>
              </a:rPr>
              <a:t> a </a:t>
            </a:r>
            <a:r>
              <a:rPr lang="it-IT" dirty="0" err="1">
                <a:latin typeface="Calibri Light" panose="020F0302020204030204" pitchFamily="34" charset="0"/>
                <a:ea typeface="Calibri Light" panose="020F0302020204030204" pitchFamily="34" charset="0"/>
                <a:cs typeface="Calibri Light" panose="020F0302020204030204" pitchFamily="34" charset="0"/>
              </a:rPr>
              <a:t>factorized</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reward</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composed</a:t>
            </a:r>
            <a:r>
              <a:rPr lang="it-IT" dirty="0">
                <a:latin typeface="Calibri Light" panose="020F0302020204030204" pitchFamily="34" charset="0"/>
                <a:ea typeface="Calibri Light" panose="020F0302020204030204" pitchFamily="34" charset="0"/>
                <a:cs typeface="Calibri Light" panose="020F0302020204030204" pitchFamily="34" charset="0"/>
              </a:rPr>
              <a:t> of </a:t>
            </a:r>
            <a:r>
              <a:rPr lang="it-IT" dirty="0" err="1">
                <a:latin typeface="Calibri Light" panose="020F0302020204030204" pitchFamily="34" charset="0"/>
                <a:ea typeface="Calibri Light" panose="020F0302020204030204" pitchFamily="34" charset="0"/>
                <a:cs typeface="Calibri Light" panose="020F0302020204030204" pitchFamily="34" charset="0"/>
              </a:rPr>
              <a:t>collison</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avoidance</a:t>
            </a:r>
            <a:r>
              <a:rPr lang="it-IT" dirty="0">
                <a:latin typeface="Calibri Light" panose="020F0302020204030204" pitchFamily="34" charset="0"/>
                <a:ea typeface="Calibri Light" panose="020F0302020204030204" pitchFamily="34" charset="0"/>
                <a:cs typeface="Calibri Light" panose="020F0302020204030204" pitchFamily="34" charset="0"/>
              </a:rPr>
              <a:t>, time to target, goal </a:t>
            </a:r>
            <a:r>
              <a:rPr lang="it-IT" dirty="0" err="1">
                <a:latin typeface="Calibri Light" panose="020F0302020204030204" pitchFamily="34" charset="0"/>
                <a:ea typeface="Calibri Light" panose="020F0302020204030204" pitchFamily="34" charset="0"/>
                <a:cs typeface="Calibri Light" panose="020F0302020204030204" pitchFamily="34" charset="0"/>
              </a:rPr>
              <a:t>vicinity</a:t>
            </a:r>
            <a:r>
              <a:rPr lang="it-IT" dirty="0">
                <a:latin typeface="Calibri Light" panose="020F0302020204030204" pitchFamily="34" charset="0"/>
                <a:ea typeface="Calibri Light" panose="020F0302020204030204" pitchFamily="34" charset="0"/>
                <a:cs typeface="Calibri Light" panose="020F0302020204030204" pitchFamily="34" charset="0"/>
              </a:rPr>
              <a:t> e </a:t>
            </a:r>
            <a:r>
              <a:rPr lang="it-IT" dirty="0" err="1">
                <a:latin typeface="Calibri Light" panose="020F0302020204030204" pitchFamily="34" charset="0"/>
                <a:ea typeface="Calibri Light" panose="020F0302020204030204" pitchFamily="34" charset="0"/>
                <a:cs typeface="Calibri Light" panose="020F0302020204030204" pitchFamily="34" charset="0"/>
              </a:rPr>
              <a:t>yaw</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but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sometimes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tried</a:t>
            </a:r>
            <a:r>
              <a:rPr lang="it-IT" dirty="0">
                <a:latin typeface="Calibri Light" panose="020F0302020204030204" pitchFamily="34" charset="0"/>
                <a:ea typeface="Calibri Light" panose="020F0302020204030204" pitchFamily="34" charset="0"/>
                <a:cs typeface="Calibri Light" panose="020F0302020204030204" pitchFamily="34" charset="0"/>
              </a:rPr>
              <a:t> to </a:t>
            </a:r>
            <a:r>
              <a:rPr lang="it-IT" dirty="0" err="1">
                <a:latin typeface="Calibri Light" panose="020F0302020204030204" pitchFamily="34" charset="0"/>
                <a:ea typeface="Calibri Light" panose="020F0302020204030204" pitchFamily="34" charset="0"/>
                <a:cs typeface="Calibri Light" panose="020F0302020204030204" pitchFamily="34" charset="0"/>
              </a:rPr>
              <a:t>cut</a:t>
            </a:r>
            <a:r>
              <a:rPr lang="it-IT" dirty="0">
                <a:latin typeface="Calibri Light" panose="020F0302020204030204" pitchFamily="34" charset="0"/>
                <a:ea typeface="Calibri Light" panose="020F0302020204030204" pitchFamily="34" charset="0"/>
                <a:cs typeface="Calibri Light" panose="020F0302020204030204" pitchFamily="34" charset="0"/>
              </a:rPr>
              <a:t> some of </a:t>
            </a:r>
            <a:r>
              <a:rPr lang="it-IT" dirty="0" err="1">
                <a:latin typeface="Calibri Light" panose="020F0302020204030204" pitchFamily="34" charset="0"/>
                <a:ea typeface="Calibri Light" panose="020F0302020204030204" pitchFamily="34" charset="0"/>
                <a:cs typeface="Calibri Light" panose="020F0302020204030204" pitchFamily="34" charset="0"/>
              </a:rPr>
              <a:t>them</a:t>
            </a:r>
            <a:r>
              <a:rPr lang="it-IT" dirty="0">
                <a:latin typeface="Calibri Light" panose="020F0302020204030204" pitchFamily="34" charset="0"/>
                <a:ea typeface="Calibri Light" panose="020F0302020204030204" pitchFamily="34" charset="0"/>
                <a:cs typeface="Calibri Light" panose="020F0302020204030204" pitchFamily="34" charset="0"/>
              </a:rPr>
              <a:t> for </a:t>
            </a:r>
            <a:r>
              <a:rPr lang="it-IT" dirty="0" err="1">
                <a:latin typeface="Calibri Light" panose="020F0302020204030204" pitchFamily="34" charset="0"/>
                <a:ea typeface="Calibri Light" panose="020F0302020204030204" pitchFamily="34" charset="0"/>
                <a:cs typeface="Calibri Light" panose="020F0302020204030204" pitchFamily="34" charset="0"/>
              </a:rPr>
              <a:t>troubleshooting</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purpuouses</a:t>
            </a:r>
            <a:endParaRPr lang="it-IT" dirty="0">
              <a:latin typeface="Calibri Light" panose="020F0302020204030204" pitchFamily="34" charset="0"/>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904721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D841987E-0CEE-A488-C6A5-F281BA167EFB}"/>
              </a:ext>
            </a:extLst>
          </p:cNvPr>
          <p:cNvSpPr>
            <a:spLocks noGrp="1"/>
          </p:cNvSpPr>
          <p:nvPr>
            <p:ph type="title"/>
          </p:nvPr>
        </p:nvSpPr>
        <p:spPr>
          <a:xfrm>
            <a:off x="1019015" y="1093787"/>
            <a:ext cx="3059969" cy="4697413"/>
          </a:xfrm>
        </p:spPr>
        <p:txBody>
          <a:bodyPr>
            <a:normAutofit/>
          </a:bodyPr>
          <a:lstStyle/>
          <a:p>
            <a:r>
              <a:rPr lang="it-IT" dirty="0"/>
              <a:t>Training strategy</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1A0701BE-0A11-AAC2-1CA9-F6B68F722FE8}"/>
              </a:ext>
            </a:extLst>
          </p:cNvPr>
          <p:cNvSpPr>
            <a:spLocks noGrp="1"/>
          </p:cNvSpPr>
          <p:nvPr>
            <p:ph idx="1"/>
          </p:nvPr>
        </p:nvSpPr>
        <p:spPr>
          <a:xfrm>
            <a:off x="4855112" y="1093788"/>
            <a:ext cx="7113051" cy="4697413"/>
          </a:xfrm>
        </p:spPr>
        <p:txBody>
          <a:bodyPr>
            <a:normAutofit/>
          </a:bodyPr>
          <a:lstStyle/>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already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discussed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tried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various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configurations</a:t>
            </a:r>
            <a:r>
              <a:rPr lang="it-IT" sz="2200" dirty="0">
                <a:latin typeface="Calibri Light" panose="020F0302020204030204" pitchFamily="34" charset="0"/>
                <a:ea typeface="Calibri Light" panose="020F0302020204030204" pitchFamily="34" charset="0"/>
                <a:cs typeface="Calibri Light" panose="020F0302020204030204" pitchFamily="34" charset="0"/>
              </a:rPr>
              <a:t> with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different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function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parameters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different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reward</a:t>
            </a:r>
            <a:r>
              <a:rPr lang="it-IT" sz="2200" dirty="0">
                <a:latin typeface="Calibri Light" panose="020F0302020204030204" pitchFamily="34" charset="0"/>
                <a:ea typeface="Calibri Light" panose="020F0302020204030204" pitchFamily="34" charset="0"/>
                <a:cs typeface="Calibri Light" panose="020F0302020204030204" pitchFamily="34" charset="0"/>
              </a:rPr>
              <a:t> weights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different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functions</a:t>
            </a:r>
            <a:r>
              <a:rPr lang="it-IT" sz="2200" dirty="0">
                <a:latin typeface="Calibri Light" panose="020F0302020204030204" pitchFamily="34" charset="0"/>
                <a:ea typeface="Calibri Light" panose="020F0302020204030204" pitchFamily="34" charset="0"/>
                <a:cs typeface="Calibri Light" panose="020F0302020204030204" pitchFamily="34" charset="0"/>
              </a:rPr>
              <a:t>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calculate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those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rewards</a:t>
            </a:r>
            <a:r>
              <a:rPr lang="it-IT" sz="2200" dirty="0">
                <a:latin typeface="Calibri Light" panose="020F0302020204030204" pitchFamily="34" charset="0"/>
                <a:ea typeface="Calibri Light" panose="020F0302020204030204" pitchFamily="34" charset="0"/>
                <a:cs typeface="Calibri Light" panose="020F0302020204030204" pitchFamily="34" charset="0"/>
              </a:rPr>
              <a:t>. Once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noticed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aformentioned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problems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divided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group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search</a:t>
            </a:r>
            <a:r>
              <a:rPr lang="it-IT" sz="2200" dirty="0">
                <a:latin typeface="Calibri Light" panose="020F0302020204030204" pitchFamily="34" charset="0"/>
                <a:ea typeface="Calibri Light" panose="020F0302020204030204" pitchFamily="34" charset="0"/>
                <a:cs typeface="Calibri Light" panose="020F0302020204030204" pitchFamily="34" charset="0"/>
              </a:rPr>
              <a:t> more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efficiently</a:t>
            </a:r>
            <a:r>
              <a:rPr lang="it-IT" sz="2200" dirty="0">
                <a:latin typeface="Calibri Light" panose="020F0302020204030204" pitchFamily="34" charset="0"/>
                <a:ea typeface="Calibri Light" panose="020F0302020204030204" pitchFamily="34" charset="0"/>
                <a:cs typeface="Calibri Light" panose="020F0302020204030204" pitchFamily="34" charset="0"/>
              </a:rPr>
              <a:t> for a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solution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some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tried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various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configurations</a:t>
            </a:r>
            <a:r>
              <a:rPr lang="it-IT" sz="2200" dirty="0">
                <a:latin typeface="Calibri Light" panose="020F0302020204030204" pitchFamily="34" charset="0"/>
                <a:ea typeface="Calibri Light" panose="020F0302020204030204" pitchFamily="34" charset="0"/>
                <a:cs typeface="Calibri Light" panose="020F0302020204030204" pitchFamily="34" charset="0"/>
              </a:rPr>
              <a:t> for small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periods</a:t>
            </a:r>
            <a:r>
              <a:rPr lang="it-IT" sz="2200" dirty="0">
                <a:latin typeface="Calibri Light" panose="020F0302020204030204" pitchFamily="34" charset="0"/>
                <a:ea typeface="Calibri Light" panose="020F0302020204030204" pitchFamily="34" charset="0"/>
                <a:cs typeface="Calibri Light" panose="020F0302020204030204" pitchFamily="34" charset="0"/>
              </a:rPr>
              <a:t> (2000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episodes</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others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tried</a:t>
            </a:r>
            <a:r>
              <a:rPr lang="it-IT" sz="2200" dirty="0">
                <a:latin typeface="Calibri Light" panose="020F0302020204030204" pitchFamily="34" charset="0"/>
                <a:ea typeface="Calibri Light" panose="020F0302020204030204" pitchFamily="34" charset="0"/>
                <a:cs typeface="Calibri Light" panose="020F0302020204030204" pitchFamily="34" charset="0"/>
              </a:rPr>
              <a:t> a multi-</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phase</a:t>
            </a:r>
            <a:r>
              <a:rPr lang="it-IT" sz="2200" dirty="0">
                <a:latin typeface="Calibri Light" panose="020F0302020204030204" pitchFamily="34" charset="0"/>
                <a:ea typeface="Calibri Light" panose="020F0302020204030204" pitchFamily="34" charset="0"/>
                <a:cs typeface="Calibri Light" panose="020F0302020204030204" pitchFamily="34" charset="0"/>
              </a:rPr>
              <a:t> training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starting</a:t>
            </a:r>
            <a:r>
              <a:rPr lang="it-IT" sz="2200" dirty="0">
                <a:latin typeface="Calibri Light" panose="020F0302020204030204" pitchFamily="34" charset="0"/>
                <a:ea typeface="Calibri Light" panose="020F0302020204030204" pitchFamily="34" charset="0"/>
                <a:cs typeface="Calibri Light" panose="020F0302020204030204" pitchFamily="34" charset="0"/>
              </a:rPr>
              <a:t> from a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maze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without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obstacles</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increase</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difficulty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gradually</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p:txBody>
      </p:sp>
    </p:spTree>
    <p:extLst>
      <p:ext uri="{BB962C8B-B14F-4D97-AF65-F5344CB8AC3E}">
        <p14:creationId xmlns:p14="http://schemas.microsoft.com/office/powerpoint/2010/main" val="36284825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D0E6150A-E7E2-44FE-B80D-F3D19B633193}"/>
              </a:ext>
            </a:extLst>
          </p:cNvPr>
          <p:cNvSpPr>
            <a:spLocks noGrp="1"/>
          </p:cNvSpPr>
          <p:nvPr>
            <p:ph type="title"/>
          </p:nvPr>
        </p:nvSpPr>
        <p:spPr>
          <a:xfrm>
            <a:off x="1019015" y="1093787"/>
            <a:ext cx="3059969" cy="4697413"/>
          </a:xfrm>
        </p:spPr>
        <p:txBody>
          <a:bodyPr>
            <a:normAutofit/>
          </a:bodyPr>
          <a:lstStyle/>
          <a:p>
            <a:r>
              <a:rPr lang="it-IT" dirty="0"/>
              <a:t>Evaluation </a:t>
            </a:r>
            <a:r>
              <a:rPr lang="it-IT" dirty="0" err="1"/>
              <a:t>metrics</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C2EAE932-A1A8-A244-1655-8E035622B6DF}"/>
              </a:ext>
            </a:extLst>
          </p:cNvPr>
          <p:cNvSpPr>
            <a:spLocks noGrp="1"/>
          </p:cNvSpPr>
          <p:nvPr>
            <p:ph idx="1"/>
          </p:nvPr>
        </p:nvSpPr>
        <p:spPr>
          <a:xfrm>
            <a:off x="4855112" y="1093788"/>
            <a:ext cx="7113051" cy="469741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Using the Goal Sampling Curriculum and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other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metrics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originally</a:t>
            </a:r>
            <a:r>
              <a:rPr lang="it-IT" sz="2200" dirty="0">
                <a:latin typeface="Calibri Light" panose="020F0302020204030204" pitchFamily="34" charset="0"/>
                <a:ea typeface="Calibri Light" panose="020F0302020204030204" pitchFamily="34" charset="0"/>
                <a:cs typeface="Calibri Light" panose="020F0302020204030204" pitchFamily="34" charset="0"/>
              </a:rPr>
              <a:t> aswell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simple</a:t>
            </a:r>
            <a:r>
              <a:rPr lang="it-IT" sz="2200" dirty="0">
                <a:latin typeface="Calibri Light" panose="020F0302020204030204" pitchFamily="34" charset="0"/>
                <a:ea typeface="Calibri Light" panose="020F0302020204030204" pitchFamily="34" charset="0"/>
                <a:cs typeface="Calibri Light" panose="020F0302020204030204" pitchFamily="34" charset="0"/>
              </a:rPr>
              <a:t> script to plot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created</a:t>
            </a:r>
            <a:r>
              <a:rPr lang="it-IT" sz="2200" dirty="0">
                <a:latin typeface="Calibri Light" panose="020F0302020204030204" pitchFamily="34" charset="0"/>
                <a:ea typeface="Calibri Light" panose="020F0302020204030204" pitchFamily="34" charset="0"/>
                <a:cs typeface="Calibri Light" panose="020F0302020204030204" pitchFamily="34" charset="0"/>
              </a:rPr>
              <a:t> after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all</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trainings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metrics.csv</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fundamental</a:t>
            </a:r>
            <a:r>
              <a:rPr lang="it-IT" sz="2200" dirty="0">
                <a:latin typeface="Calibri Light" panose="020F0302020204030204" pitchFamily="34" charset="0"/>
                <a:ea typeface="Calibri Light" panose="020F0302020204030204" pitchFamily="34" charset="0"/>
                <a:cs typeface="Calibri Light" panose="020F0302020204030204" pitchFamily="34" charset="0"/>
              </a:rPr>
              <a:t> to test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different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configurations</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realize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which</a:t>
            </a:r>
            <a:r>
              <a:rPr lang="it-IT" sz="2200" dirty="0">
                <a:latin typeface="Calibri Light" panose="020F0302020204030204" pitchFamily="34" charset="0"/>
                <a:ea typeface="Calibri Light" panose="020F0302020204030204" pitchFamily="34" charset="0"/>
                <a:cs typeface="Calibri Light" panose="020F0302020204030204" pitchFamily="34" charset="0"/>
              </a:rPr>
              <a:t> one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worked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better</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a:p>
            <a:pPr marL="0" indent="0">
              <a:buNone/>
            </a:pP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also</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used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analized</a:t>
            </a:r>
            <a:r>
              <a:rPr lang="it-IT" sz="2200" dirty="0">
                <a:latin typeface="Calibri Light" panose="020F0302020204030204" pitchFamily="34" charset="0"/>
                <a:ea typeface="Calibri Light" panose="020F0302020204030204" pitchFamily="34" charset="0"/>
                <a:cs typeface="Calibri Light" panose="020F0302020204030204" pitchFamily="34" charset="0"/>
              </a:rPr>
              <a:t> a single goal success rate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present</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achieved</a:t>
            </a:r>
            <a:r>
              <a:rPr lang="it-IT" sz="2200" dirty="0">
                <a:latin typeface="Calibri Light" panose="020F0302020204030204" pitchFamily="34" charset="0"/>
                <a:ea typeface="Calibri Light" panose="020F0302020204030204" pitchFamily="34" charset="0"/>
                <a:cs typeface="Calibri Light" panose="020F0302020204030204" pitchFamily="34" charset="0"/>
              </a:rPr>
              <a:t> by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showing</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that</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robot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had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difficulty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reaching</a:t>
            </a:r>
            <a:r>
              <a:rPr lang="it-IT" sz="2200" dirty="0">
                <a:latin typeface="Calibri Light" panose="020F0302020204030204" pitchFamily="34" charset="0"/>
                <a:ea typeface="Calibri Light" panose="020F0302020204030204" pitchFamily="34" charset="0"/>
                <a:cs typeface="Calibri Light" panose="020F0302020204030204" pitchFamily="34" charset="0"/>
              </a:rPr>
              <a:t> goals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other</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then</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first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if</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not</a:t>
            </a:r>
            <a:r>
              <a:rPr lang="it-IT" sz="2200" dirty="0">
                <a:latin typeface="Calibri Light" panose="020F0302020204030204" pitchFamily="34" charset="0"/>
                <a:ea typeface="Calibri Light" panose="020F0302020204030204" pitchFamily="34" charset="0"/>
                <a:cs typeface="Calibri Light" panose="020F0302020204030204" pitchFamily="34" charset="0"/>
              </a:rPr>
              <a:t> by pure chance.</a:t>
            </a:r>
          </a:p>
        </p:txBody>
      </p:sp>
    </p:spTree>
    <p:extLst>
      <p:ext uri="{BB962C8B-B14F-4D97-AF65-F5344CB8AC3E}">
        <p14:creationId xmlns:p14="http://schemas.microsoft.com/office/powerpoint/2010/main" val="30422562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34770"/>
        </a:solidFill>
        <a:effectLst/>
      </p:bgPr>
    </p:bg>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36E5999-85A8-328D-B9CE-10498F9A220D}"/>
              </a:ext>
            </a:extLst>
          </p:cNvPr>
          <p:cNvSpPr>
            <a:spLocks noGrp="1"/>
          </p:cNvSpPr>
          <p:nvPr>
            <p:ph type="title"/>
          </p:nvPr>
        </p:nvSpPr>
        <p:spPr>
          <a:xfrm>
            <a:off x="1266715" y="-234953"/>
            <a:ext cx="9906000" cy="1477963"/>
          </a:xfrm>
        </p:spPr>
        <p:txBody>
          <a:bodyPr>
            <a:normAutofit/>
          </a:bodyPr>
          <a:lstStyle/>
          <a:p>
            <a:r>
              <a:rPr lang="it-IT" dirty="0" err="1"/>
              <a:t>Results</a:t>
            </a:r>
            <a:r>
              <a:rPr lang="it-IT" dirty="0"/>
              <a:t> A</a:t>
            </a:r>
          </a:p>
        </p:txBody>
      </p:sp>
      <p:sp>
        <p:nvSpPr>
          <p:cNvPr id="3" name="Segnaposto contenuto 2">
            <a:extLst>
              <a:ext uri="{FF2B5EF4-FFF2-40B4-BE49-F238E27FC236}">
                <a16:creationId xmlns:a16="http://schemas.microsoft.com/office/drawing/2014/main" id="{148653F7-7E89-E8D0-66AA-896B0A955B75}"/>
              </a:ext>
            </a:extLst>
          </p:cNvPr>
          <p:cNvSpPr>
            <a:spLocks noGrp="1"/>
          </p:cNvSpPr>
          <p:nvPr>
            <p:ph idx="1"/>
          </p:nvPr>
        </p:nvSpPr>
        <p:spPr>
          <a:xfrm>
            <a:off x="5651933" y="952798"/>
            <a:ext cx="5520782" cy="5634713"/>
          </a:xfrm>
        </p:spPr>
        <p:txBody>
          <a:bodyPr>
            <a:normAutofit/>
          </a:bodyPr>
          <a:lstStyle/>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Test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number</a:t>
            </a:r>
            <a:r>
              <a:rPr lang="it-IT" sz="2200" dirty="0">
                <a:latin typeface="Calibri Light" panose="020F0302020204030204" pitchFamily="34" charset="0"/>
                <a:ea typeface="Calibri Light" panose="020F0302020204030204" pitchFamily="34" charset="0"/>
                <a:cs typeface="Calibri Light" panose="020F0302020204030204" pitchFamily="34" charset="0"/>
              </a:rPr>
              <a:t> 6: after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noticing</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that</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robot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failed</a:t>
            </a:r>
            <a:r>
              <a:rPr lang="it-IT" sz="2200" dirty="0">
                <a:latin typeface="Calibri Light" panose="020F0302020204030204" pitchFamily="34" charset="0"/>
                <a:ea typeface="Calibri Light" panose="020F0302020204030204" pitchFamily="34" charset="0"/>
                <a:cs typeface="Calibri Light" panose="020F0302020204030204" pitchFamily="34" charset="0"/>
              </a:rPr>
              <a:t> to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reach</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medium goal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tried</a:t>
            </a:r>
            <a:r>
              <a:rPr lang="it-IT" sz="2200" dirty="0">
                <a:latin typeface="Calibri Light" panose="020F0302020204030204" pitchFamily="34" charset="0"/>
                <a:ea typeface="Calibri Light" panose="020F0302020204030204" pitchFamily="34" charset="0"/>
                <a:cs typeface="Calibri Light" panose="020F0302020204030204" pitchFamily="34" charset="0"/>
              </a:rPr>
              <a:t> to force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choice</a:t>
            </a:r>
            <a:r>
              <a:rPr lang="it-IT" sz="2200" dirty="0">
                <a:latin typeface="Calibri Light" panose="020F0302020204030204" pitchFamily="34" charset="0"/>
                <a:ea typeface="Calibri Light" panose="020F0302020204030204" pitchFamily="34" charset="0"/>
                <a:cs typeface="Calibri Light" panose="020F0302020204030204" pitchFamily="34" charset="0"/>
              </a:rPr>
              <a:t> of the goal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but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resulted</a:t>
            </a:r>
            <a:r>
              <a:rPr lang="it-IT" sz="2200" dirty="0">
                <a:latin typeface="Calibri Light" panose="020F0302020204030204" pitchFamily="34" charset="0"/>
                <a:ea typeface="Calibri Light" panose="020F0302020204030204" pitchFamily="34" charset="0"/>
                <a:cs typeface="Calibri Light" panose="020F0302020204030204" pitchFamily="34" charset="0"/>
              </a:rPr>
              <a:t> in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plummeting</a:t>
            </a:r>
            <a:r>
              <a:rPr lang="it-IT" sz="2200" dirty="0">
                <a:latin typeface="Calibri Light" panose="020F0302020204030204" pitchFamily="34" charset="0"/>
                <a:ea typeface="Calibri Light" panose="020F0302020204030204" pitchFamily="34" charset="0"/>
                <a:cs typeface="Calibri Light" panose="020F0302020204030204" pitchFamily="34" charset="0"/>
              </a:rPr>
              <a:t> of the success rate</a:t>
            </a:r>
          </a:p>
          <a:p>
            <a:pPr marL="0" indent="0">
              <a:buNone/>
            </a:pPr>
            <a:endParaRPr lang="it-IT" sz="2200"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endParaRPr lang="it-IT" sz="400" dirty="0">
              <a:latin typeface="Calibri Light" panose="020F0302020204030204" pitchFamily="34" charset="0"/>
              <a:ea typeface="Calibri Light" panose="020F0302020204030204" pitchFamily="34" charset="0"/>
              <a:cs typeface="Calibri Light" panose="020F0302020204030204" pitchFamily="34" charset="0"/>
            </a:endParaRPr>
          </a:p>
          <a:p>
            <a:pPr marL="0" indent="0">
              <a:buNone/>
            </a:pPr>
            <a:r>
              <a:rPr lang="it-IT" sz="2200" dirty="0">
                <a:latin typeface="Calibri Light" panose="020F0302020204030204" pitchFamily="34" charset="0"/>
                <a:ea typeface="Calibri Light" panose="020F0302020204030204" pitchFamily="34" charset="0"/>
                <a:cs typeface="Calibri Light" panose="020F0302020204030204" pitchFamily="34" charset="0"/>
              </a:rPr>
              <a:t>Test 14: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introduced</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DuelingDQN</a:t>
            </a:r>
            <a:r>
              <a:rPr lang="it-IT" sz="2200" dirty="0">
                <a:latin typeface="Calibri Light" panose="020F0302020204030204" pitchFamily="34" charset="0"/>
                <a:ea typeface="Calibri Light" panose="020F0302020204030204" pitchFamily="34" charset="0"/>
                <a:cs typeface="Calibri Light" panose="020F0302020204030204" pitchFamily="34" charset="0"/>
              </a:rPr>
              <a:t> network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resulted</a:t>
            </a:r>
            <a:r>
              <a:rPr lang="it-IT" sz="2200" dirty="0">
                <a:latin typeface="Calibri Light" panose="020F0302020204030204" pitchFamily="34" charset="0"/>
                <a:ea typeface="Calibri Light" panose="020F0302020204030204" pitchFamily="34" charset="0"/>
                <a:cs typeface="Calibri Light" panose="020F0302020204030204" pitchFamily="34" charset="0"/>
              </a:rPr>
              <a:t> in a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significant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improvement</a:t>
            </a:r>
            <a:r>
              <a:rPr lang="it-IT" sz="2200" dirty="0">
                <a:latin typeface="Calibri Light" panose="020F0302020204030204" pitchFamily="34" charset="0"/>
                <a:ea typeface="Calibri Light" panose="020F0302020204030204" pitchFamily="34" charset="0"/>
                <a:cs typeface="Calibri Light" panose="020F0302020204030204" pitchFamily="34" charset="0"/>
              </a:rPr>
              <a:t> in the success rate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although</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boosted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almost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entirely</a:t>
            </a:r>
            <a:r>
              <a:rPr lang="it-IT" sz="2200" dirty="0">
                <a:latin typeface="Calibri Light" panose="020F0302020204030204" pitchFamily="34" charset="0"/>
                <a:ea typeface="Calibri Light" panose="020F0302020204030204" pitchFamily="34" charset="0"/>
                <a:cs typeface="Calibri Light" panose="020F0302020204030204" pitchFamily="34" charset="0"/>
              </a:rPr>
              <a:t> by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navigation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to the easy goal.</a:t>
            </a:r>
          </a:p>
        </p:txBody>
      </p:sp>
      <p:pic>
        <p:nvPicPr>
          <p:cNvPr id="7" name="Immagine 6" descr="Immagine che contiene testo, schermata, diagramma, Diagramma&#10;&#10;Il contenuto generato dall'IA potrebbe non essere corretto.">
            <a:extLst>
              <a:ext uri="{FF2B5EF4-FFF2-40B4-BE49-F238E27FC236}">
                <a16:creationId xmlns:a16="http://schemas.microsoft.com/office/drawing/2014/main" id="{5ECC3848-27FF-4216-EAE4-585DC17C949D}"/>
              </a:ext>
            </a:extLst>
          </p:cNvPr>
          <p:cNvPicPr>
            <a:picLocks noChangeAspect="1"/>
          </p:cNvPicPr>
          <p:nvPr/>
        </p:nvPicPr>
        <p:blipFill>
          <a:blip r:embed="rId2">
            <a:extLst>
              <a:ext uri="{28A0092B-C50C-407E-A947-70E740481C1C}">
                <a14:useLocalDpi xmlns:a14="http://schemas.microsoft.com/office/drawing/2010/main" val="0"/>
              </a:ext>
            </a:extLst>
          </a:blip>
          <a:srcRect l="7493" t="7437" r="9055" b="3964"/>
          <a:stretch>
            <a:fillRect/>
          </a:stretch>
        </p:blipFill>
        <p:spPr>
          <a:xfrm>
            <a:off x="737076" y="952798"/>
            <a:ext cx="4844126" cy="2571472"/>
          </a:xfrm>
          <a:prstGeom prst="rect">
            <a:avLst/>
          </a:prstGeom>
        </p:spPr>
      </p:pic>
      <p:pic>
        <p:nvPicPr>
          <p:cNvPr id="38" name="Immagine 37" descr="Immagine che contiene testo, schermata, Carattere, Diagramma&#10;&#10;Il contenuto generato dall'IA potrebbe non essere corretto.">
            <a:extLst>
              <a:ext uri="{FF2B5EF4-FFF2-40B4-BE49-F238E27FC236}">
                <a16:creationId xmlns:a16="http://schemas.microsoft.com/office/drawing/2014/main" id="{40F6024A-C1AD-5D00-66C7-17BF6BC0D060}"/>
              </a:ext>
            </a:extLst>
          </p:cNvPr>
          <p:cNvPicPr>
            <a:picLocks noChangeAspect="1"/>
          </p:cNvPicPr>
          <p:nvPr/>
        </p:nvPicPr>
        <p:blipFill>
          <a:blip r:embed="rId3">
            <a:extLst>
              <a:ext uri="{28A0092B-C50C-407E-A947-70E740481C1C}">
                <a14:useLocalDpi xmlns:a14="http://schemas.microsoft.com/office/drawing/2010/main" val="0"/>
              </a:ext>
            </a:extLst>
          </a:blip>
          <a:srcRect l="7445" t="6944" r="8639" b="3965"/>
          <a:stretch>
            <a:fillRect/>
          </a:stretch>
        </p:blipFill>
        <p:spPr>
          <a:xfrm>
            <a:off x="737077" y="3822224"/>
            <a:ext cx="4844126" cy="2670016"/>
          </a:xfrm>
          <a:prstGeom prst="rect">
            <a:avLst/>
          </a:prstGeom>
        </p:spPr>
      </p:pic>
    </p:spTree>
    <p:extLst>
      <p:ext uri="{BB962C8B-B14F-4D97-AF65-F5344CB8AC3E}">
        <p14:creationId xmlns:p14="http://schemas.microsoft.com/office/powerpoint/2010/main" val="24813086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34770"/>
        </a:solidFill>
        <a:effectLst/>
      </p:bgPr>
    </p:bg>
    <p:spTree>
      <p:nvGrpSpPr>
        <p:cNvPr id="1" name=""/>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B61375F2-60B1-44ED-B60A-019C4BD5A6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6" name="Group 45">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gradFill flip="none" rotWithShape="1">
            <a:gsLst>
              <a:gs pos="0">
                <a:schemeClr val="tx2">
                  <a:alpha val="60000"/>
                </a:schemeClr>
              </a:gs>
              <a:gs pos="100000">
                <a:schemeClr val="bg2">
                  <a:lumMod val="60000"/>
                  <a:lumOff val="40000"/>
                  <a:alpha val="80000"/>
                </a:schemeClr>
              </a:gs>
            </a:gsLst>
            <a:lin ang="5400000" scaled="0"/>
            <a:tileRect/>
          </a:gradFill>
        </p:grpSpPr>
        <p:sp>
          <p:nvSpPr>
            <p:cNvPr id="47"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48"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49"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0"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1"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2"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3"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4"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5"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6"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7"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58"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59"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0"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1"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2"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3"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64"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5"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6"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7"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8"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69"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70"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71"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72"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73"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grpSp>
        <p:nvGrpSpPr>
          <p:cNvPr id="75" name="Group 74">
            <a:extLst>
              <a:ext uri="{FF2B5EF4-FFF2-40B4-BE49-F238E27FC236}">
                <a16:creationId xmlns:a16="http://schemas.microsoft.com/office/drawing/2014/main" id="{B485B3F6-654D-4842-A2DE-677D12FED46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60000"/>
                </a:schemeClr>
              </a:gs>
              <a:gs pos="100000">
                <a:schemeClr val="bg2">
                  <a:lumMod val="60000"/>
                  <a:lumOff val="40000"/>
                  <a:alpha val="60000"/>
                </a:schemeClr>
              </a:gs>
            </a:gsLst>
            <a:lin ang="5400000" scaled="0"/>
            <a:tileRect/>
          </a:gradFill>
        </p:grpSpPr>
        <p:sp>
          <p:nvSpPr>
            <p:cNvPr id="76" name="Freeform 32">
              <a:extLst>
                <a:ext uri="{FF2B5EF4-FFF2-40B4-BE49-F238E27FC236}">
                  <a16:creationId xmlns:a16="http://schemas.microsoft.com/office/drawing/2014/main" id="{BF4365F4-C63C-4FC2-907B-1F7D414B95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77" name="Freeform 33">
              <a:extLst>
                <a:ext uri="{FF2B5EF4-FFF2-40B4-BE49-F238E27FC236}">
                  <a16:creationId xmlns:a16="http://schemas.microsoft.com/office/drawing/2014/main" id="{B0538225-01AB-41C4-9A02-FE1BD81D627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78" name="Freeform 34">
              <a:extLst>
                <a:ext uri="{FF2B5EF4-FFF2-40B4-BE49-F238E27FC236}">
                  <a16:creationId xmlns:a16="http://schemas.microsoft.com/office/drawing/2014/main" id="{66942F07-D7CC-49EB-BF73-8B94D5F4FCB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79" name="Freeform 35">
              <a:extLst>
                <a:ext uri="{FF2B5EF4-FFF2-40B4-BE49-F238E27FC236}">
                  <a16:creationId xmlns:a16="http://schemas.microsoft.com/office/drawing/2014/main" id="{4D3CACE0-3AC7-4A9F-9A3F-1694ACCD47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80" name="Freeform 36">
              <a:extLst>
                <a:ext uri="{FF2B5EF4-FFF2-40B4-BE49-F238E27FC236}">
                  <a16:creationId xmlns:a16="http://schemas.microsoft.com/office/drawing/2014/main" id="{19063B47-FBFB-4EA1-A3FB-BECE005F48B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81" name="Freeform 37">
              <a:extLst>
                <a:ext uri="{FF2B5EF4-FFF2-40B4-BE49-F238E27FC236}">
                  <a16:creationId xmlns:a16="http://schemas.microsoft.com/office/drawing/2014/main" id="{B856863B-C809-4C31-94D0-659A918513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82" name="Freeform 38">
              <a:extLst>
                <a:ext uri="{FF2B5EF4-FFF2-40B4-BE49-F238E27FC236}">
                  <a16:creationId xmlns:a16="http://schemas.microsoft.com/office/drawing/2014/main" id="{298CB3D7-7373-4AC6-9E2C-4AFDDE2802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83" name="Freeform 39">
              <a:extLst>
                <a:ext uri="{FF2B5EF4-FFF2-40B4-BE49-F238E27FC236}">
                  <a16:creationId xmlns:a16="http://schemas.microsoft.com/office/drawing/2014/main" id="{7DE09F1B-2326-4ED3-B63B-A30815DDEC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84" name="Freeform 40">
              <a:extLst>
                <a:ext uri="{FF2B5EF4-FFF2-40B4-BE49-F238E27FC236}">
                  <a16:creationId xmlns:a16="http://schemas.microsoft.com/office/drawing/2014/main" id="{2498F244-3CE6-4D90-B5CF-5189DB17D0D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85" name="Rectangle 41">
              <a:extLst>
                <a:ext uri="{FF2B5EF4-FFF2-40B4-BE49-F238E27FC236}">
                  <a16:creationId xmlns:a16="http://schemas.microsoft.com/office/drawing/2014/main" id="{9A30DD13-FA10-4B9F-8B4D-97B7287B82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grpSp>
      <p:pic>
        <p:nvPicPr>
          <p:cNvPr id="5" name="Immagine 4" descr="Immagine che contiene testo, schermata, Carattere, Diagramma">
            <a:extLst>
              <a:ext uri="{FF2B5EF4-FFF2-40B4-BE49-F238E27FC236}">
                <a16:creationId xmlns:a16="http://schemas.microsoft.com/office/drawing/2014/main" id="{0A0F955D-CDFE-B243-CB84-5D151DB8F8D6}"/>
              </a:ext>
            </a:extLst>
          </p:cNvPr>
          <p:cNvPicPr>
            <a:picLocks noChangeAspect="1"/>
          </p:cNvPicPr>
          <p:nvPr/>
        </p:nvPicPr>
        <p:blipFill>
          <a:blip r:embed="rId2">
            <a:extLst>
              <a:ext uri="{28A0092B-C50C-407E-A947-70E740481C1C}">
                <a14:useLocalDpi xmlns:a14="http://schemas.microsoft.com/office/drawing/2010/main" val="0"/>
              </a:ext>
            </a:extLst>
          </a:blip>
          <a:srcRect l="6861" t="7436" r="8290" b="4138"/>
          <a:stretch>
            <a:fillRect/>
          </a:stretch>
        </p:blipFill>
        <p:spPr>
          <a:xfrm>
            <a:off x="522287" y="1528775"/>
            <a:ext cx="6349016" cy="3308337"/>
          </a:xfrm>
          <a:prstGeom prst="rect">
            <a:avLst/>
          </a:prstGeom>
        </p:spPr>
      </p:pic>
      <p:sp>
        <p:nvSpPr>
          <p:cNvPr id="7" name="CasellaDiTesto 6">
            <a:extLst>
              <a:ext uri="{FF2B5EF4-FFF2-40B4-BE49-F238E27FC236}">
                <a16:creationId xmlns:a16="http://schemas.microsoft.com/office/drawing/2014/main" id="{367B0E69-77BA-BACE-A9CC-9186B609704D}"/>
              </a:ext>
            </a:extLst>
          </p:cNvPr>
          <p:cNvSpPr txBox="1"/>
          <p:nvPr/>
        </p:nvSpPr>
        <p:spPr>
          <a:xfrm>
            <a:off x="7047515" y="1404494"/>
            <a:ext cx="4526948" cy="3816429"/>
          </a:xfrm>
          <a:prstGeom prst="rect">
            <a:avLst/>
          </a:prstGeom>
          <a:noFill/>
        </p:spPr>
        <p:txBody>
          <a:bodyPr wrap="square" rtlCol="0">
            <a:spAutoFit/>
          </a:bodyPr>
          <a:lstStyle/>
          <a:p>
            <a:r>
              <a:rPr lang="it-IT" sz="2200" dirty="0">
                <a:latin typeface="Calibri Light" panose="020F0302020204030204" pitchFamily="34" charset="0"/>
                <a:ea typeface="Calibri Light" panose="020F0302020204030204" pitchFamily="34" charset="0"/>
                <a:cs typeface="Calibri Light" panose="020F0302020204030204" pitchFamily="34" charset="0"/>
              </a:rPr>
              <a:t>Test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number</a:t>
            </a:r>
            <a:r>
              <a:rPr lang="it-IT" sz="2200" dirty="0">
                <a:latin typeface="Calibri Light" panose="020F0302020204030204" pitchFamily="34" charset="0"/>
                <a:ea typeface="Calibri Light" panose="020F0302020204030204" pitchFamily="34" charset="0"/>
                <a:cs typeface="Calibri Light" panose="020F0302020204030204" pitchFamily="34" charset="0"/>
              </a:rPr>
              <a:t> 24: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implemented</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all</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positive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changes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found</a:t>
            </a:r>
            <a:r>
              <a:rPr lang="it-IT" sz="2200" dirty="0">
                <a:latin typeface="Calibri Light" panose="020F0302020204030204" pitchFamily="34" charset="0"/>
                <a:ea typeface="Calibri Light" panose="020F0302020204030204" pitchFamily="34" charset="0"/>
                <a:cs typeface="Calibri Light" panose="020F0302020204030204" pitchFamily="34" charset="0"/>
              </a:rPr>
              <a:t> in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last test with some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decent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results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but</a:t>
            </a:r>
            <a:r>
              <a:rPr lang="it-IT" sz="2200" dirty="0">
                <a:latin typeface="Calibri Light" panose="020F0302020204030204" pitchFamily="34" charset="0"/>
                <a:ea typeface="Calibri Light" panose="020F0302020204030204" pitchFamily="34" charset="0"/>
                <a:cs typeface="Calibri Light" panose="020F0302020204030204" pitchFamily="34" charset="0"/>
              </a:rPr>
              <a:t> with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same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main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problem</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before</a:t>
            </a:r>
            <a:r>
              <a:rPr lang="it-IT" sz="2200" dirty="0">
                <a:latin typeface="Calibri Light" panose="020F0302020204030204" pitchFamily="34" charset="0"/>
                <a:ea typeface="Calibri Light" panose="020F0302020204030204" pitchFamily="34" charset="0"/>
                <a:cs typeface="Calibri Light" panose="020F0302020204030204" pitchFamily="34" charset="0"/>
              </a:rPr>
              <a:t>) aswell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removing</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direct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reward</a:t>
            </a:r>
            <a:r>
              <a:rPr lang="it-IT" sz="2200" dirty="0">
                <a:latin typeface="Calibri Light" panose="020F0302020204030204" pitchFamily="34" charset="0"/>
                <a:ea typeface="Calibri Light" panose="020F0302020204030204" pitchFamily="34" charset="0"/>
                <a:cs typeface="Calibri Light" panose="020F0302020204030204" pitchFamily="34" charset="0"/>
              </a:rPr>
              <a:t> for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movement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towards</a:t>
            </a:r>
            <a:r>
              <a:rPr lang="it-IT" sz="2200" dirty="0">
                <a:latin typeface="Calibri Light" panose="020F0302020204030204" pitchFamily="34" charset="0"/>
                <a:ea typeface="Calibri Light" panose="020F0302020204030204" pitchFamily="34" charset="0"/>
                <a:cs typeface="Calibri Light" panose="020F0302020204030204" pitchFamily="34" charset="0"/>
              </a:rPr>
              <a:t>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objective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this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seemingly</a:t>
            </a:r>
            <a:r>
              <a:rPr lang="it-IT" sz="2200" dirty="0">
                <a:latin typeface="Calibri Light" panose="020F0302020204030204" pitchFamily="34" charset="0"/>
                <a:ea typeface="Calibri Light" panose="020F0302020204030204" pitchFamily="34" charset="0"/>
                <a:cs typeface="Calibri Light" panose="020F0302020204030204" pitchFamily="34" charset="0"/>
              </a:rPr>
              <a:t> made the robot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slower</a:t>
            </a:r>
            <a:r>
              <a:rPr lang="it-IT" sz="2200" dirty="0">
                <a:latin typeface="Calibri Light" panose="020F0302020204030204" pitchFamily="34" charset="0"/>
                <a:ea typeface="Calibri Light" panose="020F0302020204030204" pitchFamily="34" charset="0"/>
                <a:cs typeface="Calibri Light" panose="020F0302020204030204" pitchFamily="34" charset="0"/>
              </a:rPr>
              <a:t> in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navigation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but</a:t>
            </a:r>
            <a:r>
              <a:rPr lang="it-IT" sz="2200" dirty="0">
                <a:latin typeface="Calibri Light" panose="020F0302020204030204" pitchFamily="34" charset="0"/>
                <a:ea typeface="Calibri Light" panose="020F0302020204030204" pitchFamily="34" charset="0"/>
                <a:cs typeface="Calibri Light" panose="020F0302020204030204" pitchFamily="34" charset="0"/>
              </a:rPr>
              <a:t> more precise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it</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was</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mainly</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guided</a:t>
            </a:r>
            <a:r>
              <a:rPr lang="it-IT" sz="2200" dirty="0">
                <a:latin typeface="Calibri Light" panose="020F0302020204030204" pitchFamily="34" charset="0"/>
                <a:ea typeface="Calibri Light" panose="020F0302020204030204" pitchFamily="34" charset="0"/>
                <a:cs typeface="Calibri Light" panose="020F0302020204030204" pitchFamily="34" charset="0"/>
              </a:rPr>
              <a:t> by the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yaw</a:t>
            </a:r>
            <a:r>
              <a:rPr lang="it-IT" sz="2200" dirty="0">
                <a:latin typeface="Calibri Light" panose="020F0302020204030204" pitchFamily="34" charset="0"/>
                <a:ea typeface="Calibri Light" panose="020F0302020204030204" pitchFamily="34" charset="0"/>
                <a:cs typeface="Calibri Light" panose="020F0302020204030204" pitchFamily="34" charset="0"/>
              </a:rPr>
              <a:t> and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collision</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avoidance</a:t>
            </a:r>
            <a:r>
              <a:rPr lang="it-IT" sz="2200" dirty="0">
                <a:latin typeface="Calibri Light" panose="020F0302020204030204" pitchFamily="34" charset="0"/>
                <a:ea typeface="Calibri Light" panose="020F0302020204030204" pitchFamily="34" charset="0"/>
                <a:cs typeface="Calibri Light" panose="020F0302020204030204" pitchFamily="34" charset="0"/>
              </a:rPr>
              <a:t> </a:t>
            </a:r>
            <a:r>
              <a:rPr lang="it-IT" sz="2200" dirty="0" err="1">
                <a:latin typeface="Calibri Light" panose="020F0302020204030204" pitchFamily="34" charset="0"/>
                <a:ea typeface="Calibri Light" panose="020F0302020204030204" pitchFamily="34" charset="0"/>
                <a:cs typeface="Calibri Light" panose="020F0302020204030204" pitchFamily="34" charset="0"/>
              </a:rPr>
              <a:t>rewards</a:t>
            </a:r>
            <a:r>
              <a:rPr lang="it-IT" sz="2200" dirty="0">
                <a:latin typeface="Calibri Light" panose="020F0302020204030204" pitchFamily="34" charset="0"/>
                <a:ea typeface="Calibri Light" panose="020F0302020204030204" pitchFamily="34" charset="0"/>
                <a:cs typeface="Calibri Light" panose="020F0302020204030204" pitchFamily="34" charset="0"/>
              </a:rPr>
              <a:t>.</a:t>
            </a:r>
          </a:p>
        </p:txBody>
      </p:sp>
    </p:spTree>
    <p:extLst>
      <p:ext uri="{BB962C8B-B14F-4D97-AF65-F5344CB8AC3E}">
        <p14:creationId xmlns:p14="http://schemas.microsoft.com/office/powerpoint/2010/main" val="34399052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A96F7022-4180-ABCA-69BA-C9C6DBE49465}"/>
              </a:ext>
            </a:extLst>
          </p:cNvPr>
          <p:cNvSpPr>
            <a:spLocks noGrp="1"/>
          </p:cNvSpPr>
          <p:nvPr>
            <p:ph type="title"/>
          </p:nvPr>
        </p:nvSpPr>
        <p:spPr>
          <a:xfrm>
            <a:off x="1019015" y="1093787"/>
            <a:ext cx="3059969" cy="4697413"/>
          </a:xfrm>
        </p:spPr>
        <p:txBody>
          <a:bodyPr>
            <a:normAutofit/>
          </a:bodyPr>
          <a:lstStyle/>
          <a:p>
            <a:r>
              <a:rPr lang="it-IT" dirty="0" err="1"/>
              <a:t>Results</a:t>
            </a:r>
            <a:r>
              <a:rPr lang="it-IT" dirty="0"/>
              <a:t> </a:t>
            </a:r>
            <a:r>
              <a:rPr lang="it-IT" dirty="0" err="1"/>
              <a:t>simuzz</a:t>
            </a:r>
            <a:endParaRPr lang="it-IT" dirty="0"/>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3ED2DB0C-9FFF-329C-A281-D15A02EE6DE6}"/>
              </a:ext>
            </a:extLst>
          </p:cNvPr>
          <p:cNvSpPr>
            <a:spLocks noGrp="1"/>
          </p:cNvSpPr>
          <p:nvPr>
            <p:ph idx="1"/>
          </p:nvPr>
        </p:nvSpPr>
        <p:spPr>
          <a:xfrm>
            <a:off x="5215467" y="1093788"/>
            <a:ext cx="5831944" cy="4697413"/>
          </a:xfrm>
        </p:spPr>
        <p:txBody>
          <a:bodyPr>
            <a:normAutofit/>
          </a:bodyPr>
          <a:lstStyle/>
          <a:p>
            <a:pPr marL="0" indent="0">
              <a:buNone/>
            </a:pPr>
            <a:r>
              <a:rPr lang="it-IT" dirty="0"/>
              <a:t>Prova 3 prova 11 </a:t>
            </a:r>
            <a:r>
              <a:rPr lang="it-IT" dirty="0" err="1"/>
              <a:t>4A</a:t>
            </a:r>
            <a:r>
              <a:rPr lang="it-IT" dirty="0"/>
              <a:t>, prova 12 (</a:t>
            </a:r>
            <a:r>
              <a:rPr lang="it-IT" dirty="0" err="1"/>
              <a:t>duelingdqn</a:t>
            </a:r>
            <a:r>
              <a:rPr lang="it-IT" dirty="0"/>
              <a:t>)</a:t>
            </a:r>
          </a:p>
        </p:txBody>
      </p:sp>
    </p:spTree>
    <p:extLst>
      <p:ext uri="{BB962C8B-B14F-4D97-AF65-F5344CB8AC3E}">
        <p14:creationId xmlns:p14="http://schemas.microsoft.com/office/powerpoint/2010/main" val="7180022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44"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it-IT"/>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45"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it-IT"/>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46"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it-IT"/>
            </a:p>
          </p:txBody>
        </p:sp>
      </p:grpSp>
      <p:sp>
        <p:nvSpPr>
          <p:cNvPr id="2" name="Titolo 1">
            <a:extLst>
              <a:ext uri="{FF2B5EF4-FFF2-40B4-BE49-F238E27FC236}">
                <a16:creationId xmlns:a16="http://schemas.microsoft.com/office/drawing/2014/main" id="{7E07ED33-9A9D-588D-D853-2287E0FBA485}"/>
              </a:ext>
            </a:extLst>
          </p:cNvPr>
          <p:cNvSpPr>
            <a:spLocks noGrp="1"/>
          </p:cNvSpPr>
          <p:nvPr>
            <p:ph type="title"/>
          </p:nvPr>
        </p:nvSpPr>
        <p:spPr>
          <a:xfrm>
            <a:off x="1019015" y="1093787"/>
            <a:ext cx="3059969" cy="4697413"/>
          </a:xfrm>
        </p:spPr>
        <p:txBody>
          <a:bodyPr>
            <a:normAutofit/>
          </a:bodyPr>
          <a:lstStyle/>
          <a:p>
            <a:r>
              <a:rPr lang="it-IT" dirty="0" err="1"/>
              <a:t>Proposed</a:t>
            </a:r>
            <a:r>
              <a:rPr lang="it-IT" dirty="0"/>
              <a:t> Future work</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510F8DCD-CD80-C39F-7E23-736E65B592A0}"/>
              </a:ext>
            </a:extLst>
          </p:cNvPr>
          <p:cNvSpPr>
            <a:spLocks noGrp="1"/>
          </p:cNvSpPr>
          <p:nvPr>
            <p:ph idx="1"/>
          </p:nvPr>
        </p:nvSpPr>
        <p:spPr>
          <a:xfrm>
            <a:off x="4855112" y="1093788"/>
            <a:ext cx="7027325" cy="4697413"/>
          </a:xfrm>
        </p:spPr>
        <p:txBody>
          <a:bodyPr>
            <a:normAutofit fontScale="92500" lnSpcReduction="20000"/>
          </a:bodyPr>
          <a:lstStyle/>
          <a:p>
            <a:pPr marL="0" indent="0">
              <a:buNone/>
            </a:pPr>
            <a:r>
              <a:rPr lang="it-IT" dirty="0" err="1">
                <a:latin typeface="Calibri Light" panose="020F0302020204030204" pitchFamily="34" charset="0"/>
                <a:ea typeface="Calibri Light" panose="020F0302020204030204" pitchFamily="34" charset="0"/>
                <a:cs typeface="Calibri Light" panose="020F0302020204030204" pitchFamily="34" charset="0"/>
              </a:rPr>
              <a:t>As</a:t>
            </a:r>
            <a:r>
              <a:rPr lang="it-IT" dirty="0">
                <a:latin typeface="Calibri Light" panose="020F0302020204030204" pitchFamily="34" charset="0"/>
                <a:ea typeface="Calibri Light" panose="020F0302020204030204" pitchFamily="34" charset="0"/>
                <a:cs typeface="Calibri Light" panose="020F0302020204030204" pitchFamily="34" charset="0"/>
              </a:rPr>
              <a:t> the training </a:t>
            </a:r>
            <a:r>
              <a:rPr lang="it-IT" dirty="0" err="1">
                <a:latin typeface="Calibri Light" panose="020F0302020204030204" pitchFamily="34" charset="0"/>
                <a:ea typeface="Calibri Light" panose="020F0302020204030204" pitchFamily="34" charset="0"/>
                <a:cs typeface="Calibri Light" panose="020F0302020204030204" pitchFamily="34" charset="0"/>
              </a:rPr>
              <a:t>wasn’t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successfull</a:t>
            </a:r>
            <a:r>
              <a:rPr lang="it-IT" dirty="0">
                <a:latin typeface="Calibri Light" panose="020F0302020204030204" pitchFamily="34" charset="0"/>
                <a:ea typeface="Calibri Light" panose="020F0302020204030204" pitchFamily="34" charset="0"/>
                <a:cs typeface="Calibri Light" panose="020F0302020204030204" pitchFamily="34" charset="0"/>
              </a:rPr>
              <a:t> the </a:t>
            </a:r>
            <a:r>
              <a:rPr lang="it-IT"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objective</a:t>
            </a:r>
            <a:r>
              <a:rPr lang="it-IT" dirty="0">
                <a:latin typeface="Calibri Light" panose="020F0302020204030204" pitchFamily="34" charset="0"/>
                <a:ea typeface="Calibri Light" panose="020F0302020204030204" pitchFamily="34" charset="0"/>
                <a:cs typeface="Calibri Light" panose="020F0302020204030204" pitchFamily="34" charset="0"/>
              </a:rPr>
              <a:t> for the future </a:t>
            </a:r>
            <a:r>
              <a:rPr lang="it-IT" dirty="0" err="1">
                <a:latin typeface="Calibri Light" panose="020F0302020204030204" pitchFamily="34" charset="0"/>
                <a:ea typeface="Calibri Light" panose="020F0302020204030204" pitchFamily="34" charset="0"/>
                <a:cs typeface="Calibri Light" panose="020F0302020204030204" pitchFamily="34" charset="0"/>
              </a:rPr>
              <a:t>is</a:t>
            </a:r>
            <a:r>
              <a:rPr lang="it-IT" dirty="0">
                <a:latin typeface="Calibri Light" panose="020F0302020204030204" pitchFamily="34" charset="0"/>
                <a:ea typeface="Calibri Light" panose="020F0302020204030204" pitchFamily="34" charset="0"/>
                <a:cs typeface="Calibri Light" panose="020F0302020204030204" pitchFamily="34" charset="0"/>
              </a:rPr>
              <a:t> to fix the </a:t>
            </a:r>
            <a:r>
              <a:rPr lang="it-IT" dirty="0" err="1">
                <a:latin typeface="Calibri Light" panose="020F0302020204030204" pitchFamily="34" charset="0"/>
                <a:ea typeface="Calibri Light" panose="020F0302020204030204" pitchFamily="34" charset="0"/>
                <a:cs typeface="Calibri Light" panose="020F0302020204030204" pitchFamily="34" charset="0"/>
              </a:rPr>
              <a:t>problems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mainly</a:t>
            </a:r>
            <a:r>
              <a:rPr lang="it-IT" dirty="0">
                <a:latin typeface="Calibri Light" panose="020F0302020204030204" pitchFamily="34" charset="0"/>
                <a:ea typeface="Calibri Light" panose="020F0302020204030204" pitchFamily="34" charset="0"/>
                <a:cs typeface="Calibri Light" panose="020F0302020204030204" pitchFamily="34" charset="0"/>
              </a:rPr>
              <a:t> the goal </a:t>
            </a:r>
            <a:r>
              <a:rPr lang="it-IT" dirty="0" err="1">
                <a:latin typeface="Calibri Light" panose="020F0302020204030204" pitchFamily="34" charset="0"/>
                <a:ea typeface="Calibri Light" panose="020F0302020204030204" pitchFamily="34" charset="0"/>
                <a:cs typeface="Calibri Light" panose="020F0302020204030204" pitchFamily="34" charset="0"/>
              </a:rPr>
              <a:t>navigation</a:t>
            </a:r>
            <a:r>
              <a:rPr lang="it-IT" dirty="0">
                <a:latin typeface="Calibri Light" panose="020F0302020204030204" pitchFamily="34" charset="0"/>
                <a:ea typeface="Calibri Light" panose="020F0302020204030204" pitchFamily="34" charset="0"/>
                <a:cs typeface="Calibri Light" panose="020F0302020204030204" pitchFamily="34" charset="0"/>
              </a:rPr>
              <a:t> one: </a:t>
            </a:r>
            <a:r>
              <a:rPr lang="it-IT" dirty="0" err="1">
                <a:latin typeface="Calibri Light" panose="020F0302020204030204" pitchFamily="34" charset="0"/>
                <a:ea typeface="Calibri Light" panose="020F0302020204030204" pitchFamily="34" charset="0"/>
                <a:cs typeface="Calibri Light" panose="020F0302020204030204" pitchFamily="34" charset="0"/>
              </a:rPr>
              <a:t>this</a:t>
            </a:r>
            <a:r>
              <a:rPr lang="it-IT" dirty="0">
                <a:latin typeface="Calibri Light" panose="020F0302020204030204" pitchFamily="34" charset="0"/>
                <a:ea typeface="Calibri Light" panose="020F0302020204030204" pitchFamily="34" charset="0"/>
                <a:cs typeface="Calibri Light" panose="020F0302020204030204" pitchFamily="34" charset="0"/>
              </a:rPr>
              <a:t> can be made by </a:t>
            </a:r>
            <a:r>
              <a:rPr lang="it-IT" dirty="0" err="1">
                <a:latin typeface="Calibri Light" panose="020F0302020204030204" pitchFamily="34" charset="0"/>
                <a:ea typeface="Calibri Light" panose="020F0302020204030204" pitchFamily="34" charset="0"/>
                <a:cs typeface="Calibri Light" panose="020F0302020204030204" pitchFamily="34" charset="0"/>
              </a:rPr>
              <a:t>totally</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chaning</a:t>
            </a:r>
            <a:r>
              <a:rPr lang="it-IT" dirty="0">
                <a:latin typeface="Calibri Light" panose="020F0302020204030204" pitchFamily="34" charset="0"/>
                <a:ea typeface="Calibri Light" panose="020F0302020204030204" pitchFamily="34" charset="0"/>
                <a:cs typeface="Calibri Light" panose="020F0302020204030204" pitchFamily="34" charset="0"/>
              </a:rPr>
              <a:t> the </a:t>
            </a:r>
            <a:r>
              <a:rPr lang="it-IT" dirty="0" err="1">
                <a:latin typeface="Calibri Light" panose="020F0302020204030204" pitchFamily="34" charset="0"/>
                <a:ea typeface="Calibri Light" panose="020F0302020204030204" pitchFamily="34" charset="0"/>
                <a:cs typeface="Calibri Light" panose="020F0302020204030204" pitchFamily="34" charset="0"/>
              </a:rPr>
              <a:t>factorize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reward</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structure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as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did</a:t>
            </a:r>
            <a:r>
              <a:rPr lang="it-IT" dirty="0">
                <a:latin typeface="Calibri Light" panose="020F0302020204030204" pitchFamily="34" charset="0"/>
                <a:ea typeface="Calibri Light" panose="020F0302020204030204" pitchFamily="34" charset="0"/>
                <a:cs typeface="Calibri Light" panose="020F0302020204030204" pitchFamily="34" charset="0"/>
              </a:rPr>
              <a:t> in some of the </a:t>
            </a:r>
            <a:r>
              <a:rPr lang="it-IT" dirty="0" err="1">
                <a:latin typeface="Calibri Light" panose="020F0302020204030204" pitchFamily="34" charset="0"/>
                <a:ea typeface="Calibri Light" panose="020F0302020204030204" pitchFamily="34" charset="0"/>
                <a:cs typeface="Calibri Light" panose="020F0302020204030204" pitchFamily="34" charset="0"/>
              </a:rPr>
              <a:t>final</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tests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where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it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proved</a:t>
            </a:r>
            <a:r>
              <a:rPr lang="it-IT" dirty="0">
                <a:latin typeface="Calibri Light" panose="020F0302020204030204" pitchFamily="34" charset="0"/>
                <a:ea typeface="Calibri Light" panose="020F0302020204030204" pitchFamily="34" charset="0"/>
                <a:cs typeface="Calibri Light" panose="020F0302020204030204" pitchFamily="34" charset="0"/>
              </a:rPr>
              <a:t> to be </a:t>
            </a:r>
            <a:r>
              <a:rPr lang="it-IT" dirty="0" err="1">
                <a:latin typeface="Calibri Light" panose="020F0302020204030204" pitchFamily="34" charset="0"/>
                <a:ea typeface="Calibri Light" panose="020F0302020204030204" pitchFamily="34" charset="0"/>
                <a:cs typeface="Calibri Light" panose="020F0302020204030204" pitchFamily="34" charset="0"/>
              </a:rPr>
              <a:t>somewhat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useful</a:t>
            </a:r>
            <a:r>
              <a:rPr lang="it-IT" dirty="0">
                <a:latin typeface="Calibri Light" panose="020F0302020204030204" pitchFamily="34" charset="0"/>
                <a:ea typeface="Calibri Light" panose="020F0302020204030204" pitchFamily="34" charset="0"/>
                <a:cs typeface="Calibri Light" panose="020F0302020204030204" pitchFamily="34" charset="0"/>
              </a:rPr>
              <a:t>) or </a:t>
            </a:r>
            <a:r>
              <a:rPr lang="it-IT" dirty="0" err="1">
                <a:latin typeface="Calibri Light" panose="020F0302020204030204" pitchFamily="34" charset="0"/>
                <a:ea typeface="Calibri Light" panose="020F0302020204030204" pitchFamily="34" charset="0"/>
                <a:cs typeface="Calibri Light" panose="020F0302020204030204" pitchFamily="34" charset="0"/>
              </a:rPr>
              <a:t>modifying</a:t>
            </a:r>
            <a:r>
              <a:rPr lang="it-IT" dirty="0">
                <a:latin typeface="Calibri Light" panose="020F0302020204030204" pitchFamily="34" charset="0"/>
                <a:ea typeface="Calibri Light" panose="020F0302020204030204" pitchFamily="34" charset="0"/>
                <a:cs typeface="Calibri Light" panose="020F0302020204030204" pitchFamily="34" charset="0"/>
              </a:rPr>
              <a:t> the DRL </a:t>
            </a:r>
            <a:r>
              <a:rPr lang="it-IT" dirty="0" err="1">
                <a:latin typeface="Calibri Light" panose="020F0302020204030204" pitchFamily="34" charset="0"/>
                <a:ea typeface="Calibri Light" panose="020F0302020204030204" pitchFamily="34" charset="0"/>
                <a:cs typeface="Calibri Light" panose="020F0302020204030204" pitchFamily="34" charset="0"/>
              </a:rPr>
              <a:t>alghoritm</a:t>
            </a:r>
            <a:r>
              <a:rPr lang="it-IT" dirty="0">
                <a:latin typeface="Calibri Light" panose="020F0302020204030204" pitchFamily="34" charset="0"/>
                <a:ea typeface="Calibri Light" panose="020F0302020204030204" pitchFamily="34" charset="0"/>
                <a:cs typeface="Calibri Light" panose="020F0302020204030204" pitchFamily="34" charset="0"/>
              </a:rPr>
              <a:t> by </a:t>
            </a:r>
            <a:r>
              <a:rPr lang="it-IT" dirty="0" err="1">
                <a:latin typeface="Calibri Light" panose="020F0302020204030204" pitchFamily="34" charset="0"/>
                <a:ea typeface="Calibri Light" panose="020F0302020204030204" pitchFamily="34" charset="0"/>
                <a:cs typeface="Calibri Light" panose="020F0302020204030204" pitchFamily="34" charset="0"/>
              </a:rPr>
              <a:t>using</a:t>
            </a:r>
            <a:r>
              <a:rPr lang="it-IT" dirty="0">
                <a:latin typeface="Calibri Light" panose="020F0302020204030204" pitchFamily="34" charset="0"/>
                <a:ea typeface="Calibri Light" panose="020F0302020204030204" pitchFamily="34" charset="0"/>
                <a:cs typeface="Calibri Light" panose="020F0302020204030204" pitchFamily="34" charset="0"/>
              </a:rPr>
              <a:t>, for </a:t>
            </a:r>
            <a:r>
              <a:rPr lang="it-IT" dirty="0" err="1">
                <a:latin typeface="Calibri Light" panose="020F0302020204030204" pitchFamily="34" charset="0"/>
                <a:ea typeface="Calibri Light" panose="020F0302020204030204" pitchFamily="34" charset="0"/>
                <a:cs typeface="Calibri Light" panose="020F0302020204030204" pitchFamily="34" charset="0"/>
              </a:rPr>
              <a:t>example</a:t>
            </a:r>
            <a:r>
              <a:rPr lang="it-IT" dirty="0">
                <a:latin typeface="Calibri Light" panose="020F0302020204030204" pitchFamily="34" charset="0"/>
                <a:ea typeface="Calibri Light" panose="020F0302020204030204" pitchFamily="34" charset="0"/>
                <a:cs typeface="Calibri Light" panose="020F0302020204030204" pitchFamily="34" charset="0"/>
              </a:rPr>
              <a:t>, the </a:t>
            </a:r>
            <a:r>
              <a:rPr lang="it-IT" dirty="0" err="1">
                <a:latin typeface="Calibri Light" panose="020F0302020204030204" pitchFamily="34" charset="0"/>
                <a:ea typeface="Calibri Light" panose="020F0302020204030204" pitchFamily="34" charset="0"/>
                <a:cs typeface="Calibri Light" panose="020F0302020204030204" pitchFamily="34" charset="0"/>
              </a:rPr>
              <a:t>Actor</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Critic</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method</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this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was</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originally</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as</a:t>
            </a:r>
            <a:r>
              <a:rPr lang="it-IT" dirty="0">
                <a:latin typeface="Calibri Light" panose="020F0302020204030204" pitchFamily="34" charset="0"/>
                <a:ea typeface="Calibri Light" panose="020F0302020204030204" pitchFamily="34" charset="0"/>
                <a:cs typeface="Calibri Light" panose="020F0302020204030204" pitchFamily="34" charset="0"/>
              </a:rPr>
              <a:t> an alternative </a:t>
            </a:r>
            <a:r>
              <a:rPr lang="it-IT" dirty="0" err="1">
                <a:latin typeface="Calibri Light" panose="020F0302020204030204" pitchFamily="34" charset="0"/>
                <a:ea typeface="Calibri Light" panose="020F0302020204030204" pitchFamily="34" charset="0"/>
                <a:cs typeface="Calibri Light" panose="020F0302020204030204" pitchFamily="34" charset="0"/>
              </a:rPr>
              <a:t>but</a:t>
            </a:r>
            <a:r>
              <a:rPr lang="it-IT" dirty="0">
                <a:latin typeface="Calibri Light" panose="020F0302020204030204" pitchFamily="34" charset="0"/>
                <a:ea typeface="Calibri Light" panose="020F0302020204030204" pitchFamily="34" charset="0"/>
                <a:cs typeface="Calibri Light" panose="020F0302020204030204" pitchFamily="34" charset="0"/>
              </a:rPr>
              <a:t> due to time </a:t>
            </a:r>
            <a:r>
              <a:rPr lang="it-IT" dirty="0" err="1">
                <a:latin typeface="Calibri Light" panose="020F0302020204030204" pitchFamily="34" charset="0"/>
                <a:ea typeface="Calibri Light" panose="020F0302020204030204" pitchFamily="34" charset="0"/>
                <a:cs typeface="Calibri Light" panose="020F0302020204030204" pitchFamily="34" charset="0"/>
              </a:rPr>
              <a:t>constraint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weren’t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able</a:t>
            </a:r>
            <a:r>
              <a:rPr lang="it-IT" dirty="0">
                <a:latin typeface="Calibri Light" panose="020F0302020204030204" pitchFamily="34" charset="0"/>
                <a:ea typeface="Calibri Light" panose="020F0302020204030204" pitchFamily="34" charset="0"/>
                <a:cs typeface="Calibri Light" panose="020F0302020204030204" pitchFamily="34" charset="0"/>
              </a:rPr>
              <a:t> to </a:t>
            </a:r>
            <a:r>
              <a:rPr lang="it-IT" dirty="0" err="1">
                <a:latin typeface="Calibri Light" panose="020F0302020204030204" pitchFamily="34" charset="0"/>
                <a:ea typeface="Calibri Light" panose="020F0302020204030204" pitchFamily="34" charset="0"/>
                <a:cs typeface="Calibri Light" panose="020F0302020204030204" pitchFamily="34" charset="0"/>
              </a:rPr>
              <a:t>implement</a:t>
            </a:r>
            <a:r>
              <a:rPr lang="it-IT" dirty="0">
                <a:latin typeface="Calibri Light" panose="020F0302020204030204" pitchFamily="34" charset="0"/>
                <a:ea typeface="Calibri Light" panose="020F0302020204030204" pitchFamily="34" charset="0"/>
                <a:cs typeface="Calibri Light" panose="020F0302020204030204" pitchFamily="34" charset="0"/>
              </a:rPr>
              <a:t> or test </a:t>
            </a:r>
            <a:r>
              <a:rPr lang="it-IT" dirty="0" err="1">
                <a:latin typeface="Calibri Light" panose="020F0302020204030204" pitchFamily="34" charset="0"/>
                <a:ea typeface="Calibri Light" panose="020F0302020204030204" pitchFamily="34" charset="0"/>
                <a:cs typeface="Calibri Light" panose="020F0302020204030204" pitchFamily="34" charset="0"/>
              </a:rPr>
              <a:t>it</a:t>
            </a:r>
            <a:r>
              <a:rPr lang="it-IT" dirty="0">
                <a:latin typeface="Calibri Light" panose="020F0302020204030204" pitchFamily="34" charset="0"/>
                <a:ea typeface="Calibri Light" panose="020F0302020204030204" pitchFamily="34" charset="0"/>
                <a:cs typeface="Calibri Light" panose="020F0302020204030204" pitchFamily="34" charset="0"/>
              </a:rPr>
              <a:t>  </a:t>
            </a:r>
          </a:p>
          <a:p>
            <a:pPr marL="0" indent="0">
              <a:buNone/>
            </a:pPr>
            <a:r>
              <a:rPr lang="it-IT" dirty="0" err="1">
                <a:latin typeface="Calibri Light" panose="020F0302020204030204" pitchFamily="34" charset="0"/>
                <a:ea typeface="Calibri Light" panose="020F0302020204030204" pitchFamily="34" charset="0"/>
                <a:cs typeface="Calibri Light" panose="020F0302020204030204" pitchFamily="34" charset="0"/>
              </a:rPr>
              <a:t>While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researching</a:t>
            </a:r>
            <a:r>
              <a:rPr lang="it-IT" dirty="0">
                <a:latin typeface="Calibri Light" panose="020F0302020204030204" pitchFamily="34" charset="0"/>
                <a:ea typeface="Calibri Light" panose="020F0302020204030204" pitchFamily="34" charset="0"/>
                <a:cs typeface="Calibri Light" panose="020F0302020204030204" pitchFamily="34" charset="0"/>
              </a:rPr>
              <a:t> online </a:t>
            </a:r>
            <a:r>
              <a:rPr lang="it-IT" dirty="0" err="1">
                <a:latin typeface="Calibri Light" panose="020F0302020204030204" pitchFamily="34" charset="0"/>
                <a:ea typeface="Calibri Light" panose="020F0302020204030204" pitchFamily="34" charset="0"/>
                <a:cs typeface="Calibri Light" panose="020F0302020204030204" pitchFamily="34" charset="0"/>
              </a:rPr>
              <a:t>we</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also</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found</a:t>
            </a:r>
            <a:r>
              <a:rPr lang="it-IT" dirty="0">
                <a:latin typeface="Calibri Light" panose="020F0302020204030204" pitchFamily="34" charset="0"/>
                <a:ea typeface="Calibri Light" panose="020F0302020204030204" pitchFamily="34" charset="0"/>
                <a:cs typeface="Calibri Light" panose="020F0302020204030204" pitchFamily="34" charset="0"/>
              </a:rPr>
              <a:t> some papers </a:t>
            </a:r>
            <a:r>
              <a:rPr lang="it-IT" dirty="0" err="1">
                <a:latin typeface="Calibri Light" panose="020F0302020204030204" pitchFamily="34" charset="0"/>
                <a:ea typeface="Calibri Light" panose="020F0302020204030204" pitchFamily="34" charset="0"/>
                <a:cs typeface="Calibri Light" panose="020F0302020204030204" pitchFamily="34" charset="0"/>
              </a:rPr>
              <a:t>that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proposed</a:t>
            </a:r>
            <a:r>
              <a:rPr lang="it-IT" dirty="0">
                <a:latin typeface="Calibri Light" panose="020F0302020204030204" pitchFamily="34" charset="0"/>
                <a:ea typeface="Calibri Light" panose="020F0302020204030204" pitchFamily="34" charset="0"/>
                <a:cs typeface="Calibri Light" panose="020F0302020204030204" pitchFamily="34" charset="0"/>
              </a:rPr>
              <a:t> the use of more </a:t>
            </a:r>
            <a:r>
              <a:rPr lang="it-IT" dirty="0" err="1">
                <a:latin typeface="Calibri Light" panose="020F0302020204030204" pitchFamily="34" charset="0"/>
                <a:ea typeface="Calibri Light" panose="020F0302020204030204" pitchFamily="34" charset="0"/>
                <a:cs typeface="Calibri Light" panose="020F0302020204030204" pitchFamily="34" charset="0"/>
              </a:rPr>
              <a:t>movement</a:t>
            </a:r>
            <a:r>
              <a:rPr lang="it-IT" dirty="0">
                <a:latin typeface="Calibri Light" panose="020F0302020204030204" pitchFamily="34" charset="0"/>
                <a:ea typeface="Calibri Light" panose="020F0302020204030204" pitchFamily="34" charset="0"/>
                <a:cs typeface="Calibri Light" panose="020F0302020204030204" pitchFamily="34" charset="0"/>
              </a:rPr>
              <a:t> options, </a:t>
            </a:r>
            <a:r>
              <a:rPr lang="it-IT" dirty="0" err="1">
                <a:latin typeface="Calibri Light" panose="020F0302020204030204" pitchFamily="34" charset="0"/>
                <a:ea typeface="Calibri Light" panose="020F0302020204030204" pitchFamily="34" charset="0"/>
                <a:cs typeface="Calibri Light" panose="020F0302020204030204" pitchFamily="34" charset="0"/>
              </a:rPr>
              <a:t>namely</a:t>
            </a:r>
            <a:r>
              <a:rPr lang="it-IT" dirty="0">
                <a:latin typeface="Calibri Light" panose="020F0302020204030204" pitchFamily="34" charset="0"/>
                <a:ea typeface="Calibri Light" panose="020F0302020204030204" pitchFamily="34" charset="0"/>
                <a:cs typeface="Calibri Light" panose="020F0302020204030204" pitchFamily="34" charset="0"/>
              </a:rPr>
              <a:t> the Turn «</a:t>
            </a:r>
            <a:r>
              <a:rPr lang="it-IT" dirty="0" err="1">
                <a:latin typeface="Calibri Light" panose="020F0302020204030204" pitchFamily="34" charset="0"/>
                <a:ea typeface="Calibri Light" panose="020F0302020204030204" pitchFamily="34" charset="0"/>
                <a:cs typeface="Calibri Light" panose="020F0302020204030204" pitchFamily="34" charset="0"/>
              </a:rPr>
              <a:t>stronly</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left</a:t>
            </a:r>
            <a:r>
              <a:rPr lang="it-IT" dirty="0">
                <a:latin typeface="Calibri Light" panose="020F0302020204030204" pitchFamily="34" charset="0"/>
                <a:ea typeface="Calibri Light" panose="020F0302020204030204" pitchFamily="34" charset="0"/>
                <a:cs typeface="Calibri Light" panose="020F0302020204030204" pitchFamily="34" charset="0"/>
              </a:rPr>
              <a:t>/</a:t>
            </a:r>
            <a:r>
              <a:rPr lang="it-IT" dirty="0" err="1">
                <a:latin typeface="Calibri Light" panose="020F0302020204030204" pitchFamily="34" charset="0"/>
                <a:ea typeface="Calibri Light" panose="020F0302020204030204" pitchFamily="34" charset="0"/>
                <a:cs typeface="Calibri Light" panose="020F0302020204030204" pitchFamily="34" charset="0"/>
              </a:rPr>
              <a:t>right</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they</a:t>
            </a:r>
            <a:r>
              <a:rPr lang="it-IT" dirty="0">
                <a:latin typeface="Calibri Light" panose="020F0302020204030204" pitchFamily="34" charset="0"/>
                <a:ea typeface="Calibri Light" panose="020F0302020204030204" pitchFamily="34" charset="0"/>
                <a:cs typeface="Calibri Light" panose="020F0302020204030204" pitchFamily="34" charset="0"/>
              </a:rPr>
              <a:t> support the idea </a:t>
            </a:r>
            <a:r>
              <a:rPr lang="it-IT" dirty="0" err="1">
                <a:latin typeface="Calibri Light" panose="020F0302020204030204" pitchFamily="34" charset="0"/>
                <a:ea typeface="Calibri Light" panose="020F0302020204030204" pitchFamily="34" charset="0"/>
                <a:cs typeface="Calibri Light" panose="020F0302020204030204" pitchFamily="34" charset="0"/>
              </a:rPr>
              <a:t>that</a:t>
            </a:r>
            <a:r>
              <a:rPr lang="it-IT" dirty="0">
                <a:latin typeface="Calibri Light" panose="020F0302020204030204" pitchFamily="34" charset="0"/>
                <a:ea typeface="Calibri Light" panose="020F0302020204030204" pitchFamily="34" charset="0"/>
                <a:cs typeface="Calibri Light" panose="020F0302020204030204" pitchFamily="34" charset="0"/>
              </a:rPr>
              <a:t> by </a:t>
            </a:r>
            <a:r>
              <a:rPr lang="it-IT" dirty="0" err="1">
                <a:latin typeface="Calibri Light" panose="020F0302020204030204" pitchFamily="34" charset="0"/>
                <a:ea typeface="Calibri Light" panose="020F0302020204030204" pitchFamily="34" charset="0"/>
                <a:cs typeface="Calibri Light" panose="020F0302020204030204" pitchFamily="34" charset="0"/>
              </a:rPr>
              <a:t>adding</a:t>
            </a:r>
            <a:r>
              <a:rPr lang="it-IT" dirty="0">
                <a:latin typeface="Calibri Light" panose="020F0302020204030204" pitchFamily="34" charset="0"/>
                <a:ea typeface="Calibri Light" panose="020F0302020204030204" pitchFamily="34" charset="0"/>
                <a:cs typeface="Calibri Light" panose="020F0302020204030204" pitchFamily="34" charset="0"/>
              </a:rPr>
              <a:t> </a:t>
            </a:r>
            <a:r>
              <a:rPr lang="it-IT" dirty="0" err="1">
                <a:latin typeface="Calibri Light" panose="020F0302020204030204" pitchFamily="34" charset="0"/>
                <a:ea typeface="Calibri Light" panose="020F0302020204030204" pitchFamily="34" charset="0"/>
                <a:cs typeface="Calibri Light" panose="020F0302020204030204" pitchFamily="34" charset="0"/>
              </a:rPr>
              <a:t>these</a:t>
            </a:r>
            <a:r>
              <a:rPr lang="it-IT" dirty="0">
                <a:latin typeface="Calibri Light" panose="020F0302020204030204" pitchFamily="34" charset="0"/>
                <a:ea typeface="Calibri Light" panose="020F0302020204030204" pitchFamily="34" charset="0"/>
                <a:cs typeface="Calibri Light" panose="020F0302020204030204" pitchFamily="34" charset="0"/>
              </a:rPr>
              <a:t> options the robot </a:t>
            </a:r>
            <a:r>
              <a:rPr lang="it-IT" dirty="0" err="1">
                <a:latin typeface="Calibri Light" panose="020F0302020204030204" pitchFamily="34" charset="0"/>
                <a:ea typeface="Calibri Light" panose="020F0302020204030204" pitchFamily="34" charset="0"/>
                <a:cs typeface="Calibri Light" panose="020F0302020204030204" pitchFamily="34" charset="0"/>
              </a:rPr>
              <a:t>could</a:t>
            </a:r>
            <a:r>
              <a:rPr lang="it-IT" dirty="0">
                <a:latin typeface="Calibri Light" panose="020F0302020204030204" pitchFamily="34" charset="0"/>
                <a:ea typeface="Calibri Light" panose="020F0302020204030204" pitchFamily="34" charset="0"/>
                <a:cs typeface="Calibri Light" panose="020F0302020204030204" pitchFamily="34" charset="0"/>
              </a:rPr>
              <a:t> navigate the </a:t>
            </a:r>
            <a:r>
              <a:rPr lang="it-IT" dirty="0" err="1">
                <a:latin typeface="Calibri Light" panose="020F0302020204030204" pitchFamily="34" charset="0"/>
                <a:ea typeface="Calibri Light" panose="020F0302020204030204" pitchFamily="34" charset="0"/>
                <a:cs typeface="Calibri Light" panose="020F0302020204030204" pitchFamily="34" charset="0"/>
              </a:rPr>
              <a:t>environment</a:t>
            </a:r>
            <a:r>
              <a:rPr lang="it-IT" dirty="0">
                <a:latin typeface="Calibri Light" panose="020F0302020204030204" pitchFamily="34" charset="0"/>
                <a:ea typeface="Calibri Light" panose="020F0302020204030204" pitchFamily="34" charset="0"/>
                <a:cs typeface="Calibri Light" panose="020F0302020204030204" pitchFamily="34" charset="0"/>
              </a:rPr>
              <a:t> with more </a:t>
            </a:r>
            <a:r>
              <a:rPr lang="it-IT" dirty="0" err="1">
                <a:latin typeface="Calibri Light" panose="020F0302020204030204" pitchFamily="34" charset="0"/>
                <a:ea typeface="Calibri Light" panose="020F0302020204030204" pitchFamily="34" charset="0"/>
                <a:cs typeface="Calibri Light" panose="020F0302020204030204" pitchFamily="34" charset="0"/>
              </a:rPr>
              <a:t>precision</a:t>
            </a:r>
            <a:r>
              <a:rPr lang="it-IT" dirty="0">
                <a:latin typeface="Calibri Light" panose="020F0302020204030204" pitchFamily="34" charset="0"/>
                <a:ea typeface="Calibri Light" panose="020F0302020204030204" pitchFamily="34" charset="0"/>
                <a:cs typeface="Calibri Light" panose="020F0302020204030204" pitchFamily="34" charset="0"/>
              </a:rPr>
              <a:t> </a:t>
            </a:r>
          </a:p>
        </p:txBody>
      </p:sp>
    </p:spTree>
    <p:extLst>
      <p:ext uri="{BB962C8B-B14F-4D97-AF65-F5344CB8AC3E}">
        <p14:creationId xmlns:p14="http://schemas.microsoft.com/office/powerpoint/2010/main" val="225223910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o">
  <a:themeElements>
    <a:clrScheme name="Circuito">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o">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o">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
  <TotalTime>465</TotalTime>
  <Words>1486</Words>
  <Application>Microsoft Office PowerPoint</Application>
  <PresentationFormat>Widescreen</PresentationFormat>
  <Paragraphs>57</Paragraphs>
  <Slides>20</Slides>
  <Notes>0</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20</vt:i4>
      </vt:variant>
    </vt:vector>
  </HeadingPairs>
  <TitlesOfParts>
    <vt:vector size="24" baseType="lpstr">
      <vt:lpstr>Arial</vt:lpstr>
      <vt:lpstr>Calibri Light</vt:lpstr>
      <vt:lpstr>Tw Cen MT</vt:lpstr>
      <vt:lpstr>Circuito</vt:lpstr>
      <vt:lpstr>project proposal Group K</vt:lpstr>
      <vt:lpstr>enviROnment</vt:lpstr>
      <vt:lpstr>tASK</vt:lpstr>
      <vt:lpstr>Input and sensor</vt:lpstr>
      <vt:lpstr>Drl algorithm</vt:lpstr>
      <vt:lpstr>Reward structure and curriculum</vt:lpstr>
      <vt:lpstr>Training strategy</vt:lpstr>
      <vt:lpstr>Evaluation metrics</vt:lpstr>
      <vt:lpstr>Actual implementation and achieved goals</vt:lpstr>
      <vt:lpstr>Environment</vt:lpstr>
      <vt:lpstr>tASK</vt:lpstr>
      <vt:lpstr>INPUT AND SENSOR</vt:lpstr>
      <vt:lpstr>Drl algorithm</vt:lpstr>
      <vt:lpstr>Reward structure and curriculum</vt:lpstr>
      <vt:lpstr>Training strategy</vt:lpstr>
      <vt:lpstr>Evaluation metrics</vt:lpstr>
      <vt:lpstr>Results A</vt:lpstr>
      <vt:lpstr>Presentazione standard di PowerPoint</vt:lpstr>
      <vt:lpstr>Results simuzz</vt:lpstr>
      <vt:lpstr>Proposed 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Alessandro Fioritto</dc:creator>
  <cp:lastModifiedBy>Alessandro Fioritto</cp:lastModifiedBy>
  <cp:revision>11</cp:revision>
  <dcterms:created xsi:type="dcterms:W3CDTF">2025-12-23T10:16:16Z</dcterms:created>
  <dcterms:modified xsi:type="dcterms:W3CDTF">2026-02-18T11:20:08Z</dcterms:modified>
</cp:coreProperties>
</file>