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 id="273" r:id="rId18"/>
    <p:sldId id="276" r:id="rId19"/>
    <p:sldId id="277" r:id="rId20"/>
    <p:sldId id="279" r:id="rId21"/>
    <p:sldId id="278"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DACC5F-7525-39CA-BE44-7F818D23E369}" name="Alessandro Fioritto" initials="AF" userId="S::152205@spes.uniud.it::badbab9d-d3e2-4602-91f9-125c1da0bed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7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78" autoAdjust="0"/>
    <p:restoredTop sz="94660"/>
  </p:normalViewPr>
  <p:slideViewPr>
    <p:cSldViewPr snapToGrid="0">
      <p:cViewPr varScale="1">
        <p:scale>
          <a:sx n="85" d="100"/>
          <a:sy n="85" d="100"/>
        </p:scale>
        <p:origin x="4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CC04FB-86A9-4518-B68C-513A8C480987}" type="datetimeFigureOut">
              <a:rPr lang="it-IT" smtClean="0"/>
              <a:t>18/02/2026</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48385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18/02/2026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85957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7CC04FB-86A9-4518-B68C-513A8C480987}" type="datetimeFigureOut">
              <a:rPr lang="it-IT" smtClean="0"/>
              <a:t>18/02/2026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710139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58066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7CC04FB-86A9-4518-B68C-513A8C480987}" type="datetimeFigureOut">
              <a:rPr lang="it-IT" smtClean="0"/>
              <a:t>18/02/2026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9528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7CC04FB-86A9-4518-B68C-513A8C480987}" type="datetimeFigureOut">
              <a:rPr lang="it-IT" smtClean="0"/>
              <a:t>18/02/2026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771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C04FB-86A9-4518-B68C-513A8C480987}" type="datetimeFigureOut">
              <a:rPr lang="it-IT" smtClean="0"/>
              <a:t>18/02/2026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59545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77391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01249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57519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26139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9605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18/02/2026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63010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18/02/2026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30874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18/02/2026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98328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18/02/2026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641789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18/02/2026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0214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it-I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it-I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CC04FB-86A9-4518-B68C-513A8C480987}" type="datetimeFigureOut">
              <a:rPr lang="it-IT" smtClean="0"/>
              <a:t>18/02/2026</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3989CFC-89DE-4F17-B3B6-DFC80C736B18}" type="slidenum">
              <a:rPr lang="it-IT" smtClean="0"/>
              <a:t>‹#›</a:t>
            </a:fld>
            <a:endParaRPr lang="it-IT"/>
          </a:p>
        </p:txBody>
      </p:sp>
    </p:spTree>
    <p:extLst>
      <p:ext uri="{BB962C8B-B14F-4D97-AF65-F5344CB8AC3E}">
        <p14:creationId xmlns:p14="http://schemas.microsoft.com/office/powerpoint/2010/main" val="24162801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B9D27-EADC-CFED-EFF4-13620AF79305}"/>
              </a:ext>
            </a:extLst>
          </p:cNvPr>
          <p:cNvSpPr>
            <a:spLocks noGrp="1"/>
          </p:cNvSpPr>
          <p:nvPr>
            <p:ph type="ctrTitle"/>
          </p:nvPr>
        </p:nvSpPr>
        <p:spPr>
          <a:xfrm>
            <a:off x="2685145" y="1125511"/>
            <a:ext cx="7135566" cy="2656971"/>
          </a:xfrm>
        </p:spPr>
        <p:txBody>
          <a:bodyPr>
            <a:normAutofit/>
          </a:bodyPr>
          <a:lstStyle/>
          <a:p>
            <a:r>
              <a:rPr lang="it-IT" sz="5400" dirty="0">
                <a:solidFill>
                  <a:srgbClr val="FFFFFF"/>
                </a:solidFill>
              </a:rPr>
              <a:t>project proposal</a:t>
            </a:r>
            <a:br>
              <a:rPr lang="it-IT" sz="5400" dirty="0">
                <a:solidFill>
                  <a:srgbClr val="FFFFFF"/>
                </a:solidFill>
              </a:rPr>
            </a:br>
            <a:r>
              <a:rPr lang="it-IT" sz="5400" dirty="0">
                <a:solidFill>
                  <a:srgbClr val="FFFFFF"/>
                </a:solidFill>
              </a:rPr>
              <a:t>Group K</a:t>
            </a:r>
          </a:p>
        </p:txBody>
      </p:sp>
      <p:sp>
        <p:nvSpPr>
          <p:cNvPr id="3" name="Sottotitolo 2">
            <a:extLst>
              <a:ext uri="{FF2B5EF4-FFF2-40B4-BE49-F238E27FC236}">
                <a16:creationId xmlns:a16="http://schemas.microsoft.com/office/drawing/2014/main" id="{6FEC3CB3-2302-7D30-3AA8-FD7B12691B25}"/>
              </a:ext>
            </a:extLst>
          </p:cNvPr>
          <p:cNvSpPr>
            <a:spLocks noGrp="1"/>
          </p:cNvSpPr>
          <p:nvPr>
            <p:ph type="subTitle" idx="1"/>
          </p:nvPr>
        </p:nvSpPr>
        <p:spPr>
          <a:xfrm>
            <a:off x="2684139" y="3782482"/>
            <a:ext cx="7136760" cy="1204383"/>
          </a:xfrm>
        </p:spPr>
        <p:txBody>
          <a:bodyPr>
            <a:normAutofit/>
          </a:bodyPr>
          <a:lstStyle/>
          <a:p>
            <a:r>
              <a:rPr lang="it-IT" sz="1800" dirty="0">
                <a:solidFill>
                  <a:srgbClr val="FFFFFF"/>
                </a:solidFill>
              </a:rPr>
              <a:t>Pilutti filippo, Simonitti Samuele, Fioritto Alessandro</a:t>
            </a:r>
          </a:p>
        </p:txBody>
      </p:sp>
    </p:spTree>
    <p:extLst>
      <p:ext uri="{BB962C8B-B14F-4D97-AF65-F5344CB8AC3E}">
        <p14:creationId xmlns:p14="http://schemas.microsoft.com/office/powerpoint/2010/main" val="283789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89B6C04D-E0D5-17DC-AB1A-3FEDF3A79413}"/>
              </a:ext>
            </a:extLst>
          </p:cNvPr>
          <p:cNvSpPr>
            <a:spLocks noGrp="1"/>
          </p:cNvSpPr>
          <p:nvPr>
            <p:ph type="title"/>
          </p:nvPr>
        </p:nvSpPr>
        <p:spPr>
          <a:xfrm>
            <a:off x="1198811" y="1066800"/>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6EFCE9A-1145-8265-0A44-4F6FC8E3A51A}"/>
              </a:ext>
            </a:extLst>
          </p:cNvPr>
          <p:cNvSpPr>
            <a:spLocks noGrp="1"/>
          </p:cNvSpPr>
          <p:nvPr>
            <p:ph idx="1"/>
          </p:nvPr>
        </p:nvSpPr>
        <p:spPr>
          <a:xfrm>
            <a:off x="4782246" y="456406"/>
            <a:ext cx="7438329"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decided to use the normal turtlebot 3 arena with some changes: we added 3 pairs of walls to form a simple maze that the robot should navigate without hitting said walls or any other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plan to make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harder</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longer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route</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endParaRPr lang="it-IT" sz="22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Immagine 4" descr="Immagine che contiene Policromia, pixel&#10;&#10;Il contenuto generato dall'IA potrebbe non essere corretto.">
            <a:extLst>
              <a:ext uri="{FF2B5EF4-FFF2-40B4-BE49-F238E27FC236}">
                <a16:creationId xmlns:a16="http://schemas.microsoft.com/office/drawing/2014/main" id="{B76CB909-7CE4-6670-9602-DA515957F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309" y="3784568"/>
            <a:ext cx="2456626" cy="2710755"/>
          </a:xfrm>
          <a:prstGeom prst="rect">
            <a:avLst/>
          </a:prstGeom>
        </p:spPr>
      </p:pic>
      <p:pic>
        <p:nvPicPr>
          <p:cNvPr id="7" name="Immagine 6" descr="Immagine che contiene schermata, pixel, design&#10;&#10;Il contenuto generato dall'IA potrebbe non essere corretto.">
            <a:extLst>
              <a:ext uri="{FF2B5EF4-FFF2-40B4-BE49-F238E27FC236}">
                <a16:creationId xmlns:a16="http://schemas.microsoft.com/office/drawing/2014/main" id="{7D7F3170-4F44-A18A-2A8D-D1D3FAA05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5408" y="3784567"/>
            <a:ext cx="3847132" cy="2710756"/>
          </a:xfrm>
          <a:prstGeom prst="rect">
            <a:avLst/>
          </a:prstGeom>
        </p:spPr>
      </p:pic>
    </p:spTree>
    <p:extLst>
      <p:ext uri="{BB962C8B-B14F-4D97-AF65-F5344CB8AC3E}">
        <p14:creationId xmlns:p14="http://schemas.microsoft.com/office/powerpoint/2010/main" val="368827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A7FF5C4-5DB8-1649-345B-29A90A41BAE1}"/>
              </a:ext>
            </a:extLst>
          </p:cNvPr>
          <p:cNvSpPr>
            <a:spLocks noGrp="1"/>
          </p:cNvSpPr>
          <p:nvPr>
            <p:ph type="title"/>
          </p:nvPr>
        </p:nvSpPr>
        <p:spPr>
          <a:xfrm>
            <a:off x="1891425" y="1162050"/>
            <a:ext cx="1142270"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13CABC3-E6F0-C3C2-DB64-3E5459B3AFAF}"/>
              </a:ext>
            </a:extLst>
          </p:cNvPr>
          <p:cNvSpPr>
            <a:spLocks noGrp="1"/>
          </p:cNvSpPr>
          <p:nvPr>
            <p:ph idx="1"/>
          </p:nvPr>
        </p:nvSpPr>
        <p:spPr>
          <a:xfrm>
            <a:off x="4744146" y="1305037"/>
            <a:ext cx="7395467" cy="4238402"/>
          </a:xfrm>
        </p:spPr>
        <p:txBody>
          <a:bodyPr>
            <a:normAutofit/>
          </a:bodyPr>
          <a:lstStyle/>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Primary task: </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chosen task is for the robot to navigate the maze without hitting the walls, the columns or the perimeter of the arena and after that, at the end of the arena, there is a specific position the robot should go towards until it reaches it.</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task:</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After reaching the first given position, the turtlebot should navigate the maze backwards, back to the starting position.</a:t>
            </a:r>
          </a:p>
        </p:txBody>
      </p:sp>
    </p:spTree>
    <p:extLst>
      <p:ext uri="{BB962C8B-B14F-4D97-AF65-F5344CB8AC3E}">
        <p14:creationId xmlns:p14="http://schemas.microsoft.com/office/powerpoint/2010/main" val="106152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4D5E1D8-08D7-0639-5C29-61B5F621E4C1}"/>
              </a:ext>
            </a:extLst>
          </p:cNvPr>
          <p:cNvSpPr>
            <a:spLocks noGrp="1"/>
          </p:cNvSpPr>
          <p:nvPr>
            <p:ph type="title"/>
          </p:nvPr>
        </p:nvSpPr>
        <p:spPr>
          <a:xfrm>
            <a:off x="1274595" y="1093788"/>
            <a:ext cx="3059969" cy="4697413"/>
          </a:xfrm>
        </p:spPr>
        <p:txBody>
          <a:bodyPr>
            <a:normAutofit/>
          </a:bodyPr>
          <a:lstStyle/>
          <a:p>
            <a:r>
              <a:rPr lang="it-IT" dirty="0"/>
              <a:t>Input and </a:t>
            </a:r>
            <a:r>
              <a:rPr lang="it-IT" dirty="0" err="1"/>
              <a:t>sensor</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79A80B3-ADB6-D479-7FFE-44E59E949341}"/>
              </a:ext>
            </a:extLst>
          </p:cNvPr>
          <p:cNvSpPr>
            <a:spLocks noGrp="1"/>
          </p:cNvSpPr>
          <p:nvPr>
            <p:ph idx="1"/>
          </p:nvPr>
        </p:nvSpPr>
        <p:spPr>
          <a:xfrm>
            <a:off x="4891609" y="1858963"/>
            <a:ext cx="7014642" cy="311626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For the visual input of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want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exclusively</a:t>
            </a:r>
            <a:r>
              <a:rPr lang="it-IT" sz="2200" dirty="0">
                <a:latin typeface="Calibri Light" panose="020F0302020204030204" pitchFamily="34" charset="0"/>
                <a:ea typeface="Calibri Light" panose="020F0302020204030204" pitchFamily="34" charset="0"/>
                <a:cs typeface="Calibri Light" panose="020F0302020204030204" pitchFamily="34" charset="0"/>
              </a:rPr>
              <a:t> use the laser sensor: this is because we figured that the laser would be less burdensome than image processing.</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also changed the number of scannings, from 5 scans (one every 72°) to 24 scans (one every 15°) to hopefully solve some problems with the original model, mainly the tendency to crash on the columns.</a:t>
            </a:r>
          </a:p>
        </p:txBody>
      </p:sp>
    </p:spTree>
    <p:extLst>
      <p:ext uri="{BB962C8B-B14F-4D97-AF65-F5344CB8AC3E}">
        <p14:creationId xmlns:p14="http://schemas.microsoft.com/office/powerpoint/2010/main" val="9014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C392B05-7D13-08FC-8B70-DD18B549C159}"/>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491F4A8-ED4C-CC79-0822-BBA51610FEEB}"/>
              </a:ext>
            </a:extLst>
          </p:cNvPr>
          <p:cNvSpPr>
            <a:spLocks noGrp="1"/>
          </p:cNvSpPr>
          <p:nvPr>
            <p:ph idx="1"/>
          </p:nvPr>
        </p:nvSpPr>
        <p:spPr>
          <a:xfrm>
            <a:off x="4852016" y="1975199"/>
            <a:ext cx="7113051" cy="2687289"/>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intend to use DQN algorithm as its fast training time could allows us to try different combination of weights and parameter values in a relatively short amount of time.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If we are not able to obtain good results, we plan to try Policy Optimization Algorithms (Reinforce or Actor Critic) which would require much more training time.</a:t>
            </a:r>
          </a:p>
        </p:txBody>
      </p:sp>
    </p:spTree>
    <p:extLst>
      <p:ext uri="{BB962C8B-B14F-4D97-AF65-F5344CB8AC3E}">
        <p14:creationId xmlns:p14="http://schemas.microsoft.com/office/powerpoint/2010/main" val="34357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5CDE8B4-FB85-7EB4-6460-A6DC6877A495}"/>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FE48175-44D0-64B3-A504-4925663E7AB8}"/>
              </a:ext>
            </a:extLst>
          </p:cNvPr>
          <p:cNvSpPr>
            <a:spLocks noGrp="1"/>
          </p:cNvSpPr>
          <p:nvPr>
            <p:ph idx="1"/>
          </p:nvPr>
        </p:nvSpPr>
        <p:spPr>
          <a:xfrm>
            <a:off x="4940836" y="1075531"/>
            <a:ext cx="7094001"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aim to use a more sparse reward scheme, specifically want to use goal sampling curriculum, meaning that we start from a simple objective (e.g. pass the first line of walls) and build up to a more complex one (reach the coordinates on the other side of the arena) and balance this with an exploration bonus; to optimize the maze navigation time and smoothness we also plan to implement factorized rewards (collision avoidance, time to target).</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want the robot to perform the maze navigation precisely and, with limited outside information, the exploration bonus could provides adaptability to different types of mazes.</a:t>
            </a:r>
          </a:p>
        </p:txBody>
      </p:sp>
    </p:spTree>
    <p:extLst>
      <p:ext uri="{BB962C8B-B14F-4D97-AF65-F5344CB8AC3E}">
        <p14:creationId xmlns:p14="http://schemas.microsoft.com/office/powerpoint/2010/main" val="8163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0DD7379-43FC-9C9D-5AC3-4EE8442067C2}"/>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6021F035-15C3-AAA5-AB38-D8E738AAC3FB}"/>
              </a:ext>
            </a:extLst>
          </p:cNvPr>
          <p:cNvSpPr>
            <a:spLocks noGrp="1"/>
          </p:cNvSpPr>
          <p:nvPr>
            <p:ph idx="1"/>
          </p:nvPr>
        </p:nvSpPr>
        <p:spPr>
          <a:xfrm>
            <a:off x="4940836" y="930275"/>
            <a:ext cx="7082729"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In the past months, as we made some trainings on the different models provided we understood that a good choice of parameters and reward weights is crucial if we want to have good results: we want to train different models with less episodes to infer on what’s the best combination of parameters for these specific objectives (mainly the decay rate, the batch size, learning rate and the reward function).</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Also, choosing a good network architecture is pivital in ensuring the best outcome for the training so we plan to explore </a:t>
            </a:r>
            <a:r>
              <a:rPr lang="it-IT"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(e.g. Fully connected, Residual, RNN) to find the best suited one for our goals.</a:t>
            </a:r>
          </a:p>
        </p:txBody>
      </p:sp>
    </p:spTree>
    <p:extLst>
      <p:ext uri="{BB962C8B-B14F-4D97-AF65-F5344CB8AC3E}">
        <p14:creationId xmlns:p14="http://schemas.microsoft.com/office/powerpoint/2010/main" val="29156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4A7F217-EBD1-F279-9024-651A000AF3A7}"/>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B5A3A62C-9F20-EC47-7378-4B63560DDD1B}"/>
              </a:ext>
            </a:extLst>
          </p:cNvPr>
          <p:cNvSpPr>
            <a:spLocks noGrp="1"/>
          </p:cNvSpPr>
          <p:nvPr>
            <p:ph idx="1"/>
          </p:nvPr>
        </p:nvSpPr>
        <p:spPr>
          <a:xfrm>
            <a:off x="4910040" y="1550639"/>
            <a:ext cx="6997003" cy="3747198"/>
          </a:xfrm>
        </p:spPr>
        <p:txBody>
          <a:bodyPr>
            <a:normAutofit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Having a number of clear objectives makes it easy to evaluate the success of the overall training process and, in addition to avoiding obstacles and reaching the final coordinates, we want to use the number of steps, meaning the time needed, to reach the final objective as another evalution metric.</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This has also the purpose of helping us troubleshooting, as a slower time helps us to evaluate if we need to change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strategy.</a:t>
            </a:r>
          </a:p>
        </p:txBody>
      </p:sp>
    </p:spTree>
    <p:extLst>
      <p:ext uri="{BB962C8B-B14F-4D97-AF65-F5344CB8AC3E}">
        <p14:creationId xmlns:p14="http://schemas.microsoft.com/office/powerpoint/2010/main" val="2860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it-IT"/>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it-IT"/>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2BCD812-853D-1799-B0D4-B970F7EDD90F}"/>
              </a:ext>
            </a:extLst>
          </p:cNvPr>
          <p:cNvSpPr>
            <a:spLocks noGrp="1"/>
          </p:cNvSpPr>
          <p:nvPr>
            <p:ph type="title"/>
          </p:nvPr>
        </p:nvSpPr>
        <p:spPr>
          <a:xfrm>
            <a:off x="1566335" y="1611822"/>
            <a:ext cx="9048219" cy="1092200"/>
          </a:xfrm>
        </p:spPr>
        <p:txBody>
          <a:bodyPr anchor="ctr">
            <a:normAutofit/>
          </a:bodyPr>
          <a:lstStyle/>
          <a:p>
            <a:pPr algn="ctr"/>
            <a:r>
              <a:rPr lang="it-IT" dirty="0" err="1">
                <a:solidFill>
                  <a:srgbClr val="FFFFFF"/>
                </a:solidFill>
              </a:rPr>
              <a:t>Actual</a:t>
            </a:r>
            <a:r>
              <a:rPr lang="it-IT" dirty="0">
                <a:solidFill>
                  <a:srgbClr val="FFFFFF"/>
                </a:solidFill>
              </a:rPr>
              <a:t> </a:t>
            </a:r>
            <a:r>
              <a:rPr lang="it-IT" dirty="0" err="1">
                <a:solidFill>
                  <a:srgbClr val="FFFFFF"/>
                </a:solidFill>
              </a:rPr>
              <a:t>implementation</a:t>
            </a:r>
            <a:r>
              <a:rPr lang="it-IT" dirty="0">
                <a:solidFill>
                  <a:srgbClr val="FFFFFF"/>
                </a:solidFill>
              </a:rPr>
              <a:t> and </a:t>
            </a:r>
            <a:r>
              <a:rPr lang="it-IT" dirty="0" err="1">
                <a:solidFill>
                  <a:srgbClr val="FFFFFF"/>
                </a:solidFill>
              </a:rPr>
              <a:t>achieved</a:t>
            </a:r>
            <a:r>
              <a:rPr lang="it-IT" dirty="0">
                <a:solidFill>
                  <a:srgbClr val="FFFFFF"/>
                </a:solidFill>
              </a:rPr>
              <a:t> goals</a:t>
            </a:r>
          </a:p>
        </p:txBody>
      </p:sp>
      <p:sp>
        <p:nvSpPr>
          <p:cNvPr id="3" name="Segnaposto contenuto 2">
            <a:extLst>
              <a:ext uri="{FF2B5EF4-FFF2-40B4-BE49-F238E27FC236}">
                <a16:creationId xmlns:a16="http://schemas.microsoft.com/office/drawing/2014/main" id="{AF4C08F8-2566-3009-4CB9-1741A776C9E5}"/>
              </a:ext>
            </a:extLst>
          </p:cNvPr>
          <p:cNvSpPr>
            <a:spLocks noGrp="1"/>
          </p:cNvSpPr>
          <p:nvPr>
            <p:ph idx="1"/>
          </p:nvPr>
        </p:nvSpPr>
        <p:spPr>
          <a:xfrm>
            <a:off x="1577446" y="2843193"/>
            <a:ext cx="9048218" cy="2602988"/>
          </a:xfrm>
        </p:spPr>
        <p:txBody>
          <a:bodyPr anchor="ctr">
            <a:normAutofit/>
          </a:bodyPr>
          <a:lstStyle/>
          <a:p>
            <a:pPr marL="0" indent="0">
              <a:buNone/>
            </a:pPr>
            <a:r>
              <a:rPr lang="it-IT" sz="2000" dirty="0">
                <a:solidFill>
                  <a:srgbClr val="FFFFFF"/>
                </a:solidFill>
              </a:rPr>
              <a:t>Introduzione</a:t>
            </a:r>
          </a:p>
        </p:txBody>
      </p:sp>
    </p:spTree>
    <p:extLst>
      <p:ext uri="{BB962C8B-B14F-4D97-AF65-F5344CB8AC3E}">
        <p14:creationId xmlns:p14="http://schemas.microsoft.com/office/powerpoint/2010/main" val="1335791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7BBA9A3-AEBC-AB89-8A17-880443368170}"/>
              </a:ext>
            </a:extLst>
          </p:cNvPr>
          <p:cNvSpPr>
            <a:spLocks noGrp="1"/>
          </p:cNvSpPr>
          <p:nvPr>
            <p:ph type="title"/>
          </p:nvPr>
        </p:nvSpPr>
        <p:spPr>
          <a:xfrm>
            <a:off x="1019015" y="1093787"/>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A1733E62-7B1E-231C-E034-7EE714A779DF}"/>
              </a:ext>
            </a:extLst>
          </p:cNvPr>
          <p:cNvSpPr>
            <a:spLocks noGrp="1"/>
          </p:cNvSpPr>
          <p:nvPr>
            <p:ph idx="1"/>
          </p:nvPr>
        </p:nvSpPr>
        <p:spPr>
          <a:xfrm>
            <a:off x="4940836" y="456406"/>
            <a:ext cx="6965414"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instructed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professor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aim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testing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generalization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one specular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one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complex</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sadly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use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never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successful</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pic>
        <p:nvPicPr>
          <p:cNvPr id="5" name="Immagine 4" descr="Immagine che contiene Policromia, schermata, pixel, design&#10;&#10;Il contenuto generato dall'IA potrebbe non essere corretto.">
            <a:extLst>
              <a:ext uri="{FF2B5EF4-FFF2-40B4-BE49-F238E27FC236}">
                <a16:creationId xmlns:a16="http://schemas.microsoft.com/office/drawing/2014/main" id="{3FFFE290-580F-7645-79E8-95A3746D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9330" y="3672491"/>
            <a:ext cx="2672470" cy="2962656"/>
          </a:xfrm>
          <a:prstGeom prst="rect">
            <a:avLst/>
          </a:prstGeom>
        </p:spPr>
      </p:pic>
    </p:spTree>
    <p:extLst>
      <p:ext uri="{BB962C8B-B14F-4D97-AF65-F5344CB8AC3E}">
        <p14:creationId xmlns:p14="http://schemas.microsoft.com/office/powerpoint/2010/main" val="428039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7ED93E6-67B1-2E72-A41D-987A208D9AEF}"/>
              </a:ext>
            </a:extLst>
          </p:cNvPr>
          <p:cNvSpPr>
            <a:spLocks noGrp="1"/>
          </p:cNvSpPr>
          <p:nvPr>
            <p:ph type="title"/>
          </p:nvPr>
        </p:nvSpPr>
        <p:spPr>
          <a:xfrm>
            <a:off x="1019015" y="1093787"/>
            <a:ext cx="3059969"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ADACF79-FD26-5EF3-8E10-C6025AC22887}"/>
              </a:ext>
            </a:extLst>
          </p:cNvPr>
          <p:cNvSpPr>
            <a:spLocks noGrp="1"/>
          </p:cNvSpPr>
          <p:nvPr>
            <p:ph idx="1"/>
          </p:nvPr>
        </p:nvSpPr>
        <p:spPr>
          <a:xfrm>
            <a:off x="4855112" y="1093788"/>
            <a:ext cx="713210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Unfortunately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fulfill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 the robot,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issues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shouldn’t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been</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opinion,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primary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concern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allow</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continue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actual</a:t>
            </a:r>
            <a:r>
              <a:rPr lang="it-IT" sz="2200" dirty="0">
                <a:latin typeface="Calibri Light" panose="020F0302020204030204" pitchFamily="34" charset="0"/>
                <a:ea typeface="Calibri Light" panose="020F0302020204030204" pitchFamily="34" charset="0"/>
                <a:cs typeface="Calibri Light" panose="020F0302020204030204" pitchFamily="34" charset="0"/>
              </a:rPr>
              <a:t> testing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70368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44A7DDBA-6D84-E73D-438C-094ED8314D01}"/>
              </a:ext>
            </a:extLst>
          </p:cNvPr>
          <p:cNvSpPr>
            <a:spLocks noGrp="1"/>
          </p:cNvSpPr>
          <p:nvPr>
            <p:ph type="title"/>
          </p:nvPr>
        </p:nvSpPr>
        <p:spPr>
          <a:xfrm>
            <a:off x="1019015" y="1093787"/>
            <a:ext cx="3059969" cy="4697413"/>
          </a:xfrm>
        </p:spPr>
        <p:txBody>
          <a:bodyPr>
            <a:normAutofit/>
          </a:bodyPr>
          <a:lstStyle/>
          <a:p>
            <a:r>
              <a:rPr lang="it-IT" dirty="0"/>
              <a:t>INPUT AND SENSOR</a:t>
            </a:r>
          </a:p>
        </p:txBody>
      </p:sp>
      <p:sp useBgFill="1">
        <p:nvSpPr>
          <p:cNvPr id="7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C6B875C-65F9-83E2-9ED4-76D4332C1769}"/>
              </a:ext>
            </a:extLst>
          </p:cNvPr>
          <p:cNvSpPr>
            <a:spLocks noGrp="1"/>
          </p:cNvSpPr>
          <p:nvPr>
            <p:ph idx="1"/>
          </p:nvPr>
        </p:nvSpPr>
        <p:spPr>
          <a:xfrm>
            <a:off x="4855112" y="1093788"/>
            <a:ext cx="7113051"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only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things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modifying</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proposition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of readings,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decreased</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24 to 18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20°) and the linear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angular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velocity</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latters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helped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to do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apperantly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marginally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lowered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rate in some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65980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B591D41-5F46-B45D-8C2A-12EDE5ED83BA}"/>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9A534F2-0765-C205-86AA-544D8D05EB16}"/>
                  </a:ext>
                </a:extLst>
              </p:cNvPr>
              <p:cNvSpPr>
                <a:spLocks noGrp="1"/>
              </p:cNvSpPr>
              <p:nvPr>
                <p:ph idx="1"/>
              </p:nvPr>
            </p:nvSpPr>
            <p:spPr>
              <a:xfrm>
                <a:off x="4855112" y="1093788"/>
                <a:ext cx="7051138"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Since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normal</a:t>
                </a:r>
                <a:r>
                  <a:rPr lang="it-IT" sz="2200" dirty="0">
                    <a:latin typeface="Calibri Light" panose="020F0302020204030204" pitchFamily="34" charset="0"/>
                    <a:ea typeface="Calibri Light" panose="020F0302020204030204" pitchFamily="34" charset="0"/>
                    <a:cs typeface="Calibri Light" panose="020F0302020204030204" pitchFamily="34" charset="0"/>
                  </a:rPr>
                  <a:t> DQN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poor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opted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switch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called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works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separating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state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value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𝑉</m:t>
                    </m:r>
                    <m:d>
                      <m:dPr>
                        <m:ctrlPr>
                          <a:rPr lang="ar-AE" sz="2200" i="1">
                            <a:latin typeface="Cambria Math" panose="02040503050406030204" pitchFamily="18" charset="0"/>
                          </a:rPr>
                        </m:ctrlPr>
                      </m:dPr>
                      <m:e>
                        <m:r>
                          <a:rPr lang="ar-AE" sz="2200" i="1">
                            <a:latin typeface="Cambria Math" panose="02040503050406030204" pitchFamily="18" charset="0"/>
                          </a:rPr>
                          <m:t>𝑠</m:t>
                        </m:r>
                      </m:e>
                    </m:d>
                  </m:oMath>
                </a14:m>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action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advantage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𝐴</m:t>
                    </m:r>
                    <m:d>
                      <m:dPr>
                        <m:sepChr m:val=","/>
                        <m:ctrlPr>
                          <a:rPr lang="ar-AE" sz="2200" i="1">
                            <a:latin typeface="Cambria Math" panose="02040503050406030204" pitchFamily="18" charset="0"/>
                          </a:rPr>
                        </m:ctrlPr>
                      </m:dPr>
                      <m:e>
                        <m:r>
                          <a:rPr lang="ar-AE" sz="2200" i="1">
                            <a:latin typeface="Cambria Math" panose="02040503050406030204" pitchFamily="18" charset="0"/>
                          </a:rPr>
                          <m:t>𝑠</m:t>
                        </m:r>
                      </m:e>
                      <m:e>
                        <m:r>
                          <a:rPr lang="ar-AE" sz="2200" i="1">
                            <a:latin typeface="Cambria Math" panose="02040503050406030204" pitchFamily="18" charset="0"/>
                          </a:rPr>
                          <m:t>𝑎</m:t>
                        </m:r>
                      </m:e>
                    </m:d>
                  </m:oMath>
                </a14:m>
                <a:r>
                  <a:rPr lang="ar-AE"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a:latin typeface="Calibri Light" panose="020F0302020204030204" pitchFamily="34" charset="0"/>
                    <a:ea typeface="Calibri Light" panose="020F0302020204030204" pitchFamily="34" charset="0"/>
                    <a:cs typeface="Calibri Light" panose="020F0302020204030204" pitchFamily="34" charset="0"/>
                  </a:rPr>
                  <a:t>and making the learning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when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many</a:t>
                </a:r>
                <a:r>
                  <a:rPr lang="it-IT" sz="2200" dirty="0">
                    <a:latin typeface="Calibri Light" panose="020F0302020204030204" pitchFamily="34" charset="0"/>
                    <a:ea typeface="Calibri Light" panose="020F0302020204030204" pitchFamily="34" charset="0"/>
                    <a:cs typeface="Calibri Light" panose="020F0302020204030204" pitchFamily="34" charset="0"/>
                  </a:rPr>
                  <a:t> actions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similar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effects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case.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success rate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climbed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batches</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solve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a:t>
                </a:r>
              </a:p>
            </p:txBody>
          </p:sp>
        </mc:Choice>
        <mc:Fallback xmlns="">
          <p:sp>
            <p:nvSpPr>
              <p:cNvPr id="3" name="Segnaposto contenuto 2">
                <a:extLst>
                  <a:ext uri="{FF2B5EF4-FFF2-40B4-BE49-F238E27FC236}">
                    <a16:creationId xmlns:a16="http://schemas.microsoft.com/office/drawing/2014/main" id="{79A534F2-0765-C205-86AA-544D8D05EB16}"/>
                  </a:ext>
                </a:extLst>
              </p:cNvPr>
              <p:cNvSpPr>
                <a:spLocks noGrp="1" noRot="1" noChangeAspect="1" noMove="1" noResize="1" noEditPoints="1" noAdjustHandles="1" noChangeArrowheads="1" noChangeShapeType="1" noTextEdit="1"/>
              </p:cNvSpPr>
              <p:nvPr>
                <p:ph idx="1"/>
              </p:nvPr>
            </p:nvSpPr>
            <p:spPr>
              <a:xfrm>
                <a:off x="4855112" y="1093788"/>
                <a:ext cx="7051138" cy="4697413"/>
              </a:xfrm>
              <a:blipFill>
                <a:blip r:embed="rId2"/>
                <a:stretch>
                  <a:fillRect l="-1124" r="-864"/>
                </a:stretch>
              </a:blipFill>
            </p:spPr>
            <p:txBody>
              <a:bodyPr/>
              <a:lstStyle/>
              <a:p>
                <a:r>
                  <a:rPr lang="it-IT">
                    <a:noFill/>
                  </a:rPr>
                  <a:t> </a:t>
                </a:r>
              </a:p>
            </p:txBody>
          </p:sp>
        </mc:Fallback>
      </mc:AlternateContent>
    </p:spTree>
    <p:extLst>
      <p:ext uri="{BB962C8B-B14F-4D97-AF65-F5344CB8AC3E}">
        <p14:creationId xmlns:p14="http://schemas.microsoft.com/office/powerpoint/2010/main" val="1851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23D5F361-AB69-B79A-704F-CDA2FB1C46D4}"/>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682DFD2-F728-8086-BBE0-D56A8614E7FC}"/>
              </a:ext>
            </a:extLst>
          </p:cNvPr>
          <p:cNvSpPr>
            <a:spLocks noGrp="1"/>
          </p:cNvSpPr>
          <p:nvPr>
            <p:ph idx="1"/>
          </p:nvPr>
        </p:nvSpPr>
        <p:spPr>
          <a:xfrm>
            <a:off x="4855112" y="1093788"/>
            <a:ext cx="7051137" cy="4697413"/>
          </a:xfrm>
        </p:spPr>
        <p:txBody>
          <a:bodyPr>
            <a:normAutofit fontScale="92500" lnSpcReduction="10000"/>
          </a:bodyPr>
          <a:lstStyle/>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the Goal Sampling Curriculum with 3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of goal, </a:t>
            </a:r>
            <a:r>
              <a:rPr lang="it-IT" dirty="0" err="1">
                <a:latin typeface="Calibri Light" panose="020F0302020204030204" pitchFamily="34" charset="0"/>
                <a:ea typeface="Calibri Light" panose="020F0302020204030204" pitchFamily="34" charset="0"/>
                <a:cs typeface="Calibri Light" panose="020F0302020204030204" pitchFamily="34" charset="0"/>
              </a:rPr>
              <a:t>named</a:t>
            </a:r>
            <a:r>
              <a:rPr lang="it-IT" dirty="0">
                <a:latin typeface="Calibri Light" panose="020F0302020204030204" pitchFamily="34" charset="0"/>
                <a:ea typeface="Calibri Light" panose="020F0302020204030204" pitchFamily="34" charset="0"/>
                <a:cs typeface="Calibri Light" panose="020F0302020204030204" pitchFamily="34" charset="0"/>
              </a:rPr>
              <a:t> Easy, Medium and Hard: the easy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directly</a:t>
            </a:r>
            <a:r>
              <a:rPr lang="it-IT" dirty="0">
                <a:latin typeface="Calibri Light" panose="020F0302020204030204" pitchFamily="34" charset="0"/>
                <a:ea typeface="Calibri Light" panose="020F0302020204030204" pitchFamily="34" charset="0"/>
                <a:cs typeface="Calibri Light" panose="020F0302020204030204" pitchFamily="34" charset="0"/>
              </a:rPr>
              <a:t> in front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dirty="0">
                <a:latin typeface="Calibri Light" panose="020F0302020204030204" pitchFamily="34" charset="0"/>
                <a:ea typeface="Calibri Light" panose="020F0302020204030204" pitchFamily="34" charset="0"/>
                <a:cs typeface="Calibri Light" panose="020F0302020204030204" pitchFamily="34" charset="0"/>
              </a:rPr>
              <a:t> position of the robot and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slightly</a:t>
            </a:r>
            <a:r>
              <a:rPr lang="it-IT" dirty="0">
                <a:latin typeface="Calibri Light" panose="020F0302020204030204" pitchFamily="34" charset="0"/>
                <a:ea typeface="Calibri Light" panose="020F0302020204030204" pitchFamily="34" charset="0"/>
                <a:cs typeface="Calibri Light" panose="020F0302020204030204" pitchFamily="34" charset="0"/>
              </a:rPr>
              <a:t> to the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refused</a:t>
            </a:r>
            <a:r>
              <a:rPr lang="it-IT" dirty="0">
                <a:latin typeface="Calibri Light" panose="020F0302020204030204" pitchFamily="34" charset="0"/>
                <a:ea typeface="Calibri Light" panose="020F0302020204030204" pitchFamily="34" charset="0"/>
                <a:cs typeface="Calibri Light" panose="020F0302020204030204" pitchFamily="34" charset="0"/>
              </a:rPr>
              <a:t> to navigate with </a:t>
            </a:r>
            <a:r>
              <a:rPr lang="it-IT" dirty="0" err="1">
                <a:latin typeface="Calibri Light" panose="020F0302020204030204" pitchFamily="34" charset="0"/>
                <a:ea typeface="Calibri Light" panose="020F0302020204030204" pitchFamily="34" charset="0"/>
                <a:cs typeface="Calibri Light" panose="020F0302020204030204" pitchFamily="34" charset="0"/>
              </a:rPr>
              <a:t>stability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in </a:t>
            </a:r>
            <a:r>
              <a:rPr lang="it-IT" dirty="0" err="1">
                <a:latin typeface="Calibri Light" panose="020F0302020204030204" pitchFamily="34" charset="0"/>
                <a:ea typeface="Calibri Light" panose="020F0302020204030204" pitchFamily="34" charset="0"/>
                <a:cs typeface="Calibri Light" panose="020F0302020204030204" pitchFamily="34" charset="0"/>
              </a:rPr>
              <a:t>any</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tests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have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done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even</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when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forced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choose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goal in the training.</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The </a:t>
            </a:r>
            <a:r>
              <a:rPr lang="it-IT" dirty="0" err="1">
                <a:latin typeface="Calibri Light" panose="020F0302020204030204" pitchFamily="34" charset="0"/>
                <a:ea typeface="Calibri Light" panose="020F0302020204030204" pitchFamily="34" charset="0"/>
                <a:cs typeface="Calibri Light" panose="020F0302020204030204" pitchFamily="34" charset="0"/>
              </a:rPr>
              <a:t>usual</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structure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train</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 </a:t>
            </a:r>
            <a:r>
              <a:rPr lang="it-IT" dirty="0" err="1">
                <a:latin typeface="Calibri Light" panose="020F0302020204030204" pitchFamily="34" charset="0"/>
                <a:ea typeface="Calibri Light" panose="020F0302020204030204" pitchFamily="34" charset="0"/>
                <a:cs typeface="Calibri Light" panose="020F0302020204030204" pitchFamily="34" charset="0"/>
              </a:rPr>
              <a:t>factorized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composed</a:t>
            </a:r>
            <a:r>
              <a:rPr lang="it-IT" dirty="0">
                <a:latin typeface="Calibri Light" panose="020F0302020204030204" pitchFamily="34" charset="0"/>
                <a:ea typeface="Calibri Light" panose="020F0302020204030204" pitchFamily="34" charset="0"/>
                <a:cs typeface="Calibri Light" panose="020F0302020204030204" pitchFamily="34" charset="0"/>
              </a:rPr>
              <a:t> of </a:t>
            </a:r>
            <a:r>
              <a:rPr lang="it-IT" dirty="0" err="1">
                <a:latin typeface="Calibri Light" panose="020F0302020204030204" pitchFamily="34" charset="0"/>
                <a:ea typeface="Calibri Light" panose="020F0302020204030204" pitchFamily="34" charset="0"/>
                <a:cs typeface="Calibri Light" panose="020F0302020204030204" pitchFamily="34" charset="0"/>
              </a:rPr>
              <a:t>collison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dirty="0">
                <a:latin typeface="Calibri Light" panose="020F0302020204030204" pitchFamily="34" charset="0"/>
                <a:ea typeface="Calibri Light" panose="020F0302020204030204" pitchFamily="34" charset="0"/>
                <a:cs typeface="Calibri Light" panose="020F0302020204030204" pitchFamily="34" charset="0"/>
              </a:rPr>
              <a:t>, time to target, goal </a:t>
            </a:r>
            <a:r>
              <a:rPr lang="it-IT" dirty="0" err="1">
                <a:latin typeface="Calibri Light" panose="020F0302020204030204" pitchFamily="34" charset="0"/>
                <a:ea typeface="Calibri Light" panose="020F0302020204030204" pitchFamily="34" charset="0"/>
                <a:cs typeface="Calibri Light" panose="020F0302020204030204" pitchFamily="34" charset="0"/>
              </a:rPr>
              <a:t>vicinity</a:t>
            </a:r>
            <a:r>
              <a:rPr lang="it-IT" dirty="0">
                <a:latin typeface="Calibri Light" panose="020F0302020204030204" pitchFamily="34" charset="0"/>
                <a:ea typeface="Calibri Light" panose="020F0302020204030204" pitchFamily="34" charset="0"/>
                <a:cs typeface="Calibri Light" panose="020F0302020204030204" pitchFamily="34" charset="0"/>
              </a:rPr>
              <a:t> e </a:t>
            </a:r>
            <a:r>
              <a:rPr lang="it-IT" dirty="0" err="1">
                <a:latin typeface="Calibri Light" panose="020F0302020204030204" pitchFamily="34" charset="0"/>
                <a:ea typeface="Calibri Light" panose="020F0302020204030204" pitchFamily="34" charset="0"/>
                <a:cs typeface="Calibri Light" panose="020F0302020204030204" pitchFamily="34" charset="0"/>
              </a:rPr>
              <a:t>yaw</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sometimes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cut</a:t>
            </a:r>
            <a:r>
              <a:rPr lang="it-IT" dirty="0">
                <a:latin typeface="Calibri Light" panose="020F0302020204030204" pitchFamily="34" charset="0"/>
                <a:ea typeface="Calibri Light" panose="020F0302020204030204" pitchFamily="34" charset="0"/>
                <a:cs typeface="Calibri Light" panose="020F0302020204030204" pitchFamily="34" charset="0"/>
              </a:rPr>
              <a:t> some of </a:t>
            </a:r>
            <a:r>
              <a:rPr lang="it-IT" dirty="0" err="1">
                <a:latin typeface="Calibri Light" panose="020F0302020204030204" pitchFamily="34" charset="0"/>
                <a:ea typeface="Calibri Light" panose="020F0302020204030204" pitchFamily="34" charset="0"/>
                <a:cs typeface="Calibri Light" panose="020F0302020204030204" pitchFamily="34" charset="0"/>
              </a:rPr>
              <a:t>them</a:t>
            </a:r>
            <a:r>
              <a:rPr lang="it-IT" dirty="0">
                <a:latin typeface="Calibri Light" panose="020F0302020204030204" pitchFamily="34" charset="0"/>
                <a:ea typeface="Calibri Light" panose="020F0302020204030204" pitchFamily="34" charset="0"/>
                <a:cs typeface="Calibri Light" panose="020F0302020204030204" pitchFamily="34" charset="0"/>
              </a:rPr>
              <a:t> for </a:t>
            </a:r>
            <a:r>
              <a:rPr lang="it-IT" dirty="0" err="1">
                <a:latin typeface="Calibri Light" panose="020F0302020204030204" pitchFamily="34" charset="0"/>
                <a:ea typeface="Calibri Light" panose="020F0302020204030204" pitchFamily="34" charset="0"/>
                <a:cs typeface="Calibri Light" panose="020F0302020204030204" pitchFamily="34" charset="0"/>
              </a:rPr>
              <a:t>troubleshooting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purpuouses</a:t>
            </a:r>
            <a:endParaRPr lang="it-IT"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90472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841987E-0CEE-A488-C6A5-F281BA167EFB}"/>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A0701BE-0A11-AAC2-1CA9-F6B68F722FE8}"/>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already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discussed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parameters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weights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calculate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those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Once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aformentioned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group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search</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solution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small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periods</a:t>
            </a:r>
            <a:r>
              <a:rPr lang="it-IT" sz="2200" dirty="0">
                <a:latin typeface="Calibri Light" panose="020F0302020204030204" pitchFamily="34" charset="0"/>
                <a:ea typeface="Calibri Light" panose="020F0302020204030204" pitchFamily="34" charset="0"/>
                <a:cs typeface="Calibri Light" panose="020F0302020204030204" pitchFamily="34" charset="0"/>
              </a:rPr>
              <a:t> (2000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multi-</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without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increase</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gradually</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628482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0E6150A-E7E2-44FE-B80D-F3D19B633193}"/>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2EAE932-A1A8-A244-1655-8E035622B6DF}"/>
              </a:ext>
            </a:extLst>
          </p:cNvPr>
          <p:cNvSpPr>
            <a:spLocks noGrp="1"/>
          </p:cNvSpPr>
          <p:nvPr>
            <p:ph idx="1"/>
          </p:nvPr>
        </p:nvSpPr>
        <p:spPr>
          <a:xfrm>
            <a:off x="4855112" y="1093788"/>
            <a:ext cx="7113051"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Using the Goal Sampling Curriculum and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metrics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aswell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simple</a:t>
            </a:r>
            <a:r>
              <a:rPr lang="it-IT" sz="2200" dirty="0">
                <a:latin typeface="Calibri Light" panose="020F0302020204030204" pitchFamily="34" charset="0"/>
                <a:ea typeface="Calibri Light" panose="020F0302020204030204" pitchFamily="34" charset="0"/>
                <a:cs typeface="Calibri Light" panose="020F0302020204030204" pitchFamily="34" charset="0"/>
              </a:rPr>
              <a:t> script to plot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trainings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metrics.csv</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fundamental</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realize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worked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better</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analized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single goal success rate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present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achieved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showing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reaching</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first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a:t>
            </a:r>
            <a:r>
              <a:rPr lang="it-IT" sz="2200" dirty="0">
                <a:latin typeface="Calibri Light" panose="020F0302020204030204" pitchFamily="34" charset="0"/>
                <a:ea typeface="Calibri Light" panose="020F0302020204030204" pitchFamily="34" charset="0"/>
                <a:cs typeface="Calibri Light" panose="020F0302020204030204" pitchFamily="34" charset="0"/>
              </a:rPr>
              <a:t> by pure chance.</a:t>
            </a:r>
          </a:p>
        </p:txBody>
      </p:sp>
    </p:spTree>
    <p:extLst>
      <p:ext uri="{BB962C8B-B14F-4D97-AF65-F5344CB8AC3E}">
        <p14:creationId xmlns:p14="http://schemas.microsoft.com/office/powerpoint/2010/main" val="304225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6E5999-85A8-328D-B9CE-10498F9A220D}"/>
              </a:ext>
            </a:extLst>
          </p:cNvPr>
          <p:cNvSpPr>
            <a:spLocks noGrp="1"/>
          </p:cNvSpPr>
          <p:nvPr>
            <p:ph type="title"/>
          </p:nvPr>
        </p:nvSpPr>
        <p:spPr>
          <a:xfrm>
            <a:off x="1266715" y="-234953"/>
            <a:ext cx="9906000" cy="1477963"/>
          </a:xfrm>
        </p:spPr>
        <p:txBody>
          <a:bodyPr>
            <a:normAutofit/>
          </a:bodyPr>
          <a:lstStyle/>
          <a:p>
            <a:r>
              <a:rPr lang="it-IT" dirty="0" err="1"/>
              <a:t>Results</a:t>
            </a:r>
            <a:r>
              <a:rPr lang="it-IT" dirty="0"/>
              <a:t> A</a:t>
            </a:r>
          </a:p>
        </p:txBody>
      </p:sp>
      <p:sp>
        <p:nvSpPr>
          <p:cNvPr id="3" name="Segnaposto contenuto 2">
            <a:extLst>
              <a:ext uri="{FF2B5EF4-FFF2-40B4-BE49-F238E27FC236}">
                <a16:creationId xmlns:a16="http://schemas.microsoft.com/office/drawing/2014/main" id="{148653F7-7E89-E8D0-66AA-896B0A955B75}"/>
              </a:ext>
            </a:extLst>
          </p:cNvPr>
          <p:cNvSpPr>
            <a:spLocks noGrp="1"/>
          </p:cNvSpPr>
          <p:nvPr>
            <p:ph idx="1"/>
          </p:nvPr>
        </p:nvSpPr>
        <p:spPr>
          <a:xfrm>
            <a:off x="5651933" y="952798"/>
            <a:ext cx="5520782" cy="56347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6: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failed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force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choice</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plummeting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success rate</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14: we introduced the DuelingDQN network and this resulted in a significant improvement in the success rate although it was boosted almost entirely by the navigation to the easy goal.</a:t>
            </a:r>
          </a:p>
        </p:txBody>
      </p:sp>
      <p:pic>
        <p:nvPicPr>
          <p:cNvPr id="7" name="Immagine 6" descr="Immagine che contiene testo, schermata, diagramma, Diagramma&#10;&#10;Il contenuto generato dall'IA potrebbe non essere corretto.">
            <a:extLst>
              <a:ext uri="{FF2B5EF4-FFF2-40B4-BE49-F238E27FC236}">
                <a16:creationId xmlns:a16="http://schemas.microsoft.com/office/drawing/2014/main" id="{5ECC3848-27FF-4216-EAE4-585DC17C949D}"/>
              </a:ext>
            </a:extLst>
          </p:cNvPr>
          <p:cNvPicPr>
            <a:picLocks noChangeAspect="1"/>
          </p:cNvPicPr>
          <p:nvPr/>
        </p:nvPicPr>
        <p:blipFill>
          <a:blip r:embed="rId2">
            <a:extLst>
              <a:ext uri="{28A0092B-C50C-407E-A947-70E740481C1C}">
                <a14:useLocalDpi xmlns:a14="http://schemas.microsoft.com/office/drawing/2010/main" val="0"/>
              </a:ext>
            </a:extLst>
          </a:blip>
          <a:srcRect l="7493" t="7437" r="9055" b="3964"/>
          <a:stretch>
            <a:fillRect/>
          </a:stretch>
        </p:blipFill>
        <p:spPr>
          <a:xfrm>
            <a:off x="737076" y="952798"/>
            <a:ext cx="4844126" cy="2571472"/>
          </a:xfrm>
          <a:prstGeom prst="rect">
            <a:avLst/>
          </a:prstGeom>
        </p:spPr>
      </p:pic>
      <p:pic>
        <p:nvPicPr>
          <p:cNvPr id="38" name="Immagine 37" descr="Immagine che contiene testo, schermata, Carattere, Diagramma&#10;&#10;Il contenuto generato dall'IA potrebbe non essere corretto.">
            <a:extLst>
              <a:ext uri="{FF2B5EF4-FFF2-40B4-BE49-F238E27FC236}">
                <a16:creationId xmlns:a16="http://schemas.microsoft.com/office/drawing/2014/main" id="{40F6024A-C1AD-5D00-66C7-17BF6BC0D060}"/>
              </a:ext>
            </a:extLst>
          </p:cNvPr>
          <p:cNvPicPr>
            <a:picLocks noChangeAspect="1"/>
          </p:cNvPicPr>
          <p:nvPr/>
        </p:nvPicPr>
        <p:blipFill>
          <a:blip r:embed="rId3">
            <a:extLst>
              <a:ext uri="{28A0092B-C50C-407E-A947-70E740481C1C}">
                <a14:useLocalDpi xmlns:a14="http://schemas.microsoft.com/office/drawing/2010/main" val="0"/>
              </a:ext>
            </a:extLst>
          </a:blip>
          <a:srcRect l="7445" t="6944" r="8639" b="3965"/>
          <a:stretch>
            <a:fillRect/>
          </a:stretch>
        </p:blipFill>
        <p:spPr>
          <a:xfrm>
            <a:off x="737077" y="3822224"/>
            <a:ext cx="4844126" cy="2670016"/>
          </a:xfrm>
          <a:prstGeom prst="rect">
            <a:avLst/>
          </a:prstGeom>
        </p:spPr>
      </p:pic>
    </p:spTree>
    <p:extLst>
      <p:ext uri="{BB962C8B-B14F-4D97-AF65-F5344CB8AC3E}">
        <p14:creationId xmlns:p14="http://schemas.microsoft.com/office/powerpoint/2010/main" val="248130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grpSp>
        <p:nvGrpSpPr>
          <p:cNvPr id="75" name="Group 74">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76"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7"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8"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79"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0"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1"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2"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3"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4"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85"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grpSp>
      <p:pic>
        <p:nvPicPr>
          <p:cNvPr id="5" name="Immagine 4" descr="Immagine che contiene testo, schermata, Carattere, Diagramma">
            <a:extLst>
              <a:ext uri="{FF2B5EF4-FFF2-40B4-BE49-F238E27FC236}">
                <a16:creationId xmlns:a16="http://schemas.microsoft.com/office/drawing/2014/main" id="{0A0F955D-CDFE-B243-CB84-5D151DB8F8D6}"/>
              </a:ext>
            </a:extLst>
          </p:cNvPr>
          <p:cNvPicPr>
            <a:picLocks noChangeAspect="1"/>
          </p:cNvPicPr>
          <p:nvPr/>
        </p:nvPicPr>
        <p:blipFill>
          <a:blip r:embed="rId2">
            <a:extLst>
              <a:ext uri="{28A0092B-C50C-407E-A947-70E740481C1C}">
                <a14:useLocalDpi xmlns:a14="http://schemas.microsoft.com/office/drawing/2010/main" val="0"/>
              </a:ext>
            </a:extLst>
          </a:blip>
          <a:srcRect l="6861" t="7436" r="8290" b="4138"/>
          <a:stretch>
            <a:fillRect/>
          </a:stretch>
        </p:blipFill>
        <p:spPr>
          <a:xfrm>
            <a:off x="522287" y="1528775"/>
            <a:ext cx="6349016" cy="3308337"/>
          </a:xfrm>
          <a:prstGeom prst="rect">
            <a:avLst/>
          </a:prstGeom>
        </p:spPr>
      </p:pic>
      <p:sp>
        <p:nvSpPr>
          <p:cNvPr id="7" name="CasellaDiTesto 6">
            <a:extLst>
              <a:ext uri="{FF2B5EF4-FFF2-40B4-BE49-F238E27FC236}">
                <a16:creationId xmlns:a16="http://schemas.microsoft.com/office/drawing/2014/main" id="{367B0E69-77BA-BACE-A9CC-9186B609704D}"/>
              </a:ext>
            </a:extLst>
          </p:cNvPr>
          <p:cNvSpPr txBox="1"/>
          <p:nvPr/>
        </p:nvSpPr>
        <p:spPr>
          <a:xfrm>
            <a:off x="7047515" y="1404494"/>
            <a:ext cx="4526948" cy="3816429"/>
          </a:xfrm>
          <a:prstGeom prst="rect">
            <a:avLst/>
          </a:prstGeom>
          <a:noFill/>
        </p:spPr>
        <p:txBody>
          <a:bodyPr wrap="square" rtlCol="0">
            <a:spAutoFit/>
          </a:bodyPr>
          <a:lstStyle/>
          <a:p>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24: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implemented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positive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found</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last test with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same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before</a:t>
            </a:r>
            <a:r>
              <a:rPr lang="it-IT" sz="2200" dirty="0">
                <a:latin typeface="Calibri Light" panose="020F0302020204030204" pitchFamily="34" charset="0"/>
                <a:ea typeface="Calibri Light" panose="020F0302020204030204" pitchFamily="34" charset="0"/>
                <a:cs typeface="Calibri Light" panose="020F0302020204030204" pitchFamily="34" charset="0"/>
              </a:rPr>
              <a:t>) aswell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removing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direct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seemingly</a:t>
            </a:r>
            <a:r>
              <a:rPr lang="it-IT" sz="2200" dirty="0">
                <a:latin typeface="Calibri Light" panose="020F0302020204030204" pitchFamily="34" charset="0"/>
                <a:ea typeface="Calibri Light" panose="020F0302020204030204" pitchFamily="34" charset="0"/>
                <a:cs typeface="Calibri Light" panose="020F0302020204030204" pitchFamily="34" charset="0"/>
              </a:rPr>
              <a:t> made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slower</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guided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yaw</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439905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41676131-338E-781E-AB4A-AC0E220D00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DC13C5-329B-2EF3-436D-59E7588A3A6B}"/>
              </a:ext>
            </a:extLst>
          </p:cNvPr>
          <p:cNvSpPr>
            <a:spLocks noGrp="1"/>
          </p:cNvSpPr>
          <p:nvPr>
            <p:ph type="title"/>
          </p:nvPr>
        </p:nvSpPr>
        <p:spPr>
          <a:xfrm>
            <a:off x="1266715" y="-234953"/>
            <a:ext cx="9906000" cy="1477963"/>
          </a:xfrm>
        </p:spPr>
        <p:txBody>
          <a:bodyPr>
            <a:normAutofit/>
          </a:bodyPr>
          <a:lstStyle/>
          <a:p>
            <a:r>
              <a:rPr lang="it-IT" dirty="0"/>
              <a:t>Results B</a:t>
            </a:r>
          </a:p>
        </p:txBody>
      </p:sp>
      <p:sp>
        <p:nvSpPr>
          <p:cNvPr id="3" name="Segnaposto contenuto 2">
            <a:extLst>
              <a:ext uri="{FF2B5EF4-FFF2-40B4-BE49-F238E27FC236}">
                <a16:creationId xmlns:a16="http://schemas.microsoft.com/office/drawing/2014/main" id="{BED63108-1E3B-1918-F6F1-67E8F44C4D51}"/>
              </a:ext>
            </a:extLst>
          </p:cNvPr>
          <p:cNvSpPr>
            <a:spLocks noGrp="1"/>
          </p:cNvSpPr>
          <p:nvPr>
            <p:ph idx="1"/>
          </p:nvPr>
        </p:nvSpPr>
        <p:spPr>
          <a:xfrm>
            <a:off x="855785" y="952798"/>
            <a:ext cx="10316930" cy="5634713"/>
          </a:xfrm>
        </p:spPr>
        <p:txBody>
          <a:bodyPr>
            <a:normAutofit/>
          </a:bodyPr>
          <a:lstStyle/>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In this results we adopted a structured four-stage training strategy aimed at progressively increasing the complexity of the environment and the task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1: empty arena with no obstacles, the agent was required to reach a randomly generated goal within the map.</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2: arena containing only columns as obstacles, the agent was trained to reach a fixed goal with hard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3: arena with a maze layout, the agent was required to reach medium and hard difficulty goals.</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4: arena with a maze configuration, introducing a goal sampling strategy to enhance generalization and robustness.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07635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AEAA63C5-DDAE-3684-FDD5-9C2ADE39E45B}"/>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DC6FEA46-B916-EB8D-F39A-0EF43906DBA9}"/>
              </a:ext>
            </a:extLst>
          </p:cNvPr>
          <p:cNvSpPr>
            <a:spLocks noGrp="1"/>
          </p:cNvSpPr>
          <p:nvPr>
            <p:ph idx="1"/>
          </p:nvPr>
        </p:nvSpPr>
        <p:spPr>
          <a:xfrm>
            <a:off x="5651933" y="952798"/>
            <a:ext cx="5520782" cy="56347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number 8: t</a:t>
            </a:r>
            <a:r>
              <a:rPr lang="en-GB" sz="2200" dirty="0">
                <a:latin typeface="Calibri Light" panose="020F0302020204030204" pitchFamily="34" charset="0"/>
                <a:ea typeface="Calibri Light" panose="020F0302020204030204" pitchFamily="34" charset="0"/>
                <a:cs typeface="Calibri Light" panose="020F0302020204030204" pitchFamily="34" charset="0"/>
              </a:rPr>
              <a:t>he results were obtained during the fourth phase using a standard Deep Q-Network (DQN) algorithm. </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The Collision vs. Success Rate trend appears overall promising, showing a gradual improvement in performance and a relatively stable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behavior</a:t>
            </a:r>
            <a:r>
              <a:rPr lang="en-GB" sz="2200" dirty="0">
                <a:latin typeface="Calibri Light" panose="020F0302020204030204" pitchFamily="34" charset="0"/>
                <a:ea typeface="Calibri Light" panose="020F0302020204030204" pitchFamily="34" charset="0"/>
                <a:cs typeface="Calibri Light" panose="020F0302020204030204" pitchFamily="34" charset="0"/>
              </a:rPr>
              <a:t> over time. However, when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analyzing</a:t>
            </a:r>
            <a:r>
              <a:rPr lang="en-GB" sz="2200" dirty="0">
                <a:latin typeface="Calibri Light" panose="020F0302020204030204" pitchFamily="34" charset="0"/>
                <a:ea typeface="Calibri Light" panose="020F0302020204030204" pitchFamily="34" charset="0"/>
                <a:cs typeface="Calibri Light" panose="020F0302020204030204" pitchFamily="34" charset="0"/>
              </a:rPr>
              <a:t> the success rate per goal difficulty, a critical limitation becomes evident: the agent consistently reaches only the easiest goal, while medium and hard goals remain unsolved.</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 name="Immagine 6">
            <a:extLst>
              <a:ext uri="{FF2B5EF4-FFF2-40B4-BE49-F238E27FC236}">
                <a16:creationId xmlns:a16="http://schemas.microsoft.com/office/drawing/2014/main" id="{A986B055-1799-49BB-B058-4E76229FB401}"/>
              </a:ext>
            </a:extLst>
          </p:cNvPr>
          <p:cNvPicPr>
            <a:picLocks noChangeAspect="1"/>
          </p:cNvPicPr>
          <p:nvPr/>
        </p:nvPicPr>
        <p:blipFill>
          <a:blip r:embed="rId2">
            <a:extLst>
              <a:ext uri="{28A0092B-C50C-407E-A947-70E740481C1C}">
                <a14:useLocalDpi xmlns:a14="http://schemas.microsoft.com/office/drawing/2010/main" val="0"/>
              </a:ext>
            </a:extLst>
          </a:blip>
          <a:srcRect l="2905" r="2905"/>
          <a:stretch/>
        </p:blipFill>
        <p:spPr>
          <a:xfrm>
            <a:off x="737076" y="952798"/>
            <a:ext cx="4844126" cy="2571472"/>
          </a:xfrm>
          <a:prstGeom prst="rect">
            <a:avLst/>
          </a:prstGeom>
        </p:spPr>
      </p:pic>
      <p:pic>
        <p:nvPicPr>
          <p:cNvPr id="38" name="Immagine 37">
            <a:extLst>
              <a:ext uri="{FF2B5EF4-FFF2-40B4-BE49-F238E27FC236}">
                <a16:creationId xmlns:a16="http://schemas.microsoft.com/office/drawing/2014/main" id="{CD1DF7E1-F2F9-0439-C6D0-592186139E7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5539" y="3903504"/>
            <a:ext cx="3427200" cy="2570400"/>
          </a:xfrm>
          <a:prstGeom prst="rect">
            <a:avLst/>
          </a:prstGeom>
        </p:spPr>
      </p:pic>
    </p:spTree>
    <p:extLst>
      <p:ext uri="{BB962C8B-B14F-4D97-AF65-F5344CB8AC3E}">
        <p14:creationId xmlns:p14="http://schemas.microsoft.com/office/powerpoint/2010/main" val="2400355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5DE83E24-D4BE-CE09-6716-14C49AE5E0C4}"/>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18B8CE2A-A179-5B7F-2C5E-CAB269B869C0}"/>
              </a:ext>
            </a:extLst>
          </p:cNvPr>
          <p:cNvSpPr>
            <a:spLocks noGrp="1"/>
          </p:cNvSpPr>
          <p:nvPr>
            <p:ph idx="1"/>
          </p:nvPr>
        </p:nvSpPr>
        <p:spPr>
          <a:xfrm>
            <a:off x="5651933" y="952798"/>
            <a:ext cx="5520782" cy="5634713"/>
          </a:xfrm>
        </p:spPr>
        <p:txBody>
          <a:bodyPr>
            <a:normAutofit fontScale="92500"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number 12: t</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hese</a:t>
            </a:r>
            <a:r>
              <a:rPr lang="en-GB" sz="2200" dirty="0">
                <a:latin typeface="Calibri Light" panose="020F0302020204030204" pitchFamily="34" charset="0"/>
                <a:ea typeface="Calibri Light" panose="020F0302020204030204" pitchFamily="34" charset="0"/>
                <a:cs typeface="Calibri Light" panose="020F0302020204030204" pitchFamily="34" charset="0"/>
              </a:rPr>
              <a:t> results were obtained using a Dueling DQN architecture. Unlike the standard DQN, Dueling DQN separately estimates the state value and the advantage of each action, which can improve learning stability and action evaluation.</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From the Collision vs. Success Rate graph, the overall trend appears slightly worse compared to the previous experiment with the standard DQN, with lower stability and a higher collision rate.</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However, the success rate per goal difficulty shows a small but meaningful improvement: the agent has started, albeit marginally, to reach the medium difficulty goal. While overall performance is still limited, this indicates a first step toward handling more complex tasks.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 name="Immagine 6">
            <a:extLst>
              <a:ext uri="{FF2B5EF4-FFF2-40B4-BE49-F238E27FC236}">
                <a16:creationId xmlns:a16="http://schemas.microsoft.com/office/drawing/2014/main" id="{B6F7C18D-2482-6F43-2D42-4A33B7361F1E}"/>
              </a:ext>
            </a:extLst>
          </p:cNvPr>
          <p:cNvPicPr>
            <a:picLocks noChangeAspect="1"/>
          </p:cNvPicPr>
          <p:nvPr/>
        </p:nvPicPr>
        <p:blipFill>
          <a:blip r:embed="rId2">
            <a:extLst>
              <a:ext uri="{28A0092B-C50C-407E-A947-70E740481C1C}">
                <a14:useLocalDpi xmlns:a14="http://schemas.microsoft.com/office/drawing/2010/main" val="0"/>
              </a:ext>
            </a:extLst>
          </a:blip>
          <a:srcRect l="2905" r="2905"/>
          <a:stretch/>
        </p:blipFill>
        <p:spPr>
          <a:xfrm>
            <a:off x="737076" y="952798"/>
            <a:ext cx="4844126" cy="2571472"/>
          </a:xfrm>
          <a:prstGeom prst="rect">
            <a:avLst/>
          </a:prstGeom>
        </p:spPr>
      </p:pic>
      <p:pic>
        <p:nvPicPr>
          <p:cNvPr id="38" name="Immagine 37">
            <a:extLst>
              <a:ext uri="{FF2B5EF4-FFF2-40B4-BE49-F238E27FC236}">
                <a16:creationId xmlns:a16="http://schemas.microsoft.com/office/drawing/2014/main" id="{88996719-82EB-AFA6-1DF9-1456DF7150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5539" y="3903504"/>
            <a:ext cx="3427200" cy="2570400"/>
          </a:xfrm>
          <a:prstGeom prst="rect">
            <a:avLst/>
          </a:prstGeom>
        </p:spPr>
      </p:pic>
    </p:spTree>
    <p:extLst>
      <p:ext uri="{BB962C8B-B14F-4D97-AF65-F5344CB8AC3E}">
        <p14:creationId xmlns:p14="http://schemas.microsoft.com/office/powerpoint/2010/main" val="1655249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4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7E07ED33-9A9D-588D-D853-2287E0FBA485}"/>
              </a:ext>
            </a:extLst>
          </p:cNvPr>
          <p:cNvSpPr>
            <a:spLocks noGrp="1"/>
          </p:cNvSpPr>
          <p:nvPr>
            <p:ph type="title"/>
          </p:nvPr>
        </p:nvSpPr>
        <p:spPr>
          <a:xfrm>
            <a:off x="1019015" y="1093787"/>
            <a:ext cx="3059969" cy="4697413"/>
          </a:xfrm>
        </p:spPr>
        <p:txBody>
          <a:bodyPr>
            <a:normAutofit/>
          </a:bodyPr>
          <a:lstStyle/>
          <a:p>
            <a:r>
              <a:rPr lang="it-IT" dirty="0" err="1"/>
              <a:t>Proposed</a:t>
            </a:r>
            <a:r>
              <a:rPr lang="it-IT" dirty="0"/>
              <a:t> Future work</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10F8DCD-CD80-C39F-7E23-736E65B592A0}"/>
              </a:ext>
            </a:extLst>
          </p:cNvPr>
          <p:cNvSpPr>
            <a:spLocks noGrp="1"/>
          </p:cNvSpPr>
          <p:nvPr>
            <p:ph idx="1"/>
          </p:nvPr>
        </p:nvSpPr>
        <p:spPr>
          <a:xfrm>
            <a:off x="4855112" y="1093788"/>
            <a:ext cx="7027325" cy="4697413"/>
          </a:xfrm>
        </p:spPr>
        <p:txBody>
          <a:bodyPr>
            <a:normAutofit fontScale="92500" lnSpcReduction="200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As the training wasn’t successfull the proposed objective for the future is to fix the problems, mainly the goal navigation one: this can be made by totally chaning the factorize reward structure (as we did in some of the final tests where it proved to be somewhat useful) or modifying the DRL alghoritm by using, for example, the Actor Critic method: this was originally proposed as an alternative but due to time constraint we weren’t able to implement and test it.</a:t>
            </a:r>
          </a:p>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While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researching</a:t>
            </a:r>
            <a:r>
              <a:rPr lang="it-IT" dirty="0">
                <a:latin typeface="Calibri Light" panose="020F0302020204030204" pitchFamily="34" charset="0"/>
                <a:ea typeface="Calibri Light" panose="020F0302020204030204" pitchFamily="34" charset="0"/>
                <a:cs typeface="Calibri Light" panose="020F0302020204030204" pitchFamily="34" charset="0"/>
              </a:rPr>
              <a:t> online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also</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found</a:t>
            </a:r>
            <a:r>
              <a:rPr lang="it-IT" dirty="0">
                <a:latin typeface="Calibri Light" panose="020F0302020204030204" pitchFamily="34" charset="0"/>
                <a:ea typeface="Calibri Light" panose="020F0302020204030204" pitchFamily="34" charset="0"/>
                <a:cs typeface="Calibri Light" panose="020F0302020204030204" pitchFamily="34" charset="0"/>
              </a:rPr>
              <a:t> some papers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the use of more </a:t>
            </a:r>
            <a:r>
              <a:rPr lang="it-IT"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dirty="0">
                <a:latin typeface="Calibri Light" panose="020F0302020204030204" pitchFamily="34" charset="0"/>
                <a:ea typeface="Calibri Light" panose="020F0302020204030204" pitchFamily="34" charset="0"/>
                <a:cs typeface="Calibri Light" panose="020F0302020204030204" pitchFamily="34" charset="0"/>
              </a:rPr>
              <a:t> options, </a:t>
            </a:r>
            <a:r>
              <a:rPr lang="it-IT" dirty="0" err="1">
                <a:latin typeface="Calibri Light" panose="020F0302020204030204" pitchFamily="34" charset="0"/>
                <a:ea typeface="Calibri Light" panose="020F0302020204030204" pitchFamily="34" charset="0"/>
                <a:cs typeface="Calibri Light" panose="020F0302020204030204" pitchFamily="34" charset="0"/>
              </a:rPr>
              <a:t>namely</a:t>
            </a:r>
            <a:r>
              <a:rPr lang="it-IT" dirty="0">
                <a:latin typeface="Calibri Light" panose="020F0302020204030204" pitchFamily="34" charset="0"/>
                <a:ea typeface="Calibri Light" panose="020F0302020204030204" pitchFamily="34" charset="0"/>
                <a:cs typeface="Calibri Light" panose="020F0302020204030204" pitchFamily="34" charset="0"/>
              </a:rPr>
              <a:t> the Turn «</a:t>
            </a:r>
            <a:r>
              <a:rPr lang="it-IT" dirty="0" err="1">
                <a:latin typeface="Calibri Light" panose="020F0302020204030204" pitchFamily="34" charset="0"/>
                <a:ea typeface="Calibri Light" panose="020F0302020204030204" pitchFamily="34" charset="0"/>
                <a:cs typeface="Calibri Light" panose="020F0302020204030204" pitchFamily="34" charset="0"/>
              </a:rPr>
              <a:t>stronly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a:t>
            </a:r>
            <a:r>
              <a:rPr lang="it-IT" dirty="0" err="1">
                <a:latin typeface="Calibri Light" panose="020F0302020204030204" pitchFamily="34" charset="0"/>
                <a:ea typeface="Calibri Light" panose="020F0302020204030204" pitchFamily="34" charset="0"/>
                <a:cs typeface="Calibri Light" panose="020F0302020204030204" pitchFamily="34" charset="0"/>
              </a:rPr>
              <a:t>right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they</a:t>
            </a:r>
            <a:r>
              <a:rPr lang="it-IT" dirty="0">
                <a:latin typeface="Calibri Light" panose="020F0302020204030204" pitchFamily="34" charset="0"/>
                <a:ea typeface="Calibri Light" panose="020F0302020204030204" pitchFamily="34" charset="0"/>
                <a:cs typeface="Calibri Light" panose="020F0302020204030204" pitchFamily="34" charset="0"/>
              </a:rPr>
              <a:t> support the idea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by </a:t>
            </a:r>
            <a:r>
              <a:rPr lang="it-IT"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these</a:t>
            </a:r>
            <a:r>
              <a:rPr lang="it-IT" dirty="0">
                <a:latin typeface="Calibri Light" panose="020F0302020204030204" pitchFamily="34" charset="0"/>
                <a:ea typeface="Calibri Light" panose="020F0302020204030204" pitchFamily="34" charset="0"/>
                <a:cs typeface="Calibri Light" panose="020F0302020204030204" pitchFamily="34" charset="0"/>
              </a:rPr>
              <a:t> options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could</a:t>
            </a:r>
            <a:r>
              <a:rPr lang="it-IT" dirty="0">
                <a:latin typeface="Calibri Light" panose="020F0302020204030204" pitchFamily="34" charset="0"/>
                <a:ea typeface="Calibri Light" panose="020F0302020204030204" pitchFamily="34" charset="0"/>
                <a:cs typeface="Calibri Light" panose="020F0302020204030204" pitchFamily="34" charset="0"/>
              </a:rPr>
              <a:t> navigate the </a:t>
            </a:r>
            <a:r>
              <a:rPr lang="it-IT" dirty="0" err="1">
                <a:latin typeface="Calibri Light" panose="020F0302020204030204" pitchFamily="34" charset="0"/>
                <a:ea typeface="Calibri Light" panose="020F0302020204030204" pitchFamily="34" charset="0"/>
                <a:cs typeface="Calibri Light" panose="020F0302020204030204" pitchFamily="34" charset="0"/>
              </a:rPr>
              <a:t>environment</a:t>
            </a:r>
            <a:r>
              <a:rPr lang="it-IT" dirty="0">
                <a:latin typeface="Calibri Light" panose="020F0302020204030204" pitchFamily="34" charset="0"/>
                <a:ea typeface="Calibri Light" panose="020F0302020204030204" pitchFamily="34" charset="0"/>
                <a:cs typeface="Calibri Light" panose="020F0302020204030204" pitchFamily="34" charset="0"/>
              </a:rPr>
              <a:t> with more </a:t>
            </a:r>
            <a:r>
              <a:rPr lang="it-IT" dirty="0" err="1">
                <a:latin typeface="Calibri Light" panose="020F0302020204030204" pitchFamily="34" charset="0"/>
                <a:ea typeface="Calibri Light" panose="020F0302020204030204" pitchFamily="34" charset="0"/>
                <a:cs typeface="Calibri Light" panose="020F0302020204030204" pitchFamily="34" charset="0"/>
              </a:rPr>
              <a:t>precision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p>
        </p:txBody>
      </p:sp>
    </p:spTree>
    <p:extLst>
      <p:ext uri="{BB962C8B-B14F-4D97-AF65-F5344CB8AC3E}">
        <p14:creationId xmlns:p14="http://schemas.microsoft.com/office/powerpoint/2010/main" val="2252239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514</TotalTime>
  <Words>1796</Words>
  <Application>Microsoft Office PowerPoint</Application>
  <PresentationFormat>Widescreen</PresentationFormat>
  <Paragraphs>66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 Light</vt:lpstr>
      <vt:lpstr>Cambria Math</vt:lpstr>
      <vt:lpstr>Tw Cen MT</vt:lpstr>
      <vt:lpstr>Circuito</vt:lpstr>
      <vt:lpstr>project proposal Group K</vt:lpstr>
      <vt:lpstr>enviROnment</vt:lpstr>
      <vt:lpstr>tASK</vt:lpstr>
      <vt:lpstr>Input and sensor</vt:lpstr>
      <vt:lpstr>Drl algorithm</vt:lpstr>
      <vt:lpstr>Reward structure and curriculum</vt:lpstr>
      <vt:lpstr>Training strategy</vt:lpstr>
      <vt:lpstr>Evaluation metrics</vt:lpstr>
      <vt:lpstr>Actual implementation and achieved goals</vt:lpstr>
      <vt:lpstr>Environment</vt:lpstr>
      <vt:lpstr>tASK</vt:lpstr>
      <vt:lpstr>INPUT AND SENSOR</vt:lpstr>
      <vt:lpstr>Drl algorithm</vt:lpstr>
      <vt:lpstr>Reward structure and curriculum</vt:lpstr>
      <vt:lpstr>Training strategy</vt:lpstr>
      <vt:lpstr>Evaluation metrics</vt:lpstr>
      <vt:lpstr>Results A</vt:lpstr>
      <vt:lpstr>PowerPoint Presentation</vt:lpstr>
      <vt:lpstr>Results B</vt:lpstr>
      <vt:lpstr>PowerPoint Presentation</vt:lpstr>
      <vt:lpstr>PowerPoint Presentation</vt:lpstr>
      <vt:lpstr>Proposed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Fioritto</dc:creator>
  <cp:lastModifiedBy>Samuele Simonitti</cp:lastModifiedBy>
  <cp:revision>17</cp:revision>
  <dcterms:created xsi:type="dcterms:W3CDTF">2025-12-23T10:16:16Z</dcterms:created>
  <dcterms:modified xsi:type="dcterms:W3CDTF">2026-02-18T16:48:52Z</dcterms:modified>
</cp:coreProperties>
</file>