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71" r:id="rId10"/>
    <p:sldId id="264" r:id="rId11"/>
    <p:sldId id="265" r:id="rId12"/>
    <p:sldId id="266" r:id="rId13"/>
    <p:sldId id="267" r:id="rId14"/>
    <p:sldId id="268" r:id="rId15"/>
    <p:sldId id="269" r:id="rId16"/>
    <p:sldId id="270" r:id="rId17"/>
    <p:sldId id="273" r:id="rId18"/>
    <p:sldId id="280" r:id="rId19"/>
    <p:sldId id="276" r:id="rId20"/>
    <p:sldId id="277" r:id="rId21"/>
    <p:sldId id="279" r:id="rId22"/>
    <p:sldId id="278" r:id="rId23"/>
    <p:sldId id="272"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EDACC5F-7525-39CA-BE44-7F818D23E369}" name="Alessandro Fioritto" initials="AF" userId="S::152205@spes.uniud.it::badbab9d-d3e2-4602-91f9-125c1da0bed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477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378" autoAdjust="0"/>
    <p:restoredTop sz="94660"/>
  </p:normalViewPr>
  <p:slideViewPr>
    <p:cSldViewPr snapToGrid="0">
      <p:cViewPr varScale="1">
        <p:scale>
          <a:sx n="77" d="100"/>
          <a:sy n="77" d="100"/>
        </p:scale>
        <p:origin x="66" y="4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titolo">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it-IT"/>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it-IT"/>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it-IT"/>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it-IT"/>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C7CC04FB-86A9-4518-B68C-513A8C480987}" type="datetimeFigureOut">
              <a:rPr lang="it-IT" smtClean="0"/>
              <a:t>19/02/2026</a:t>
            </a:fld>
            <a:endParaRPr lang="it-IT"/>
          </a:p>
        </p:txBody>
      </p:sp>
      <p:sp>
        <p:nvSpPr>
          <p:cNvPr id="5" name="Footer Placeholder 4"/>
          <p:cNvSpPr>
            <a:spLocks noGrp="1"/>
          </p:cNvSpPr>
          <p:nvPr>
            <p:ph type="ftr" sz="quarter" idx="11"/>
          </p:nvPr>
        </p:nvSpPr>
        <p:spPr>
          <a:xfrm>
            <a:off x="1876424" y="5410201"/>
            <a:ext cx="5124886" cy="365125"/>
          </a:xfrm>
        </p:spPr>
        <p:txBody>
          <a:bodyPr/>
          <a:lstStyle/>
          <a:p>
            <a:endParaRPr lang="it-IT"/>
          </a:p>
        </p:txBody>
      </p:sp>
      <p:sp>
        <p:nvSpPr>
          <p:cNvPr id="6" name="Slide Number Placeholder 5"/>
          <p:cNvSpPr>
            <a:spLocks noGrp="1"/>
          </p:cNvSpPr>
          <p:nvPr>
            <p:ph type="sldNum" sz="quarter" idx="12"/>
          </p:nvPr>
        </p:nvSpPr>
        <p:spPr>
          <a:xfrm>
            <a:off x="9896911" y="5410199"/>
            <a:ext cx="771089" cy="365125"/>
          </a:xfrm>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3483856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C7CC04FB-86A9-4518-B68C-513A8C480987}" type="datetimeFigureOut">
              <a:rPr lang="it-IT" smtClean="0"/>
              <a:t>19/02/2026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1859572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C7CC04FB-86A9-4518-B68C-513A8C480987}" type="datetimeFigureOut">
              <a:rPr lang="it-IT" smtClean="0"/>
              <a:t>19/02/2026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710139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C7CC04FB-86A9-4518-B68C-513A8C480987}" type="datetimeFigureOut">
              <a:rPr lang="it-IT" smtClean="0"/>
              <a:t>19/02/2026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3580662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1141410" y="3073397"/>
            <a:ext cx="4878391" cy="2717801"/>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6172200" y="3073397"/>
            <a:ext cx="4875210" cy="2717801"/>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C7CC04FB-86A9-4518-B68C-513A8C480987}" type="datetimeFigureOut">
              <a:rPr lang="it-IT" smtClean="0"/>
              <a:t>19/02/2026</a:t>
            </a:fld>
            <a:endParaRPr lang="it-IT"/>
          </a:p>
        </p:txBody>
      </p:sp>
      <p:sp>
        <p:nvSpPr>
          <p:cNvPr id="8" name="Footer Placeholder 7"/>
          <p:cNvSpPr>
            <a:spLocks noGrp="1"/>
          </p:cNvSpPr>
          <p:nvPr>
            <p:ph type="ftr" sz="quarter" idx="11"/>
          </p:nvPr>
        </p:nvSpPr>
        <p:spPr/>
        <p:txBody>
          <a:bodyPr/>
          <a:lstStyle/>
          <a:p>
            <a:endParaRPr lang="it-IT"/>
          </a:p>
        </p:txBody>
      </p:sp>
      <p:sp>
        <p:nvSpPr>
          <p:cNvPr id="9" name="Slide Number Placeholder 8"/>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3952841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fld id="{C7CC04FB-86A9-4518-B68C-513A8C480987}" type="datetimeFigureOut">
              <a:rPr lang="it-IT" smtClean="0"/>
              <a:t>19/02/2026</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177147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CC04FB-86A9-4518-B68C-513A8C480987}" type="datetimeFigureOut">
              <a:rPr lang="it-IT" smtClean="0"/>
              <a:t>19/02/2026</a:t>
            </a:fld>
            <a:endParaRPr lang="it-IT"/>
          </a:p>
        </p:txBody>
      </p:sp>
      <p:sp>
        <p:nvSpPr>
          <p:cNvPr id="3" name="Footer Placeholder 2"/>
          <p:cNvSpPr>
            <a:spLocks noGrp="1"/>
          </p:cNvSpPr>
          <p:nvPr>
            <p:ph type="ftr" sz="quarter" idx="11"/>
          </p:nvPr>
        </p:nvSpPr>
        <p:spPr/>
        <p:txBody>
          <a:bodyPr/>
          <a:lstStyle/>
          <a:p>
            <a:endParaRPr lang="it-IT"/>
          </a:p>
        </p:txBody>
      </p:sp>
      <p:sp>
        <p:nvSpPr>
          <p:cNvPr id="4" name="Slide Number Placeholder 3"/>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2595450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it-IT"/>
              <a:t>Fare clic per modificare lo stile del titolo dello schema</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7CC04FB-86A9-4518-B68C-513A8C480987}" type="datetimeFigureOut">
              <a:rPr lang="it-IT" smtClean="0"/>
              <a:t>19/02/2026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2773917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7CC04FB-86A9-4518-B68C-513A8C480987}" type="datetimeFigureOut">
              <a:rPr lang="it-IT" smtClean="0"/>
              <a:t>19/02/2026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2012496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it-IT"/>
              <a:t>Fare clic sull'icona per inserire un'immagine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7CC04FB-86A9-4518-B68C-513A8C480987}" type="datetimeFigureOut">
              <a:rPr lang="it-IT" smtClean="0"/>
              <a:t>19/02/2026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575195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it-IT"/>
              <a:t>Fare clic per modificare lo stile del titolo dello schema</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7CC04FB-86A9-4518-B68C-513A8C480987}" type="datetimeFigureOut">
              <a:rPr lang="it-IT" smtClean="0"/>
              <a:t>19/02/2026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32613968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it-IT"/>
              <a:t>Fare clic per modificare lo stile del titolo dello schema</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7CC04FB-86A9-4518-B68C-513A8C480987}" type="datetimeFigureOut">
              <a:rPr lang="it-IT" smtClean="0"/>
              <a:t>19/02/2026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‹N›</a:t>
            </a:fld>
            <a:endParaRPr lang="it-IT"/>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096055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it-IT"/>
              <a:t>Fare clic per modificare lo stile del titolo dello schema</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7CC04FB-86A9-4518-B68C-513A8C480987}" type="datetimeFigureOut">
              <a:rPr lang="it-IT" smtClean="0"/>
              <a:t>19/02/2026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36301001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it-IT"/>
              <a:t>Fare clic per modificare lo stile del titolo dello schema</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3" name="Date Placeholder 2"/>
          <p:cNvSpPr>
            <a:spLocks noGrp="1"/>
          </p:cNvSpPr>
          <p:nvPr>
            <p:ph type="dt" sz="half" idx="10"/>
          </p:nvPr>
        </p:nvSpPr>
        <p:spPr/>
        <p:txBody>
          <a:bodyPr/>
          <a:lstStyle/>
          <a:p>
            <a:fld id="{C7CC04FB-86A9-4518-B68C-513A8C480987}" type="datetimeFigureOut">
              <a:rPr lang="it-IT" smtClean="0"/>
              <a:t>19/02/2026</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2308747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it-IT"/>
              <a:t>Fare clic per modificare lo stile del titolo dello schema</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it-IT"/>
              <a:t>Fare clic sull'icona per inserire un'immagine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it-IT"/>
              <a:t>Fare clic sull'icona per inserire un'immagine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it-IT"/>
              <a:t>Fare clic sull'icona per inserire un'immagine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3" name="Date Placeholder 2"/>
          <p:cNvSpPr>
            <a:spLocks noGrp="1"/>
          </p:cNvSpPr>
          <p:nvPr>
            <p:ph type="dt" sz="half" idx="10"/>
          </p:nvPr>
        </p:nvSpPr>
        <p:spPr/>
        <p:txBody>
          <a:bodyPr/>
          <a:lstStyle/>
          <a:p>
            <a:fld id="{C7CC04FB-86A9-4518-B68C-513A8C480987}" type="datetimeFigureOut">
              <a:rPr lang="it-IT" smtClean="0"/>
              <a:t>19/02/2026</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19832813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C7CC04FB-86A9-4518-B68C-513A8C480987}" type="datetimeFigureOut">
              <a:rPr lang="it-IT" smtClean="0"/>
              <a:t>19/02/2026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26417896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C7CC04FB-86A9-4518-B68C-513A8C480987}" type="datetimeFigureOut">
              <a:rPr lang="it-IT" smtClean="0"/>
              <a:t>19/02/2026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3021485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it-IT"/>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it-IT"/>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it-IT"/>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7CC04FB-86A9-4518-B68C-513A8C480987}" type="datetimeFigureOut">
              <a:rPr lang="it-IT" smtClean="0"/>
              <a:t>19/02/2026</a:t>
            </a:fld>
            <a:endParaRPr lang="it-IT"/>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it-IT"/>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3989CFC-89DE-4F17-B3B6-DFC80C736B18}" type="slidenum">
              <a:rPr lang="it-IT" smtClean="0"/>
              <a:t>‹N›</a:t>
            </a:fld>
            <a:endParaRPr lang="it-IT"/>
          </a:p>
        </p:txBody>
      </p:sp>
    </p:spTree>
    <p:extLst>
      <p:ext uri="{BB962C8B-B14F-4D97-AF65-F5344CB8AC3E}">
        <p14:creationId xmlns:p14="http://schemas.microsoft.com/office/powerpoint/2010/main" val="241628012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1C6D790-69F0-40CA-813A-84D724D1C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48476"/>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ound Diagonal Corner Rectangle 7">
            <a:extLst>
              <a:ext uri="{FF2B5EF4-FFF2-40B4-BE49-F238E27FC236}">
                <a16:creationId xmlns:a16="http://schemas.microsoft.com/office/drawing/2014/main" id="{F5A78137-DBB7-4A93-98AC-5606814E2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40673" y="806450"/>
            <a:ext cx="9319476" cy="4502149"/>
          </a:xfrm>
          <a:prstGeom prst="round2DiagRect">
            <a:avLst>
              <a:gd name="adj1" fmla="val 7929"/>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srgbClr val="092338">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7BBB9D27-EADC-CFED-EFF4-13620AF79305}"/>
              </a:ext>
            </a:extLst>
          </p:cNvPr>
          <p:cNvSpPr>
            <a:spLocks noGrp="1"/>
          </p:cNvSpPr>
          <p:nvPr>
            <p:ph type="ctrTitle"/>
          </p:nvPr>
        </p:nvSpPr>
        <p:spPr>
          <a:xfrm>
            <a:off x="2685145" y="1125511"/>
            <a:ext cx="7135566" cy="2656971"/>
          </a:xfrm>
        </p:spPr>
        <p:txBody>
          <a:bodyPr>
            <a:normAutofit/>
          </a:bodyPr>
          <a:lstStyle/>
          <a:p>
            <a:r>
              <a:rPr lang="it-IT" sz="5400" dirty="0">
                <a:solidFill>
                  <a:srgbClr val="FFFFFF"/>
                </a:solidFill>
              </a:rPr>
              <a:t>project proposal</a:t>
            </a:r>
            <a:br>
              <a:rPr lang="it-IT" sz="5400" dirty="0">
                <a:solidFill>
                  <a:srgbClr val="FFFFFF"/>
                </a:solidFill>
              </a:rPr>
            </a:br>
            <a:r>
              <a:rPr lang="it-IT" sz="5400" dirty="0">
                <a:solidFill>
                  <a:srgbClr val="FFFFFF"/>
                </a:solidFill>
              </a:rPr>
              <a:t>Group K</a:t>
            </a:r>
          </a:p>
        </p:txBody>
      </p:sp>
      <p:sp>
        <p:nvSpPr>
          <p:cNvPr id="3" name="Sottotitolo 2">
            <a:extLst>
              <a:ext uri="{FF2B5EF4-FFF2-40B4-BE49-F238E27FC236}">
                <a16:creationId xmlns:a16="http://schemas.microsoft.com/office/drawing/2014/main" id="{6FEC3CB3-2302-7D30-3AA8-FD7B12691B25}"/>
              </a:ext>
            </a:extLst>
          </p:cNvPr>
          <p:cNvSpPr>
            <a:spLocks noGrp="1"/>
          </p:cNvSpPr>
          <p:nvPr>
            <p:ph type="subTitle" idx="1"/>
          </p:nvPr>
        </p:nvSpPr>
        <p:spPr>
          <a:xfrm>
            <a:off x="2684139" y="3782482"/>
            <a:ext cx="7136760" cy="1204383"/>
          </a:xfrm>
        </p:spPr>
        <p:txBody>
          <a:bodyPr>
            <a:normAutofit/>
          </a:bodyPr>
          <a:lstStyle/>
          <a:p>
            <a:r>
              <a:rPr lang="it-IT" sz="1800" dirty="0">
                <a:solidFill>
                  <a:srgbClr val="FFFFFF"/>
                </a:solidFill>
              </a:rPr>
              <a:t>Pilutti filippo, Simonitti Samuele, Fioritto Alessandro</a:t>
            </a:r>
          </a:p>
        </p:txBody>
      </p:sp>
    </p:spTree>
    <p:extLst>
      <p:ext uri="{BB962C8B-B14F-4D97-AF65-F5344CB8AC3E}">
        <p14:creationId xmlns:p14="http://schemas.microsoft.com/office/powerpoint/2010/main" val="2837898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89B6C04D-E0D5-17DC-AB1A-3FEDF3A79413}"/>
              </a:ext>
            </a:extLst>
          </p:cNvPr>
          <p:cNvSpPr>
            <a:spLocks noGrp="1"/>
          </p:cNvSpPr>
          <p:nvPr>
            <p:ph type="title"/>
          </p:nvPr>
        </p:nvSpPr>
        <p:spPr>
          <a:xfrm>
            <a:off x="1198811" y="1066800"/>
            <a:ext cx="3059969" cy="4697413"/>
          </a:xfrm>
        </p:spPr>
        <p:txBody>
          <a:bodyPr>
            <a:normAutofit/>
          </a:bodyPr>
          <a:lstStyle/>
          <a:p>
            <a:r>
              <a:rPr lang="it-IT" dirty="0"/>
              <a:t>enviROnment</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86EFCE9A-1145-8265-0A44-4F6FC8E3A51A}"/>
              </a:ext>
            </a:extLst>
          </p:cNvPr>
          <p:cNvSpPr>
            <a:spLocks noGrp="1"/>
          </p:cNvSpPr>
          <p:nvPr>
            <p:ph idx="1"/>
          </p:nvPr>
        </p:nvSpPr>
        <p:spPr>
          <a:xfrm>
            <a:off x="4782246" y="456406"/>
            <a:ext cx="7438329" cy="4697413"/>
          </a:xfrm>
        </p:spPr>
        <p:txBody>
          <a:bodyPr>
            <a:normAutofit/>
          </a:bodyPr>
          <a:lstStyle/>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We decided to use the normal turtlebot 3 arena with some changes: we added 3 pairs of walls to form a simple maze that the robot should navigate without hitting said walls or any other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solid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object</a:t>
            </a:r>
            <a:endParaRPr lang="it-IT" sz="2200" dirty="0">
              <a:latin typeface="Calibri Light" panose="020F0302020204030204" pitchFamily="34" charset="0"/>
              <a:ea typeface="Calibri Light" panose="020F0302020204030204" pitchFamily="34" charset="0"/>
              <a:cs typeface="Calibri Light" panose="020F0302020204030204" pitchFamily="34" charset="0"/>
            </a:endParaRPr>
          </a:p>
          <a:p>
            <a:pPr marL="0" indent="0">
              <a:buNone/>
            </a:pPr>
            <a:r>
              <a:rPr lang="it-IT" sz="2200" b="1" dirty="0">
                <a:latin typeface="Calibri Light" panose="020F0302020204030204" pitchFamily="34" charset="0"/>
                <a:ea typeface="Calibri Light" panose="020F0302020204030204" pitchFamily="34" charset="0"/>
                <a:cs typeface="Calibri Light" panose="020F0302020204030204" pitchFamily="34" charset="0"/>
              </a:rPr>
              <a:t>Optional: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If</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find</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robot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too</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efficient</a:t>
            </a:r>
            <a:r>
              <a:rPr lang="it-IT" sz="2200" dirty="0">
                <a:latin typeface="Calibri Light" panose="020F0302020204030204" pitchFamily="34" charset="0"/>
                <a:ea typeface="Calibri Light" panose="020F0302020204030204" pitchFamily="34" charset="0"/>
                <a:cs typeface="Calibri Light" panose="020F0302020204030204" pitchFamily="34" charset="0"/>
              </a:rPr>
              <a:t> in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navigating</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this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maze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plan to make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harder</a:t>
            </a:r>
            <a:r>
              <a:rPr lang="it-IT" sz="2200" dirty="0">
                <a:latin typeface="Calibri Light" panose="020F0302020204030204" pitchFamily="34" charset="0"/>
                <a:ea typeface="Calibri Light" panose="020F0302020204030204" pitchFamily="34" charset="0"/>
                <a:cs typeface="Calibri Light" panose="020F0302020204030204" pitchFamily="34" charset="0"/>
              </a:rPr>
              <a:t> (by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adding</a:t>
            </a:r>
            <a:r>
              <a:rPr lang="it-IT" sz="2200" dirty="0">
                <a:latin typeface="Calibri Light" panose="020F0302020204030204" pitchFamily="34" charset="0"/>
                <a:ea typeface="Calibri Light" panose="020F0302020204030204" pitchFamily="34" charset="0"/>
                <a:cs typeface="Calibri Light" panose="020F0302020204030204" pitchFamily="34" charset="0"/>
              </a:rPr>
              <a:t> more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obstacles</a:t>
            </a:r>
            <a:r>
              <a:rPr lang="it-IT" sz="2200" dirty="0">
                <a:latin typeface="Calibri Light" panose="020F0302020204030204" pitchFamily="34" charset="0"/>
                <a:ea typeface="Calibri Light" panose="020F0302020204030204" pitchFamily="34" charset="0"/>
                <a:cs typeface="Calibri Light" panose="020F0302020204030204" pitchFamily="34" charset="0"/>
              </a:rPr>
              <a:t> or a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longer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route</a:t>
            </a:r>
            <a:r>
              <a:rPr lang="it-IT" sz="2200" dirty="0">
                <a:latin typeface="Calibri Light" panose="020F0302020204030204" pitchFamily="34" charset="0"/>
                <a:ea typeface="Calibri Light" panose="020F0302020204030204" pitchFamily="34" charset="0"/>
                <a:cs typeface="Calibri Light" panose="020F0302020204030204" pitchFamily="34" charset="0"/>
              </a:rPr>
              <a:t> to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objective</a:t>
            </a:r>
            <a:r>
              <a:rPr lang="it-IT" sz="2200" dirty="0">
                <a:latin typeface="Calibri Light" panose="020F0302020204030204" pitchFamily="34" charset="0"/>
                <a:ea typeface="Calibri Light" panose="020F0302020204030204" pitchFamily="34" charset="0"/>
                <a:cs typeface="Calibri Light" panose="020F0302020204030204" pitchFamily="34" charset="0"/>
              </a:rPr>
              <a:t>)</a:t>
            </a:r>
            <a:endParaRPr lang="it-IT" sz="2200" b="1" dirty="0">
              <a:latin typeface="Calibri Light" panose="020F0302020204030204" pitchFamily="34" charset="0"/>
              <a:ea typeface="Calibri Light" panose="020F0302020204030204" pitchFamily="34" charset="0"/>
              <a:cs typeface="Calibri Light" panose="020F0302020204030204" pitchFamily="34" charset="0"/>
            </a:endParaRPr>
          </a:p>
          <a:p>
            <a:pPr marL="0" indent="0">
              <a:buNone/>
            </a:pPr>
            <a:endParaRPr lang="it-IT" sz="2200"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5" name="Immagine 4" descr="Immagine che contiene Policromia, pixel&#10;&#10;Il contenuto generato dall'IA potrebbe non essere corretto.">
            <a:extLst>
              <a:ext uri="{FF2B5EF4-FFF2-40B4-BE49-F238E27FC236}">
                <a16:creationId xmlns:a16="http://schemas.microsoft.com/office/drawing/2014/main" id="{B76CB909-7CE4-6670-9602-DA515957F5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8309" y="3784568"/>
            <a:ext cx="2456626" cy="2710755"/>
          </a:xfrm>
          <a:prstGeom prst="rect">
            <a:avLst/>
          </a:prstGeom>
        </p:spPr>
      </p:pic>
      <p:pic>
        <p:nvPicPr>
          <p:cNvPr id="7" name="Immagine 6" descr="Immagine che contiene schermata, pixel, design&#10;&#10;Il contenuto generato dall'IA potrebbe non essere corretto.">
            <a:extLst>
              <a:ext uri="{FF2B5EF4-FFF2-40B4-BE49-F238E27FC236}">
                <a16:creationId xmlns:a16="http://schemas.microsoft.com/office/drawing/2014/main" id="{7D7F3170-4F44-A18A-2A8D-D1D3FAA057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45408" y="3784567"/>
            <a:ext cx="3847132" cy="2710756"/>
          </a:xfrm>
          <a:prstGeom prst="rect">
            <a:avLst/>
          </a:prstGeom>
        </p:spPr>
      </p:pic>
    </p:spTree>
    <p:extLst>
      <p:ext uri="{BB962C8B-B14F-4D97-AF65-F5344CB8AC3E}">
        <p14:creationId xmlns:p14="http://schemas.microsoft.com/office/powerpoint/2010/main" val="3688278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9A7FF5C4-5DB8-1649-345B-29A90A41BAE1}"/>
              </a:ext>
            </a:extLst>
          </p:cNvPr>
          <p:cNvSpPr>
            <a:spLocks noGrp="1"/>
          </p:cNvSpPr>
          <p:nvPr>
            <p:ph type="title"/>
          </p:nvPr>
        </p:nvSpPr>
        <p:spPr>
          <a:xfrm>
            <a:off x="1891425" y="1162050"/>
            <a:ext cx="1142270" cy="4697413"/>
          </a:xfrm>
        </p:spPr>
        <p:txBody>
          <a:bodyPr>
            <a:normAutofit/>
          </a:bodyPr>
          <a:lstStyle/>
          <a:p>
            <a:r>
              <a:rPr lang="it-IT" dirty="0" err="1"/>
              <a:t>tASK</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813CABC3-E6F0-C3C2-DB64-3E5459B3AFAF}"/>
              </a:ext>
            </a:extLst>
          </p:cNvPr>
          <p:cNvSpPr>
            <a:spLocks noGrp="1"/>
          </p:cNvSpPr>
          <p:nvPr>
            <p:ph idx="1"/>
          </p:nvPr>
        </p:nvSpPr>
        <p:spPr>
          <a:xfrm>
            <a:off x="4744146" y="1305037"/>
            <a:ext cx="7395467" cy="4238402"/>
          </a:xfrm>
        </p:spPr>
        <p:txBody>
          <a:bodyPr>
            <a:normAutofit/>
          </a:bodyPr>
          <a:lstStyle/>
          <a:p>
            <a:pPr marL="0" indent="0">
              <a:buNone/>
            </a:pPr>
            <a:r>
              <a:rPr lang="it-IT" sz="2200" b="1" dirty="0">
                <a:latin typeface="Calibri Light" panose="020F0302020204030204" pitchFamily="34" charset="0"/>
                <a:ea typeface="Calibri Light" panose="020F0302020204030204" pitchFamily="34" charset="0"/>
                <a:cs typeface="Calibri Light" panose="020F0302020204030204" pitchFamily="34" charset="0"/>
              </a:rPr>
              <a:t>Primary task: </a:t>
            </a:r>
          </a:p>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The chosen task is for the robot to navigate the maze without hitting the walls, the columns or the perimeter of the arena and after that, at the end of the arena, there is a specific position the robot should go towards until it reaches it.</a:t>
            </a:r>
          </a:p>
          <a:p>
            <a:pPr marL="0" indent="0">
              <a:buNone/>
            </a:pPr>
            <a:endParaRPr lang="it-IT" sz="2200" dirty="0">
              <a:latin typeface="Calibri Light" panose="020F0302020204030204" pitchFamily="34" charset="0"/>
              <a:ea typeface="Calibri Light" panose="020F0302020204030204" pitchFamily="34" charset="0"/>
              <a:cs typeface="Calibri Light" panose="020F0302020204030204" pitchFamily="34" charset="0"/>
            </a:endParaRPr>
          </a:p>
          <a:p>
            <a:pPr marL="0" indent="0">
              <a:buNone/>
            </a:pPr>
            <a:r>
              <a:rPr lang="it-IT" sz="2200" b="1" dirty="0">
                <a:latin typeface="Calibri Light" panose="020F0302020204030204" pitchFamily="34" charset="0"/>
                <a:ea typeface="Calibri Light" panose="020F0302020204030204" pitchFamily="34" charset="0"/>
                <a:cs typeface="Calibri Light" panose="020F0302020204030204" pitchFamily="34" charset="0"/>
              </a:rPr>
              <a:t>Optional task:</a:t>
            </a:r>
          </a:p>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After reaching the first given position, the turtlebot should navigate the maze backwards, back to the starting position.</a:t>
            </a:r>
          </a:p>
        </p:txBody>
      </p:sp>
    </p:spTree>
    <p:extLst>
      <p:ext uri="{BB962C8B-B14F-4D97-AF65-F5344CB8AC3E}">
        <p14:creationId xmlns:p14="http://schemas.microsoft.com/office/powerpoint/2010/main" val="1061524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94D5E1D8-08D7-0639-5C29-61B5F621E4C1}"/>
              </a:ext>
            </a:extLst>
          </p:cNvPr>
          <p:cNvSpPr>
            <a:spLocks noGrp="1"/>
          </p:cNvSpPr>
          <p:nvPr>
            <p:ph type="title"/>
          </p:nvPr>
        </p:nvSpPr>
        <p:spPr>
          <a:xfrm>
            <a:off x="1274595" y="1093788"/>
            <a:ext cx="3059969" cy="4697413"/>
          </a:xfrm>
        </p:spPr>
        <p:txBody>
          <a:bodyPr>
            <a:normAutofit/>
          </a:bodyPr>
          <a:lstStyle/>
          <a:p>
            <a:r>
              <a:rPr lang="it-IT" dirty="0"/>
              <a:t>Input and </a:t>
            </a:r>
            <a:r>
              <a:rPr lang="it-IT" dirty="0" err="1"/>
              <a:t>sensor</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479A80B3-ADB6-D479-7FFE-44E59E949341}"/>
              </a:ext>
            </a:extLst>
          </p:cNvPr>
          <p:cNvSpPr>
            <a:spLocks noGrp="1"/>
          </p:cNvSpPr>
          <p:nvPr>
            <p:ph idx="1"/>
          </p:nvPr>
        </p:nvSpPr>
        <p:spPr>
          <a:xfrm>
            <a:off x="4891609" y="1858963"/>
            <a:ext cx="7014642" cy="3116263"/>
          </a:xfrm>
        </p:spPr>
        <p:txBody>
          <a:bodyPr>
            <a:normAutofit/>
          </a:bodyPr>
          <a:lstStyle/>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For the visual input of the robot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want</a:t>
            </a:r>
            <a:r>
              <a:rPr lang="it-IT" sz="2200" dirty="0">
                <a:latin typeface="Calibri Light" panose="020F0302020204030204" pitchFamily="34" charset="0"/>
                <a:ea typeface="Calibri Light" panose="020F0302020204030204" pitchFamily="34" charset="0"/>
                <a:cs typeface="Calibri Light" panose="020F0302020204030204" pitchFamily="34" charset="0"/>
              </a:rPr>
              <a:t> to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exclusively</a:t>
            </a:r>
            <a:r>
              <a:rPr lang="it-IT" sz="2200" dirty="0">
                <a:latin typeface="Calibri Light" panose="020F0302020204030204" pitchFamily="34" charset="0"/>
                <a:ea typeface="Calibri Light" panose="020F0302020204030204" pitchFamily="34" charset="0"/>
                <a:cs typeface="Calibri Light" panose="020F0302020204030204" pitchFamily="34" charset="0"/>
              </a:rPr>
              <a:t> use the laser sensor: this is because we figured that the laser would be less burdensome than image processing.</a:t>
            </a:r>
          </a:p>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We also changed the number of scannings, from 5 scans (one every 72°) to 24 scans (one every 15°) to hopefully solve some problems with the original model, mainly the tendency to crash on the columns.</a:t>
            </a:r>
          </a:p>
        </p:txBody>
      </p:sp>
    </p:spTree>
    <p:extLst>
      <p:ext uri="{BB962C8B-B14F-4D97-AF65-F5344CB8AC3E}">
        <p14:creationId xmlns:p14="http://schemas.microsoft.com/office/powerpoint/2010/main" val="90146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3C392B05-7D13-08FC-8B70-DD18B549C159}"/>
              </a:ext>
            </a:extLst>
          </p:cNvPr>
          <p:cNvSpPr>
            <a:spLocks noGrp="1"/>
          </p:cNvSpPr>
          <p:nvPr>
            <p:ph type="title"/>
          </p:nvPr>
        </p:nvSpPr>
        <p:spPr>
          <a:xfrm>
            <a:off x="1019015" y="1093787"/>
            <a:ext cx="3059969" cy="4697413"/>
          </a:xfrm>
        </p:spPr>
        <p:txBody>
          <a:bodyPr>
            <a:normAutofit/>
          </a:bodyPr>
          <a:lstStyle/>
          <a:p>
            <a:r>
              <a:rPr lang="it-IT" dirty="0" err="1"/>
              <a:t>Drl</a:t>
            </a:r>
            <a:r>
              <a:rPr lang="it-IT" dirty="0"/>
              <a:t> </a:t>
            </a:r>
            <a:r>
              <a:rPr lang="it-IT" dirty="0" err="1"/>
              <a:t>algorithm</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7491F4A8-ED4C-CC79-0822-BBA51610FEEB}"/>
              </a:ext>
            </a:extLst>
          </p:cNvPr>
          <p:cNvSpPr>
            <a:spLocks noGrp="1"/>
          </p:cNvSpPr>
          <p:nvPr>
            <p:ph idx="1"/>
          </p:nvPr>
        </p:nvSpPr>
        <p:spPr>
          <a:xfrm>
            <a:off x="4852016" y="1975199"/>
            <a:ext cx="7113051" cy="2687289"/>
          </a:xfrm>
        </p:spPr>
        <p:txBody>
          <a:bodyPr>
            <a:normAutofit/>
          </a:bodyPr>
          <a:lstStyle/>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We intend to use DQN algorithm as its fast training time could allows us to try different combination of weights and parameter values in a relatively short amount of time.</a:t>
            </a:r>
          </a:p>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If we are not able to obtain good results, we plan to try Policy Optimization Algorithms (Reinforce or Actor Critic) which would require much more training time.</a:t>
            </a:r>
          </a:p>
        </p:txBody>
      </p:sp>
    </p:spTree>
    <p:extLst>
      <p:ext uri="{BB962C8B-B14F-4D97-AF65-F5344CB8AC3E}">
        <p14:creationId xmlns:p14="http://schemas.microsoft.com/office/powerpoint/2010/main" val="3435778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C5CDE8B4-FB85-7EB4-6460-A6DC6877A495}"/>
              </a:ext>
            </a:extLst>
          </p:cNvPr>
          <p:cNvSpPr>
            <a:spLocks noGrp="1"/>
          </p:cNvSpPr>
          <p:nvPr>
            <p:ph type="title"/>
          </p:nvPr>
        </p:nvSpPr>
        <p:spPr>
          <a:xfrm>
            <a:off x="1019015" y="1093787"/>
            <a:ext cx="3059969" cy="4697413"/>
          </a:xfrm>
        </p:spPr>
        <p:txBody>
          <a:bodyPr>
            <a:normAutofit/>
          </a:bodyPr>
          <a:lstStyle/>
          <a:p>
            <a:r>
              <a:rPr lang="it-IT" dirty="0" err="1"/>
              <a:t>Reward</a:t>
            </a:r>
            <a:r>
              <a:rPr lang="it-IT" dirty="0"/>
              <a:t> </a:t>
            </a:r>
            <a:r>
              <a:rPr lang="it-IT" dirty="0" err="1"/>
              <a:t>structure</a:t>
            </a:r>
            <a:r>
              <a:rPr lang="it-IT" dirty="0"/>
              <a:t> and curriculum</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4FE48175-44D0-64B3-A504-4925663E7AB8}"/>
              </a:ext>
            </a:extLst>
          </p:cNvPr>
          <p:cNvSpPr>
            <a:spLocks noGrp="1"/>
          </p:cNvSpPr>
          <p:nvPr>
            <p:ph idx="1"/>
          </p:nvPr>
        </p:nvSpPr>
        <p:spPr>
          <a:xfrm>
            <a:off x="4940836" y="1075531"/>
            <a:ext cx="7094001" cy="4697413"/>
          </a:xfrm>
        </p:spPr>
        <p:txBody>
          <a:bodyPr>
            <a:normAutofit fontScale="92500"/>
          </a:bodyPr>
          <a:lstStyle/>
          <a:p>
            <a:pPr marL="0" indent="0">
              <a:buNone/>
            </a:pPr>
            <a:r>
              <a:rPr lang="it-IT" dirty="0">
                <a:latin typeface="Calibri Light" panose="020F0302020204030204" pitchFamily="34" charset="0"/>
                <a:ea typeface="Calibri Light" panose="020F0302020204030204" pitchFamily="34" charset="0"/>
                <a:cs typeface="Calibri Light" panose="020F0302020204030204" pitchFamily="34" charset="0"/>
              </a:rPr>
              <a:t>We aim to use a more sparse reward scheme, specifically want to use goal sampling curriculum, meaning that we start from a simple objective (e.g. pass the first line of walls) and build up to a more complex one (reach the coordinates on the other side of the arena) and balance this with an exploration bonus; to optimize the maze navigation time and smoothness we also plan to implement factorized rewards (collision avoidance, time to target).</a:t>
            </a:r>
          </a:p>
          <a:p>
            <a:pPr marL="0" indent="0">
              <a:buNone/>
            </a:pPr>
            <a:r>
              <a:rPr lang="it-IT" dirty="0">
                <a:latin typeface="Calibri Light" panose="020F0302020204030204" pitchFamily="34" charset="0"/>
                <a:ea typeface="Calibri Light" panose="020F0302020204030204" pitchFamily="34" charset="0"/>
                <a:cs typeface="Calibri Light" panose="020F0302020204030204" pitchFamily="34" charset="0"/>
              </a:rPr>
              <a:t>We want the robot to perform the maze navigation precisely and, with limited outside information, the exploration bonus could provides adaptability to different types of mazes.</a:t>
            </a:r>
          </a:p>
        </p:txBody>
      </p:sp>
    </p:spTree>
    <p:extLst>
      <p:ext uri="{BB962C8B-B14F-4D97-AF65-F5344CB8AC3E}">
        <p14:creationId xmlns:p14="http://schemas.microsoft.com/office/powerpoint/2010/main" val="816351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30DD7379-43FC-9C9D-5AC3-4EE8442067C2}"/>
              </a:ext>
            </a:extLst>
          </p:cNvPr>
          <p:cNvSpPr>
            <a:spLocks noGrp="1"/>
          </p:cNvSpPr>
          <p:nvPr>
            <p:ph type="title"/>
          </p:nvPr>
        </p:nvSpPr>
        <p:spPr>
          <a:xfrm>
            <a:off x="1019015" y="1093787"/>
            <a:ext cx="3059969" cy="4697413"/>
          </a:xfrm>
        </p:spPr>
        <p:txBody>
          <a:bodyPr>
            <a:normAutofit/>
          </a:bodyPr>
          <a:lstStyle/>
          <a:p>
            <a:r>
              <a:rPr lang="it-IT" dirty="0"/>
              <a:t>Training strategy</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6021F035-15C3-AAA5-AB38-D8E738AAC3FB}"/>
              </a:ext>
            </a:extLst>
          </p:cNvPr>
          <p:cNvSpPr>
            <a:spLocks noGrp="1"/>
          </p:cNvSpPr>
          <p:nvPr>
            <p:ph idx="1"/>
          </p:nvPr>
        </p:nvSpPr>
        <p:spPr>
          <a:xfrm>
            <a:off x="4940836" y="930275"/>
            <a:ext cx="7082729" cy="4697413"/>
          </a:xfrm>
        </p:spPr>
        <p:txBody>
          <a:bodyPr>
            <a:normAutofit fontScale="92500"/>
          </a:bodyPr>
          <a:lstStyle/>
          <a:p>
            <a:pPr marL="0" indent="0">
              <a:buNone/>
            </a:pPr>
            <a:r>
              <a:rPr lang="it-IT" dirty="0">
                <a:latin typeface="Calibri Light" panose="020F0302020204030204" pitchFamily="34" charset="0"/>
                <a:ea typeface="Calibri Light" panose="020F0302020204030204" pitchFamily="34" charset="0"/>
                <a:cs typeface="Calibri Light" panose="020F0302020204030204" pitchFamily="34" charset="0"/>
              </a:rPr>
              <a:t>In the past months, as we made some trainings on the different models provided we understood that a good choice of parameters and reward weights is crucial if we want to have good results: we want to train different models with less episodes to infer on what’s the best combination of parameters for these specific objectives (mainly the decay rate, the batch size, learning rate and the reward function).</a:t>
            </a:r>
          </a:p>
          <a:p>
            <a:pPr marL="0" indent="0">
              <a:buNone/>
            </a:pPr>
            <a:r>
              <a:rPr lang="it-IT" dirty="0">
                <a:latin typeface="Calibri Light" panose="020F0302020204030204" pitchFamily="34" charset="0"/>
                <a:ea typeface="Calibri Light" panose="020F0302020204030204" pitchFamily="34" charset="0"/>
                <a:cs typeface="Calibri Light" panose="020F0302020204030204" pitchFamily="34" charset="0"/>
              </a:rPr>
              <a:t>Also, choosing a good network architecture is pivital in ensuring the best outcome for the training so we plan to explore </a:t>
            </a:r>
            <a:r>
              <a:rPr lang="it-IT" dirty="0" err="1">
                <a:latin typeface="Calibri Light" panose="020F0302020204030204" pitchFamily="34" charset="0"/>
                <a:ea typeface="Calibri Light" panose="020F0302020204030204" pitchFamily="34" charset="0"/>
                <a:cs typeface="Calibri Light" panose="020F0302020204030204" pitchFamily="34" charset="0"/>
              </a:rPr>
              <a:t>different</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types</a:t>
            </a:r>
            <a:r>
              <a:rPr lang="it-IT" dirty="0">
                <a:latin typeface="Calibri Light" panose="020F0302020204030204" pitchFamily="34" charset="0"/>
                <a:ea typeface="Calibri Light" panose="020F0302020204030204" pitchFamily="34" charset="0"/>
                <a:cs typeface="Calibri Light" panose="020F0302020204030204" pitchFamily="34" charset="0"/>
              </a:rPr>
              <a:t> (e.g. Fully connected, Residual, RNN) to find the best suited one for our goals.</a:t>
            </a:r>
          </a:p>
        </p:txBody>
      </p:sp>
    </p:spTree>
    <p:extLst>
      <p:ext uri="{BB962C8B-B14F-4D97-AF65-F5344CB8AC3E}">
        <p14:creationId xmlns:p14="http://schemas.microsoft.com/office/powerpoint/2010/main" val="2915681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C4A7F217-EBD1-F279-9024-651A000AF3A7}"/>
              </a:ext>
            </a:extLst>
          </p:cNvPr>
          <p:cNvSpPr>
            <a:spLocks noGrp="1"/>
          </p:cNvSpPr>
          <p:nvPr>
            <p:ph type="title"/>
          </p:nvPr>
        </p:nvSpPr>
        <p:spPr>
          <a:xfrm>
            <a:off x="1019015" y="1093787"/>
            <a:ext cx="3059969" cy="4697413"/>
          </a:xfrm>
        </p:spPr>
        <p:txBody>
          <a:bodyPr>
            <a:normAutofit/>
          </a:bodyPr>
          <a:lstStyle/>
          <a:p>
            <a:r>
              <a:rPr lang="it-IT" dirty="0"/>
              <a:t>Evaluation </a:t>
            </a:r>
            <a:r>
              <a:rPr lang="it-IT" dirty="0" err="1"/>
              <a:t>metrics</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B5A3A62C-9F20-EC47-7378-4B63560DDD1B}"/>
              </a:ext>
            </a:extLst>
          </p:cNvPr>
          <p:cNvSpPr>
            <a:spLocks noGrp="1"/>
          </p:cNvSpPr>
          <p:nvPr>
            <p:ph idx="1"/>
          </p:nvPr>
        </p:nvSpPr>
        <p:spPr>
          <a:xfrm>
            <a:off x="4910040" y="1550639"/>
            <a:ext cx="6997003" cy="3747198"/>
          </a:xfrm>
        </p:spPr>
        <p:txBody>
          <a:bodyPr>
            <a:normAutofit lnSpcReduction="10000"/>
          </a:bodyPr>
          <a:lstStyle/>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Having a number of clear objectives makes it easy to evaluate the success of the overall training process and, in addition to avoiding obstacles and reaching the final coordinates, we want to use the number of steps, meaning the time needed, to reach the final objective as another evalution metric.</a:t>
            </a:r>
          </a:p>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This has also the purpose of helping us troubleshooting, as a slower time helps us to evaluate if we need to change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our</a:t>
            </a:r>
            <a:r>
              <a:rPr lang="it-IT" sz="2200" dirty="0">
                <a:latin typeface="Calibri Light" panose="020F0302020204030204" pitchFamily="34" charset="0"/>
                <a:ea typeface="Calibri Light" panose="020F0302020204030204" pitchFamily="34" charset="0"/>
                <a:cs typeface="Calibri Light" panose="020F0302020204030204" pitchFamily="34" charset="0"/>
              </a:rPr>
              <a:t> training strategy.</a:t>
            </a:r>
          </a:p>
        </p:txBody>
      </p:sp>
    </p:spTree>
    <p:extLst>
      <p:ext uri="{BB962C8B-B14F-4D97-AF65-F5344CB8AC3E}">
        <p14:creationId xmlns:p14="http://schemas.microsoft.com/office/powerpoint/2010/main" val="28607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C892AB0-7D6D-4FC9-9105-0CB427161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07353E4-FA19-40CB-8AF8-3A8E6704BE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1" name="Freeform 35">
              <a:extLst>
                <a:ext uri="{FF2B5EF4-FFF2-40B4-BE49-F238E27FC236}">
                  <a16:creationId xmlns:a16="http://schemas.microsoft.com/office/drawing/2014/main" id="{697D009D-8E70-460A-BE57-321BB0764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it-IT"/>
            </a:p>
          </p:txBody>
        </p:sp>
        <p:sp>
          <p:nvSpPr>
            <p:cNvPr id="12" name="Freeform 36">
              <a:extLst>
                <a:ext uri="{FF2B5EF4-FFF2-40B4-BE49-F238E27FC236}">
                  <a16:creationId xmlns:a16="http://schemas.microsoft.com/office/drawing/2014/main" id="{D0001F35-F282-403E-8D08-0D204D851F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it-IT"/>
            </a:p>
          </p:txBody>
        </p:sp>
        <p:sp>
          <p:nvSpPr>
            <p:cNvPr id="13" name="Freeform 38">
              <a:extLst>
                <a:ext uri="{FF2B5EF4-FFF2-40B4-BE49-F238E27FC236}">
                  <a16:creationId xmlns:a16="http://schemas.microsoft.com/office/drawing/2014/main" id="{3F8A69A2-2D15-40CD-8C14-A18643ABA5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it-IT"/>
            </a:p>
          </p:txBody>
        </p:sp>
        <p:sp>
          <p:nvSpPr>
            <p:cNvPr id="14" name="Freeform 39">
              <a:extLst>
                <a:ext uri="{FF2B5EF4-FFF2-40B4-BE49-F238E27FC236}">
                  <a16:creationId xmlns:a16="http://schemas.microsoft.com/office/drawing/2014/main" id="{B665CA2A-9D55-4786-9343-EB4667262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it-IT"/>
            </a:p>
          </p:txBody>
        </p:sp>
        <p:sp>
          <p:nvSpPr>
            <p:cNvPr id="15" name="Freeform 40">
              <a:extLst>
                <a:ext uri="{FF2B5EF4-FFF2-40B4-BE49-F238E27FC236}">
                  <a16:creationId xmlns:a16="http://schemas.microsoft.com/office/drawing/2014/main" id="{CEE9BD85-96DF-4CDF-BC0F-C4E46062B3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it-IT"/>
            </a:p>
          </p:txBody>
        </p:sp>
        <p:sp>
          <p:nvSpPr>
            <p:cNvPr id="16" name="Rectangle 41">
              <a:extLst>
                <a:ext uri="{FF2B5EF4-FFF2-40B4-BE49-F238E27FC236}">
                  <a16:creationId xmlns:a16="http://schemas.microsoft.com/office/drawing/2014/main" id="{6BB6F5E5-6CA3-4B20-86A7-1174D6E71FB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it-IT"/>
            </a:p>
          </p:txBody>
        </p:sp>
      </p:grpSp>
      <p:grpSp>
        <p:nvGrpSpPr>
          <p:cNvPr id="18" name="Group 17">
            <a:extLst>
              <a:ext uri="{FF2B5EF4-FFF2-40B4-BE49-F238E27FC236}">
                <a16:creationId xmlns:a16="http://schemas.microsoft.com/office/drawing/2014/main" id="{0328E69E-CE3D-4110-8BF7-AD3C0C10CB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9" name="Freeform 32">
              <a:extLst>
                <a:ext uri="{FF2B5EF4-FFF2-40B4-BE49-F238E27FC236}">
                  <a16:creationId xmlns:a16="http://schemas.microsoft.com/office/drawing/2014/main" id="{30F84C80-9E12-4460-B88F-D03839F0C8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it-IT"/>
            </a:p>
          </p:txBody>
        </p:sp>
        <p:sp>
          <p:nvSpPr>
            <p:cNvPr id="20" name="Freeform 33">
              <a:extLst>
                <a:ext uri="{FF2B5EF4-FFF2-40B4-BE49-F238E27FC236}">
                  <a16:creationId xmlns:a16="http://schemas.microsoft.com/office/drawing/2014/main" id="{2F84C18C-5783-48FF-9DE0-FDA327CFC4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it-IT"/>
            </a:p>
          </p:txBody>
        </p:sp>
        <p:sp>
          <p:nvSpPr>
            <p:cNvPr id="21" name="Freeform 34">
              <a:extLst>
                <a:ext uri="{FF2B5EF4-FFF2-40B4-BE49-F238E27FC236}">
                  <a16:creationId xmlns:a16="http://schemas.microsoft.com/office/drawing/2014/main" id="{08C6A855-346C-4589-9AD4-5E15BCBC7A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it-IT"/>
            </a:p>
          </p:txBody>
        </p:sp>
        <p:sp>
          <p:nvSpPr>
            <p:cNvPr id="22" name="Freeform 37">
              <a:extLst>
                <a:ext uri="{FF2B5EF4-FFF2-40B4-BE49-F238E27FC236}">
                  <a16:creationId xmlns:a16="http://schemas.microsoft.com/office/drawing/2014/main" id="{7E64BEE6-1157-421C-A02A-47639E4D9F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it-IT"/>
            </a:p>
          </p:txBody>
        </p:sp>
      </p:grpSp>
      <p:grpSp>
        <p:nvGrpSpPr>
          <p:cNvPr id="24" name="Group 23">
            <a:extLst>
              <a:ext uri="{FF2B5EF4-FFF2-40B4-BE49-F238E27FC236}">
                <a16:creationId xmlns:a16="http://schemas.microsoft.com/office/drawing/2014/main" id="{F64806C9-3599-45A7-BCFF-F762C54276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25" name="Freeform 32">
              <a:extLst>
                <a:ext uri="{FF2B5EF4-FFF2-40B4-BE49-F238E27FC236}">
                  <a16:creationId xmlns:a16="http://schemas.microsoft.com/office/drawing/2014/main" id="{41D6E755-9558-4CAA-8F56-469D231C35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it-IT"/>
            </a:p>
          </p:txBody>
        </p:sp>
        <p:sp>
          <p:nvSpPr>
            <p:cNvPr id="26" name="Freeform 33">
              <a:extLst>
                <a:ext uri="{FF2B5EF4-FFF2-40B4-BE49-F238E27FC236}">
                  <a16:creationId xmlns:a16="http://schemas.microsoft.com/office/drawing/2014/main" id="{8FCD41C4-606C-446C-8C81-6353C64424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it-IT"/>
            </a:p>
          </p:txBody>
        </p:sp>
        <p:sp>
          <p:nvSpPr>
            <p:cNvPr id="27" name="Freeform 34">
              <a:extLst>
                <a:ext uri="{FF2B5EF4-FFF2-40B4-BE49-F238E27FC236}">
                  <a16:creationId xmlns:a16="http://schemas.microsoft.com/office/drawing/2014/main" id="{274CFBE4-CEA6-4C81-BB1E-83E1896771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it-IT"/>
            </a:p>
          </p:txBody>
        </p:sp>
        <p:sp>
          <p:nvSpPr>
            <p:cNvPr id="28" name="Freeform 37">
              <a:extLst>
                <a:ext uri="{FF2B5EF4-FFF2-40B4-BE49-F238E27FC236}">
                  <a16:creationId xmlns:a16="http://schemas.microsoft.com/office/drawing/2014/main" id="{24813D3D-7B30-42F2-9065-1B40F140C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it-IT"/>
            </a:p>
          </p:txBody>
        </p:sp>
      </p:grpSp>
      <p:grpSp>
        <p:nvGrpSpPr>
          <p:cNvPr id="30" name="Group 29">
            <a:extLst>
              <a:ext uri="{FF2B5EF4-FFF2-40B4-BE49-F238E27FC236}">
                <a16:creationId xmlns:a16="http://schemas.microsoft.com/office/drawing/2014/main" id="{1287AC97-A8E8-4B45-A50A-3057A88B40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31" name="Freeform 35">
              <a:extLst>
                <a:ext uri="{FF2B5EF4-FFF2-40B4-BE49-F238E27FC236}">
                  <a16:creationId xmlns:a16="http://schemas.microsoft.com/office/drawing/2014/main" id="{57D70AA8-D36C-4DF9-B7D7-4E2C9BEFD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it-IT"/>
            </a:p>
          </p:txBody>
        </p:sp>
        <p:sp>
          <p:nvSpPr>
            <p:cNvPr id="32" name="Freeform 36">
              <a:extLst>
                <a:ext uri="{FF2B5EF4-FFF2-40B4-BE49-F238E27FC236}">
                  <a16:creationId xmlns:a16="http://schemas.microsoft.com/office/drawing/2014/main" id="{74D88556-8C5B-41AF-9FA0-92D2734708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it-IT"/>
            </a:p>
          </p:txBody>
        </p:sp>
        <p:sp>
          <p:nvSpPr>
            <p:cNvPr id="33" name="Freeform 38">
              <a:extLst>
                <a:ext uri="{FF2B5EF4-FFF2-40B4-BE49-F238E27FC236}">
                  <a16:creationId xmlns:a16="http://schemas.microsoft.com/office/drawing/2014/main" id="{17E00558-8912-48C6-8202-D8A2D854B7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it-IT"/>
            </a:p>
          </p:txBody>
        </p:sp>
        <p:sp>
          <p:nvSpPr>
            <p:cNvPr id="34" name="Freeform 39">
              <a:extLst>
                <a:ext uri="{FF2B5EF4-FFF2-40B4-BE49-F238E27FC236}">
                  <a16:creationId xmlns:a16="http://schemas.microsoft.com/office/drawing/2014/main" id="{7E4C092A-90EF-4870-97FC-C2D97FD2CE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it-IT"/>
            </a:p>
          </p:txBody>
        </p:sp>
        <p:sp>
          <p:nvSpPr>
            <p:cNvPr id="35" name="Freeform 40">
              <a:extLst>
                <a:ext uri="{FF2B5EF4-FFF2-40B4-BE49-F238E27FC236}">
                  <a16:creationId xmlns:a16="http://schemas.microsoft.com/office/drawing/2014/main" id="{0C8C091A-4902-4B98-BB6B-AF6FA1174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it-IT"/>
            </a:p>
          </p:txBody>
        </p:sp>
        <p:sp>
          <p:nvSpPr>
            <p:cNvPr id="36" name="Rectangle 41">
              <a:extLst>
                <a:ext uri="{FF2B5EF4-FFF2-40B4-BE49-F238E27FC236}">
                  <a16:creationId xmlns:a16="http://schemas.microsoft.com/office/drawing/2014/main" id="{50C57AA3-5B6E-4C49-9AE3-D130A25404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it-IT"/>
            </a:p>
          </p:txBody>
        </p:sp>
      </p:grpSp>
      <p:sp>
        <p:nvSpPr>
          <p:cNvPr id="38" name="Rectangle 37">
            <a:extLst>
              <a:ext uri="{FF2B5EF4-FFF2-40B4-BE49-F238E27FC236}">
                <a16:creationId xmlns:a16="http://schemas.microsoft.com/office/drawing/2014/main" id="{6D29BE04-4454-4832-B83F-10D001BFF9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ound Diagonal Corner Rectangle 7">
            <a:extLst>
              <a:ext uri="{FF2B5EF4-FFF2-40B4-BE49-F238E27FC236}">
                <a16:creationId xmlns:a16="http://schemas.microsoft.com/office/drawing/2014/main" id="{98714CE9-3C2C-48E1-8B8F-CFB7735C4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72BCD812-853D-1799-B0D4-B970F7EDD90F}"/>
              </a:ext>
            </a:extLst>
          </p:cNvPr>
          <p:cNvSpPr>
            <a:spLocks noGrp="1"/>
          </p:cNvSpPr>
          <p:nvPr>
            <p:ph type="title"/>
          </p:nvPr>
        </p:nvSpPr>
        <p:spPr>
          <a:xfrm>
            <a:off x="1571890" y="2672406"/>
            <a:ext cx="9048219" cy="1092200"/>
          </a:xfrm>
        </p:spPr>
        <p:txBody>
          <a:bodyPr anchor="ctr">
            <a:normAutofit/>
          </a:bodyPr>
          <a:lstStyle/>
          <a:p>
            <a:pPr algn="ctr"/>
            <a:r>
              <a:rPr lang="it-IT" dirty="0" err="1">
                <a:solidFill>
                  <a:srgbClr val="FFFFFF"/>
                </a:solidFill>
              </a:rPr>
              <a:t>Actual</a:t>
            </a:r>
            <a:r>
              <a:rPr lang="it-IT" dirty="0">
                <a:solidFill>
                  <a:srgbClr val="FFFFFF"/>
                </a:solidFill>
              </a:rPr>
              <a:t> </a:t>
            </a:r>
            <a:r>
              <a:rPr lang="it-IT" dirty="0" err="1">
                <a:solidFill>
                  <a:srgbClr val="FFFFFF"/>
                </a:solidFill>
              </a:rPr>
              <a:t>implementation</a:t>
            </a:r>
            <a:r>
              <a:rPr lang="it-IT" dirty="0">
                <a:solidFill>
                  <a:srgbClr val="FFFFFF"/>
                </a:solidFill>
              </a:rPr>
              <a:t> and </a:t>
            </a:r>
            <a:r>
              <a:rPr lang="it-IT" dirty="0" err="1">
                <a:solidFill>
                  <a:srgbClr val="FFFFFF"/>
                </a:solidFill>
              </a:rPr>
              <a:t>achieved</a:t>
            </a:r>
            <a:r>
              <a:rPr lang="it-IT" dirty="0">
                <a:solidFill>
                  <a:srgbClr val="FFFFFF"/>
                </a:solidFill>
              </a:rPr>
              <a:t> goals</a:t>
            </a:r>
          </a:p>
        </p:txBody>
      </p:sp>
    </p:spTree>
    <p:extLst>
      <p:ext uri="{BB962C8B-B14F-4D97-AF65-F5344CB8AC3E}">
        <p14:creationId xmlns:p14="http://schemas.microsoft.com/office/powerpoint/2010/main" val="13357910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E7BBA9A3-AEBC-AB89-8A17-880443368170}"/>
              </a:ext>
            </a:extLst>
          </p:cNvPr>
          <p:cNvSpPr>
            <a:spLocks noGrp="1"/>
          </p:cNvSpPr>
          <p:nvPr>
            <p:ph type="title"/>
          </p:nvPr>
        </p:nvSpPr>
        <p:spPr>
          <a:xfrm>
            <a:off x="1019015" y="1093787"/>
            <a:ext cx="3059969" cy="4697413"/>
          </a:xfrm>
        </p:spPr>
        <p:txBody>
          <a:bodyPr>
            <a:normAutofit/>
          </a:bodyPr>
          <a:lstStyle/>
          <a:p>
            <a:r>
              <a:rPr lang="it-IT" dirty="0"/>
              <a:t>Environment</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A1733E62-7B1E-231C-E034-7EE714A779DF}"/>
              </a:ext>
            </a:extLst>
          </p:cNvPr>
          <p:cNvSpPr>
            <a:spLocks noGrp="1"/>
          </p:cNvSpPr>
          <p:nvPr>
            <p:ph idx="1"/>
          </p:nvPr>
        </p:nvSpPr>
        <p:spPr>
          <a:xfrm>
            <a:off x="4940836" y="456406"/>
            <a:ext cx="6965414" cy="4697413"/>
          </a:xfrm>
        </p:spPr>
        <p:txBody>
          <a:bodyPr>
            <a:normAutofit/>
          </a:bodyPr>
          <a:lstStyle/>
          <a:p>
            <a:pPr marL="0" indent="0">
              <a:buNone/>
            </a:pP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proposed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used</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original</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maze</a:t>
            </a:r>
            <a:r>
              <a:rPr lang="it-IT" sz="2200" dirty="0">
                <a:latin typeface="Calibri Light" panose="020F0302020204030204" pitchFamily="34" charset="0"/>
                <a:ea typeface="Calibri Light" panose="020F0302020204030204" pitchFamily="34" charset="0"/>
                <a:cs typeface="Calibri Light" panose="020F0302020204030204" pitchFamily="34" charset="0"/>
              </a:rPr>
              <a:t> for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all</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training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phases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instructed</a:t>
            </a:r>
            <a:r>
              <a:rPr lang="it-IT" sz="2200" dirty="0">
                <a:latin typeface="Calibri Light" panose="020F0302020204030204" pitchFamily="34" charset="0"/>
                <a:ea typeface="Calibri Light" panose="020F0302020204030204" pitchFamily="34" charset="0"/>
                <a:cs typeface="Calibri Light" panose="020F0302020204030204" pitchFamily="34" charset="0"/>
              </a:rPr>
              <a:t> by the professor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also</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created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two</a:t>
            </a:r>
            <a:r>
              <a:rPr lang="it-IT" sz="2200" dirty="0">
                <a:latin typeface="Calibri Light" panose="020F0302020204030204" pitchFamily="34" charset="0"/>
                <a:ea typeface="Calibri Light" panose="020F0302020204030204" pitchFamily="34" charset="0"/>
                <a:cs typeface="Calibri Light" panose="020F0302020204030204" pitchFamily="34" charset="0"/>
              </a:rPr>
              <a:t> more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mazes</a:t>
            </a:r>
            <a:r>
              <a:rPr lang="it-IT" sz="2200" dirty="0">
                <a:latin typeface="Calibri Light" panose="020F0302020204030204" pitchFamily="34" charset="0"/>
                <a:ea typeface="Calibri Light" panose="020F0302020204030204" pitchFamily="34" charset="0"/>
                <a:cs typeface="Calibri Light" panose="020F0302020204030204" pitchFamily="34" charset="0"/>
              </a:rPr>
              <a:t> with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aim</a:t>
            </a:r>
            <a:r>
              <a:rPr lang="it-IT" sz="2200" dirty="0">
                <a:latin typeface="Calibri Light" panose="020F0302020204030204" pitchFamily="34" charset="0"/>
                <a:ea typeface="Calibri Light" panose="020F0302020204030204" pitchFamily="34" charset="0"/>
                <a:cs typeface="Calibri Light" panose="020F0302020204030204" pitchFamily="34" charset="0"/>
              </a:rPr>
              <a:t> of testing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generalization</a:t>
            </a:r>
            <a:r>
              <a:rPr lang="it-IT" sz="2200" dirty="0">
                <a:latin typeface="Calibri Light" panose="020F0302020204030204" pitchFamily="34" charset="0"/>
                <a:ea typeface="Calibri Light" panose="020F0302020204030204" pitchFamily="34" charset="0"/>
                <a:cs typeface="Calibri Light" panose="020F0302020204030204" pitchFamily="34" charset="0"/>
              </a:rPr>
              <a:t> of the training: one specular to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original</a:t>
            </a:r>
            <a:r>
              <a:rPr lang="it-IT" sz="2200" dirty="0">
                <a:latin typeface="Calibri Light" panose="020F0302020204030204" pitchFamily="34" charset="0"/>
                <a:ea typeface="Calibri Light" panose="020F0302020204030204" pitchFamily="34" charset="0"/>
                <a:cs typeface="Calibri Light" panose="020F0302020204030204" pitchFamily="34" charset="0"/>
              </a:rPr>
              <a:t> one and a more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complex</a:t>
            </a:r>
            <a:r>
              <a:rPr lang="it-IT" sz="2200" dirty="0">
                <a:latin typeface="Calibri Light" panose="020F0302020204030204" pitchFamily="34" charset="0"/>
                <a:ea typeface="Calibri Light" panose="020F0302020204030204" pitchFamily="34" charset="0"/>
                <a:cs typeface="Calibri Light" panose="020F0302020204030204" pitchFamily="34" charset="0"/>
              </a:rPr>
              <a:t> one,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but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sadly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didn’t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get</a:t>
            </a:r>
            <a:r>
              <a:rPr lang="it-IT" sz="2200" dirty="0">
                <a:latin typeface="Calibri Light" panose="020F0302020204030204" pitchFamily="34" charset="0"/>
                <a:ea typeface="Calibri Light" panose="020F0302020204030204" pitchFamily="34" charset="0"/>
                <a:cs typeface="Calibri Light" panose="020F0302020204030204" pitchFamily="34" charset="0"/>
              </a:rPr>
              <a:t> to use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them</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training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never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that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successful</a:t>
            </a:r>
            <a:r>
              <a:rPr lang="it-IT" sz="2200" dirty="0">
                <a:latin typeface="Calibri Light" panose="020F0302020204030204" pitchFamily="34" charset="0"/>
                <a:ea typeface="Calibri Light" panose="020F0302020204030204" pitchFamily="34" charset="0"/>
                <a:cs typeface="Calibri Light" panose="020F0302020204030204" pitchFamily="34" charset="0"/>
              </a:rPr>
              <a:t>.</a:t>
            </a:r>
          </a:p>
        </p:txBody>
      </p:sp>
      <p:pic>
        <p:nvPicPr>
          <p:cNvPr id="5" name="Immagine 4" descr="Immagine che contiene Policromia, schermata, pixel, design&#10;&#10;Il contenuto generato dall'IA potrebbe non essere corretto.">
            <a:extLst>
              <a:ext uri="{FF2B5EF4-FFF2-40B4-BE49-F238E27FC236}">
                <a16:creationId xmlns:a16="http://schemas.microsoft.com/office/drawing/2014/main" id="{3FFFE290-580F-7645-79E8-95A3746DBD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89330" y="3672491"/>
            <a:ext cx="2672470" cy="2962656"/>
          </a:xfrm>
          <a:prstGeom prst="rect">
            <a:avLst/>
          </a:prstGeom>
        </p:spPr>
      </p:pic>
    </p:spTree>
    <p:extLst>
      <p:ext uri="{BB962C8B-B14F-4D97-AF65-F5344CB8AC3E}">
        <p14:creationId xmlns:p14="http://schemas.microsoft.com/office/powerpoint/2010/main" val="4280394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37ED93E6-67B1-2E72-A41D-987A208D9AEF}"/>
              </a:ext>
            </a:extLst>
          </p:cNvPr>
          <p:cNvSpPr>
            <a:spLocks noGrp="1"/>
          </p:cNvSpPr>
          <p:nvPr>
            <p:ph type="title"/>
          </p:nvPr>
        </p:nvSpPr>
        <p:spPr>
          <a:xfrm>
            <a:off x="1019015" y="1093787"/>
            <a:ext cx="3059969" cy="4697413"/>
          </a:xfrm>
        </p:spPr>
        <p:txBody>
          <a:bodyPr>
            <a:normAutofit/>
          </a:bodyPr>
          <a:lstStyle/>
          <a:p>
            <a:r>
              <a:rPr lang="it-IT" dirty="0" err="1"/>
              <a:t>tASK</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EADACF79-FD26-5EF3-8E10-C6025AC22887}"/>
              </a:ext>
            </a:extLst>
          </p:cNvPr>
          <p:cNvSpPr>
            <a:spLocks noGrp="1"/>
          </p:cNvSpPr>
          <p:nvPr>
            <p:ph idx="1"/>
          </p:nvPr>
        </p:nvSpPr>
        <p:spPr>
          <a:xfrm>
            <a:off x="4855112" y="1093788"/>
            <a:ext cx="7132101" cy="4697413"/>
          </a:xfrm>
        </p:spPr>
        <p:txBody>
          <a:bodyPr>
            <a:normAutofit/>
          </a:bodyPr>
          <a:lstStyle/>
          <a:p>
            <a:pPr marL="0" indent="0">
              <a:buNone/>
            </a:pPr>
            <a:r>
              <a:rPr lang="it-IT" sz="2200" dirty="0" err="1">
                <a:latin typeface="Calibri Light" panose="020F0302020204030204" pitchFamily="34" charset="0"/>
                <a:ea typeface="Calibri Light" panose="020F0302020204030204" pitchFamily="34" charset="0"/>
                <a:cs typeface="Calibri Light" panose="020F0302020204030204" pitchFamily="34" charset="0"/>
              </a:rPr>
              <a:t>Unfortunately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didn’t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fulfill</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original</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proposed</a:t>
            </a:r>
            <a:r>
              <a:rPr lang="it-IT" sz="2200" dirty="0">
                <a:latin typeface="Calibri Light" panose="020F0302020204030204" pitchFamily="34" charset="0"/>
                <a:ea typeface="Calibri Light" panose="020F0302020204030204" pitchFamily="34" charset="0"/>
                <a:cs typeface="Calibri Light" panose="020F0302020204030204" pitchFamily="34" charset="0"/>
              </a:rPr>
              <a:t> goal: the robot, in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all</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tested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configurations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had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serious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issues</a:t>
            </a:r>
            <a:r>
              <a:rPr lang="it-IT" sz="2200" dirty="0">
                <a:latin typeface="Calibri Light" panose="020F0302020204030204" pitchFamily="34" charset="0"/>
                <a:ea typeface="Calibri Light" panose="020F0302020204030204" pitchFamily="34" charset="0"/>
                <a:cs typeface="Calibri Light" panose="020F0302020204030204" pitchFamily="34" charset="0"/>
              </a:rPr>
              <a:t> with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navigation</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especially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towards</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medium goal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provided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which</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shouldn’t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have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been</a:t>
            </a:r>
            <a:r>
              <a:rPr lang="it-IT" sz="2200" dirty="0">
                <a:latin typeface="Calibri Light" panose="020F0302020204030204" pitchFamily="34" charset="0"/>
                <a:ea typeface="Calibri Light" panose="020F0302020204030204" pitchFamily="34" charset="0"/>
                <a:cs typeface="Calibri Light" panose="020F0302020204030204" pitchFamily="34" charset="0"/>
              </a:rPr>
              <a:t>, in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our</a:t>
            </a:r>
            <a:r>
              <a:rPr lang="it-IT" sz="2200" dirty="0">
                <a:latin typeface="Calibri Light" panose="020F0302020204030204" pitchFamily="34" charset="0"/>
                <a:ea typeface="Calibri Light" panose="020F0302020204030204" pitchFamily="34" charset="0"/>
                <a:cs typeface="Calibri Light" panose="020F0302020204030204" pitchFamily="34" charset="0"/>
              </a:rPr>
              <a:t> opinion,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too</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difficult</a:t>
            </a:r>
            <a:r>
              <a:rPr lang="it-IT" sz="2200" dirty="0">
                <a:latin typeface="Calibri Light" panose="020F0302020204030204" pitchFamily="34" charset="0"/>
                <a:ea typeface="Calibri Light" panose="020F0302020204030204" pitchFamily="34" charset="0"/>
                <a:cs typeface="Calibri Light" panose="020F0302020204030204" pitchFamily="34" charset="0"/>
              </a:rPr>
              <a:t> to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reach</a:t>
            </a:r>
            <a:r>
              <a:rPr lang="it-IT" sz="2200" dirty="0">
                <a:latin typeface="Calibri Light" panose="020F0302020204030204" pitchFamily="34" charset="0"/>
                <a:ea typeface="Calibri Light" panose="020F0302020204030204" pitchFamily="34" charset="0"/>
                <a:cs typeface="Calibri Light" panose="020F0302020204030204" pitchFamily="34" charset="0"/>
              </a:rPr>
              <a:t>).</a:t>
            </a:r>
          </a:p>
          <a:p>
            <a:pPr marL="0" indent="0">
              <a:buNone/>
            </a:pPr>
            <a:r>
              <a:rPr lang="it-IT" sz="2200" dirty="0" err="1">
                <a:latin typeface="Calibri Light" panose="020F0302020204030204" pitchFamily="34" charset="0"/>
                <a:ea typeface="Calibri Light" panose="020F0302020204030204" pitchFamily="34" charset="0"/>
                <a:cs typeface="Calibri Light" panose="020F0302020204030204" pitchFamily="34" charset="0"/>
              </a:rPr>
              <a:t>This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was</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primary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concern</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that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didn’t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allow</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us</a:t>
            </a:r>
            <a:r>
              <a:rPr lang="it-IT" sz="2200" dirty="0">
                <a:latin typeface="Calibri Light" panose="020F0302020204030204" pitchFamily="34" charset="0"/>
                <a:ea typeface="Calibri Light" panose="020F0302020204030204" pitchFamily="34" charset="0"/>
                <a:cs typeface="Calibri Light" panose="020F0302020204030204" pitchFamily="34" charset="0"/>
              </a:rPr>
              <a:t> to continue with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actual</a:t>
            </a:r>
            <a:r>
              <a:rPr lang="it-IT" sz="2200" dirty="0">
                <a:latin typeface="Calibri Light" panose="020F0302020204030204" pitchFamily="34" charset="0"/>
                <a:ea typeface="Calibri Light" panose="020F0302020204030204" pitchFamily="34" charset="0"/>
                <a:cs typeface="Calibri Light" panose="020F0302020204030204" pitchFamily="34" charset="0"/>
              </a:rPr>
              <a:t> testing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phase</a:t>
            </a:r>
            <a:r>
              <a:rPr lang="it-IT" sz="2200" dirty="0">
                <a:latin typeface="Calibri Light" panose="020F0302020204030204" pitchFamily="34" charset="0"/>
                <a:ea typeface="Calibri Light" panose="020F0302020204030204" pitchFamily="34" charset="0"/>
                <a:cs typeface="Calibri Light" panose="020F0302020204030204" pitchFamily="34" charset="0"/>
              </a:rPr>
              <a:t>.</a:t>
            </a:r>
          </a:p>
        </p:txBody>
      </p:sp>
    </p:spTree>
    <p:extLst>
      <p:ext uri="{BB962C8B-B14F-4D97-AF65-F5344CB8AC3E}">
        <p14:creationId xmlns:p14="http://schemas.microsoft.com/office/powerpoint/2010/main" val="2703687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Group 45">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47"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48"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9"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0"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1"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2"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3"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4"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5"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6"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7"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8"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59"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0"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1"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2"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3"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64"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5"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6"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7"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8"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9"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70"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71"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72"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73"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44A7DDBA-6D84-E73D-438C-094ED8314D01}"/>
              </a:ext>
            </a:extLst>
          </p:cNvPr>
          <p:cNvSpPr>
            <a:spLocks noGrp="1"/>
          </p:cNvSpPr>
          <p:nvPr>
            <p:ph type="title"/>
          </p:nvPr>
        </p:nvSpPr>
        <p:spPr>
          <a:xfrm>
            <a:off x="1019015" y="1093787"/>
            <a:ext cx="3059969" cy="4697413"/>
          </a:xfrm>
        </p:spPr>
        <p:txBody>
          <a:bodyPr>
            <a:normAutofit/>
          </a:bodyPr>
          <a:lstStyle/>
          <a:p>
            <a:r>
              <a:rPr lang="it-IT" dirty="0"/>
              <a:t>INPUT AND SENSOR</a:t>
            </a:r>
          </a:p>
        </p:txBody>
      </p:sp>
      <p:sp useBgFill="1">
        <p:nvSpPr>
          <p:cNvPr id="75"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CC6B875C-65F9-83E2-9ED4-76D4332C1769}"/>
              </a:ext>
            </a:extLst>
          </p:cNvPr>
          <p:cNvSpPr>
            <a:spLocks noGrp="1"/>
          </p:cNvSpPr>
          <p:nvPr>
            <p:ph idx="1"/>
          </p:nvPr>
        </p:nvSpPr>
        <p:spPr>
          <a:xfrm>
            <a:off x="4855112" y="1093788"/>
            <a:ext cx="7113051" cy="4697413"/>
          </a:xfrm>
        </p:spPr>
        <p:txBody>
          <a:bodyPr>
            <a:normAutofit/>
          </a:bodyPr>
          <a:lstStyle/>
          <a:p>
            <a:pPr marL="0" indent="0">
              <a:buNone/>
            </a:pP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tried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modifying</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two</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things</a:t>
            </a:r>
            <a:r>
              <a:rPr lang="it-IT" sz="2200" dirty="0">
                <a:latin typeface="Calibri Light" panose="020F0302020204030204" pitchFamily="34" charset="0"/>
                <a:ea typeface="Calibri Light" panose="020F0302020204030204" pitchFamily="34" charset="0"/>
                <a:cs typeface="Calibri Light" panose="020F0302020204030204" pitchFamily="34" charset="0"/>
              </a:rPr>
              <a:t> from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original</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proposition</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number</a:t>
            </a:r>
            <a:r>
              <a:rPr lang="it-IT" sz="2200" dirty="0">
                <a:latin typeface="Calibri Light" panose="020F0302020204030204" pitchFamily="34" charset="0"/>
                <a:ea typeface="Calibri Light" panose="020F0302020204030204" pitchFamily="34" charset="0"/>
                <a:cs typeface="Calibri Light" panose="020F0302020204030204" pitchFamily="34" charset="0"/>
              </a:rPr>
              <a:t> of readings,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decreased</a:t>
            </a:r>
            <a:r>
              <a:rPr lang="it-IT" sz="2200" dirty="0">
                <a:latin typeface="Calibri Light" panose="020F0302020204030204" pitchFamily="34" charset="0"/>
                <a:ea typeface="Calibri Light" panose="020F0302020204030204" pitchFamily="34" charset="0"/>
                <a:cs typeface="Calibri Light" panose="020F0302020204030204" pitchFamily="34" charset="0"/>
              </a:rPr>
              <a:t> from 24 to 18 (one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every</a:t>
            </a:r>
            <a:r>
              <a:rPr lang="it-IT" sz="2200" dirty="0">
                <a:latin typeface="Calibri Light" panose="020F0302020204030204" pitchFamily="34" charset="0"/>
                <a:ea typeface="Calibri Light" panose="020F0302020204030204" pitchFamily="34" charset="0"/>
                <a:cs typeface="Calibri Light" panose="020F0302020204030204" pitchFamily="34" charset="0"/>
              </a:rPr>
              <a:t> 20°) and the linear and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angular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movement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velocity</a:t>
            </a:r>
            <a:r>
              <a:rPr lang="it-IT" sz="2200" dirty="0">
                <a:latin typeface="Calibri Light" panose="020F0302020204030204" pitchFamily="34" charset="0"/>
                <a:ea typeface="Calibri Light" panose="020F0302020204030204" pitchFamily="34" charset="0"/>
                <a:cs typeface="Calibri Light" panose="020F0302020204030204" pitchFamily="34" charset="0"/>
              </a:rPr>
              <a:t>; with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former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didn’t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notice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significant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changes</a:t>
            </a:r>
            <a:r>
              <a:rPr lang="it-IT" sz="2200" dirty="0">
                <a:latin typeface="Calibri Light" panose="020F0302020204030204" pitchFamily="34" charset="0"/>
                <a:ea typeface="Calibri Light" panose="020F0302020204030204" pitchFamily="34" charset="0"/>
                <a:cs typeface="Calibri Light" panose="020F0302020204030204" pitchFamily="34" charset="0"/>
              </a:rPr>
              <a:t> in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results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but</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latter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helped</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robot to do more precise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movements</a:t>
            </a:r>
            <a:r>
              <a:rPr lang="it-IT" sz="2200" dirty="0">
                <a:latin typeface="Calibri Light" panose="020F0302020204030204" pitchFamily="34" charset="0"/>
                <a:ea typeface="Calibri Light" panose="020F0302020204030204" pitchFamily="34" charset="0"/>
                <a:cs typeface="Calibri Light" panose="020F0302020204030204" pitchFamily="34" charset="0"/>
              </a:rPr>
              <a:t> and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apparently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marginally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lowered</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collision</a:t>
            </a:r>
            <a:r>
              <a:rPr lang="it-IT" sz="2200" dirty="0">
                <a:latin typeface="Calibri Light" panose="020F0302020204030204" pitchFamily="34" charset="0"/>
                <a:ea typeface="Calibri Light" panose="020F0302020204030204" pitchFamily="34" charset="0"/>
                <a:cs typeface="Calibri Light" panose="020F0302020204030204" pitchFamily="34" charset="0"/>
              </a:rPr>
              <a:t> rate in some of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tests</a:t>
            </a:r>
            <a:r>
              <a:rPr lang="it-IT" sz="2200" dirty="0">
                <a:latin typeface="Calibri Light" panose="020F0302020204030204" pitchFamily="34" charset="0"/>
                <a:ea typeface="Calibri Light" panose="020F0302020204030204" pitchFamily="34" charset="0"/>
                <a:cs typeface="Calibri Light" panose="020F0302020204030204" pitchFamily="34" charset="0"/>
              </a:rPr>
              <a:t>.</a:t>
            </a:r>
          </a:p>
        </p:txBody>
      </p:sp>
    </p:spTree>
    <p:extLst>
      <p:ext uri="{BB962C8B-B14F-4D97-AF65-F5344CB8AC3E}">
        <p14:creationId xmlns:p14="http://schemas.microsoft.com/office/powerpoint/2010/main" val="1659802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EB591D41-5F46-B45D-8C2A-12EDE5ED83BA}"/>
              </a:ext>
            </a:extLst>
          </p:cNvPr>
          <p:cNvSpPr>
            <a:spLocks noGrp="1"/>
          </p:cNvSpPr>
          <p:nvPr>
            <p:ph type="title"/>
          </p:nvPr>
        </p:nvSpPr>
        <p:spPr>
          <a:xfrm>
            <a:off x="1019015" y="1093787"/>
            <a:ext cx="3059969" cy="4697413"/>
          </a:xfrm>
        </p:spPr>
        <p:txBody>
          <a:bodyPr>
            <a:normAutofit/>
          </a:bodyPr>
          <a:lstStyle/>
          <a:p>
            <a:r>
              <a:rPr lang="it-IT" dirty="0" err="1"/>
              <a:t>Drl</a:t>
            </a:r>
            <a:r>
              <a:rPr lang="it-IT" dirty="0"/>
              <a:t> </a:t>
            </a:r>
            <a:r>
              <a:rPr lang="it-IT" dirty="0" err="1"/>
              <a:t>algorithm</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79A534F2-0765-C205-86AA-544D8D05EB16}"/>
                  </a:ext>
                </a:extLst>
              </p:cNvPr>
              <p:cNvSpPr>
                <a:spLocks noGrp="1"/>
              </p:cNvSpPr>
              <p:nvPr>
                <p:ph idx="1"/>
              </p:nvPr>
            </p:nvSpPr>
            <p:spPr>
              <a:xfrm>
                <a:off x="4855112" y="1093788"/>
                <a:ext cx="7051138" cy="4697413"/>
              </a:xfrm>
            </p:spPr>
            <p:txBody>
              <a:bodyPr>
                <a:normAutofit/>
              </a:bodyPr>
              <a:lstStyle/>
              <a:p>
                <a:pPr marL="0" indent="0">
                  <a:buNone/>
                </a:pPr>
                <a:r>
                  <a:rPr lang="it-IT" sz="2200" dirty="0" err="1">
                    <a:latin typeface="Calibri Light" panose="020F0302020204030204" pitchFamily="34" charset="0"/>
                    <a:ea typeface="Calibri Light" panose="020F0302020204030204" pitchFamily="34" charset="0"/>
                    <a:cs typeface="Calibri Light" panose="020F0302020204030204" pitchFamily="34" charset="0"/>
                  </a:rPr>
                  <a:t>Since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using</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normal</a:t>
                </a:r>
                <a:r>
                  <a:rPr lang="it-IT" sz="2200" dirty="0">
                    <a:latin typeface="Calibri Light" panose="020F0302020204030204" pitchFamily="34" charset="0"/>
                    <a:ea typeface="Calibri Light" panose="020F0302020204030204" pitchFamily="34" charset="0"/>
                    <a:cs typeface="Calibri Light" panose="020F0302020204030204" pitchFamily="34" charset="0"/>
                  </a:rPr>
                  <a:t> DQN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provided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very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poor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results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opted</a:t>
                </a:r>
                <a:r>
                  <a:rPr lang="it-IT" sz="2200" dirty="0">
                    <a:latin typeface="Calibri Light" panose="020F0302020204030204" pitchFamily="34" charset="0"/>
                    <a:ea typeface="Calibri Light" panose="020F0302020204030204" pitchFamily="34" charset="0"/>
                    <a:cs typeface="Calibri Light" panose="020F0302020204030204" pitchFamily="34" charset="0"/>
                  </a:rPr>
                  <a:t> to switch to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another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version</a:t>
                </a:r>
                <a:r>
                  <a:rPr lang="it-IT" sz="2200" dirty="0">
                    <a:latin typeface="Calibri Light" panose="020F0302020204030204" pitchFamily="34" charset="0"/>
                    <a:ea typeface="Calibri Light" panose="020F0302020204030204" pitchFamily="34" charset="0"/>
                    <a:cs typeface="Calibri Light" panose="020F0302020204030204" pitchFamily="34" charset="0"/>
                  </a:rPr>
                  <a:t> of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called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DuelingDQN</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this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version</a:t>
                </a:r>
                <a:r>
                  <a:rPr lang="it-IT" sz="2200" dirty="0">
                    <a:latin typeface="Calibri Light" panose="020F0302020204030204" pitchFamily="34" charset="0"/>
                    <a:ea typeface="Calibri Light" panose="020F0302020204030204" pitchFamily="34" charset="0"/>
                    <a:cs typeface="Calibri Light" panose="020F0302020204030204" pitchFamily="34" charset="0"/>
                  </a:rPr>
                  <a:t> works by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separating</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state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value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14:m>
                  <m:oMath xmlns:m="http://schemas.openxmlformats.org/officeDocument/2006/math">
                    <m:r>
                      <a:rPr lang="it-IT" sz="2200" i="1">
                        <a:latin typeface="Cambria Math" panose="02040503050406030204" pitchFamily="18" charset="0"/>
                      </a:rPr>
                      <m:t>𝑉</m:t>
                    </m:r>
                    <m:d>
                      <m:dPr>
                        <m:ctrlPr>
                          <a:rPr lang="ar-AE" sz="2200" i="1">
                            <a:latin typeface="Cambria Math" panose="02040503050406030204" pitchFamily="18" charset="0"/>
                          </a:rPr>
                        </m:ctrlPr>
                      </m:dPr>
                      <m:e>
                        <m:r>
                          <a:rPr lang="ar-AE" sz="2200" i="1">
                            <a:latin typeface="Cambria Math" panose="02040503050406030204" pitchFamily="18" charset="0"/>
                          </a:rPr>
                          <m:t>𝑠</m:t>
                        </m:r>
                      </m:e>
                    </m:d>
                  </m:oMath>
                </a14:m>
                <a:r>
                  <a:rPr lang="it-IT" sz="2200" dirty="0">
                    <a:latin typeface="Calibri Light" panose="020F0302020204030204" pitchFamily="34" charset="0"/>
                    <a:ea typeface="Calibri Light" panose="020F0302020204030204" pitchFamily="34" charset="0"/>
                    <a:cs typeface="Calibri Light" panose="020F0302020204030204" pitchFamily="34" charset="0"/>
                  </a:rPr>
                  <a:t> from the action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advantage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14:m>
                  <m:oMath xmlns:m="http://schemas.openxmlformats.org/officeDocument/2006/math">
                    <m:r>
                      <a:rPr lang="it-IT" sz="2200" i="1">
                        <a:latin typeface="Cambria Math" panose="02040503050406030204" pitchFamily="18" charset="0"/>
                      </a:rPr>
                      <m:t>𝐴</m:t>
                    </m:r>
                    <m:d>
                      <m:dPr>
                        <m:sepChr m:val=","/>
                        <m:ctrlPr>
                          <a:rPr lang="ar-AE" sz="2200" i="1">
                            <a:latin typeface="Cambria Math" panose="02040503050406030204" pitchFamily="18" charset="0"/>
                          </a:rPr>
                        </m:ctrlPr>
                      </m:dPr>
                      <m:e>
                        <m:r>
                          <a:rPr lang="ar-AE" sz="2200" i="1">
                            <a:latin typeface="Cambria Math" panose="02040503050406030204" pitchFamily="18" charset="0"/>
                          </a:rPr>
                          <m:t>𝑠</m:t>
                        </m:r>
                      </m:e>
                      <m:e>
                        <m:r>
                          <a:rPr lang="ar-AE" sz="2200" i="1">
                            <a:latin typeface="Cambria Math" panose="02040503050406030204" pitchFamily="18" charset="0"/>
                          </a:rPr>
                          <m:t>𝑎</m:t>
                        </m:r>
                      </m:e>
                    </m:d>
                  </m:oMath>
                </a14:m>
                <a:r>
                  <a:rPr lang="ar-AE"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a:latin typeface="Calibri Light" panose="020F0302020204030204" pitchFamily="34" charset="0"/>
                    <a:ea typeface="Calibri Light" panose="020F0302020204030204" pitchFamily="34" charset="0"/>
                    <a:cs typeface="Calibri Light" panose="020F0302020204030204" pitchFamily="34" charset="0"/>
                  </a:rPr>
                  <a:t>and making the learning more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stable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when</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many</a:t>
                </a:r>
                <a:r>
                  <a:rPr lang="it-IT" sz="2200" dirty="0">
                    <a:latin typeface="Calibri Light" panose="020F0302020204030204" pitchFamily="34" charset="0"/>
                    <a:ea typeface="Calibri Light" panose="020F0302020204030204" pitchFamily="34" charset="0"/>
                    <a:cs typeface="Calibri Light" panose="020F0302020204030204" pitchFamily="34" charset="0"/>
                  </a:rPr>
                  <a:t> actions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have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similar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effects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in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our</a:t>
                </a:r>
                <a:r>
                  <a:rPr lang="it-IT" sz="2200" dirty="0">
                    <a:latin typeface="Calibri Light" panose="020F0302020204030204" pitchFamily="34" charset="0"/>
                    <a:ea typeface="Calibri Light" panose="020F0302020204030204" pitchFamily="34" charset="0"/>
                    <a:cs typeface="Calibri Light" panose="020F0302020204030204" pitchFamily="34" charset="0"/>
                  </a:rPr>
                  <a:t> case.</a:t>
                </a:r>
              </a:p>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improvement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noticeable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success rate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climbed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significantly</a:t>
                </a:r>
                <a:r>
                  <a:rPr lang="it-IT" sz="2200" dirty="0">
                    <a:latin typeface="Calibri Light" panose="020F0302020204030204" pitchFamily="34" charset="0"/>
                    <a:ea typeface="Calibri Light" panose="020F0302020204030204" pitchFamily="34" charset="0"/>
                    <a:cs typeface="Calibri Light" panose="020F0302020204030204" pitchFamily="34" charset="0"/>
                  </a:rPr>
                  <a:t> in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final</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batches</a:t>
                </a:r>
                <a:r>
                  <a:rPr lang="it-IT" sz="2200" dirty="0">
                    <a:latin typeface="Calibri Light" panose="020F0302020204030204" pitchFamily="34" charset="0"/>
                    <a:ea typeface="Calibri Light" panose="020F0302020204030204" pitchFamily="34" charset="0"/>
                    <a:cs typeface="Calibri Light" panose="020F0302020204030204" pitchFamily="34" charset="0"/>
                  </a:rPr>
                  <a:t> of the training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episodes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but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this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didn’t</a:t>
                </a:r>
                <a:r>
                  <a:rPr lang="it-IT" sz="2200" dirty="0">
                    <a:latin typeface="Calibri Light" panose="020F0302020204030204" pitchFamily="34" charset="0"/>
                    <a:ea typeface="Calibri Light" panose="020F0302020204030204" pitchFamily="34" charset="0"/>
                    <a:cs typeface="Calibri Light" panose="020F0302020204030204" pitchFamily="34" charset="0"/>
                  </a:rPr>
                  <a:t> solve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main</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problem</a:t>
                </a:r>
                <a:r>
                  <a:rPr lang="it-IT" sz="2200" dirty="0">
                    <a:latin typeface="Calibri Light" panose="020F0302020204030204" pitchFamily="34" charset="0"/>
                    <a:ea typeface="Calibri Light" panose="020F0302020204030204" pitchFamily="34" charset="0"/>
                    <a:cs typeface="Calibri Light" panose="020F0302020204030204" pitchFamily="34" charset="0"/>
                  </a:rPr>
                  <a:t> of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navigation</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towards</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medium goal.</a:t>
                </a:r>
              </a:p>
            </p:txBody>
          </p:sp>
        </mc:Choice>
        <mc:Fallback xmlns="">
          <p:sp>
            <p:nvSpPr>
              <p:cNvPr id="3" name="Segnaposto contenuto 2">
                <a:extLst>
                  <a:ext uri="{FF2B5EF4-FFF2-40B4-BE49-F238E27FC236}">
                    <a16:creationId xmlns:a16="http://schemas.microsoft.com/office/drawing/2014/main" id="{79A534F2-0765-C205-86AA-544D8D05EB16}"/>
                  </a:ext>
                </a:extLst>
              </p:cNvPr>
              <p:cNvSpPr>
                <a:spLocks noGrp="1" noRot="1" noChangeAspect="1" noMove="1" noResize="1" noEditPoints="1" noAdjustHandles="1" noChangeArrowheads="1" noChangeShapeType="1" noTextEdit="1"/>
              </p:cNvSpPr>
              <p:nvPr>
                <p:ph idx="1"/>
              </p:nvPr>
            </p:nvSpPr>
            <p:spPr>
              <a:xfrm>
                <a:off x="4855112" y="1093788"/>
                <a:ext cx="7051138" cy="4697413"/>
              </a:xfrm>
              <a:blipFill>
                <a:blip r:embed="rId2"/>
                <a:stretch>
                  <a:fillRect l="-1124" r="-864"/>
                </a:stretch>
              </a:blipFill>
            </p:spPr>
            <p:txBody>
              <a:bodyPr/>
              <a:lstStyle/>
              <a:p>
                <a:r>
                  <a:rPr lang="it-IT">
                    <a:noFill/>
                  </a:rPr>
                  <a:t> </a:t>
                </a:r>
              </a:p>
            </p:txBody>
          </p:sp>
        </mc:Fallback>
      </mc:AlternateContent>
    </p:spTree>
    <p:extLst>
      <p:ext uri="{BB962C8B-B14F-4D97-AF65-F5344CB8AC3E}">
        <p14:creationId xmlns:p14="http://schemas.microsoft.com/office/powerpoint/2010/main" val="18511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23D5F361-AB69-B79A-704F-CDA2FB1C46D4}"/>
              </a:ext>
            </a:extLst>
          </p:cNvPr>
          <p:cNvSpPr>
            <a:spLocks noGrp="1"/>
          </p:cNvSpPr>
          <p:nvPr>
            <p:ph type="title"/>
          </p:nvPr>
        </p:nvSpPr>
        <p:spPr>
          <a:xfrm>
            <a:off x="1019015" y="1093787"/>
            <a:ext cx="3059969" cy="4697413"/>
          </a:xfrm>
        </p:spPr>
        <p:txBody>
          <a:bodyPr>
            <a:normAutofit/>
          </a:bodyPr>
          <a:lstStyle/>
          <a:p>
            <a:r>
              <a:rPr lang="it-IT" dirty="0" err="1"/>
              <a:t>Reward</a:t>
            </a:r>
            <a:r>
              <a:rPr lang="it-IT" dirty="0"/>
              <a:t> </a:t>
            </a:r>
            <a:r>
              <a:rPr lang="it-IT" dirty="0" err="1"/>
              <a:t>structure</a:t>
            </a:r>
            <a:r>
              <a:rPr lang="it-IT" dirty="0"/>
              <a:t> and curriculum</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C682DFD2-F728-8086-BBE0-D56A8614E7FC}"/>
              </a:ext>
            </a:extLst>
          </p:cNvPr>
          <p:cNvSpPr>
            <a:spLocks noGrp="1"/>
          </p:cNvSpPr>
          <p:nvPr>
            <p:ph idx="1"/>
          </p:nvPr>
        </p:nvSpPr>
        <p:spPr>
          <a:xfrm>
            <a:off x="4855112" y="1093788"/>
            <a:ext cx="7051137" cy="4697413"/>
          </a:xfrm>
        </p:spPr>
        <p:txBody>
          <a:bodyPr>
            <a:normAutofit fontScale="92500"/>
          </a:bodyPr>
          <a:lstStyle/>
          <a:p>
            <a:pPr marL="0" indent="0">
              <a:buNone/>
            </a:pPr>
            <a:r>
              <a:rPr lang="it-IT" dirty="0" err="1">
                <a:latin typeface="Calibri Light" panose="020F0302020204030204" pitchFamily="34" charset="0"/>
                <a:ea typeface="Calibri Light" panose="020F0302020204030204" pitchFamily="34" charset="0"/>
                <a:cs typeface="Calibri Light" panose="020F0302020204030204" pitchFamily="34" charset="0"/>
              </a:rPr>
              <a:t>As</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proposed</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originally</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we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used</a:t>
            </a:r>
            <a:r>
              <a:rPr lang="it-IT" dirty="0">
                <a:latin typeface="Calibri Light" panose="020F0302020204030204" pitchFamily="34" charset="0"/>
                <a:ea typeface="Calibri Light" panose="020F0302020204030204" pitchFamily="34" charset="0"/>
                <a:cs typeface="Calibri Light" panose="020F0302020204030204" pitchFamily="34" charset="0"/>
              </a:rPr>
              <a:t> a Goal Sampling Curriculum with 3 </a:t>
            </a:r>
            <a:r>
              <a:rPr lang="it-IT" dirty="0" err="1">
                <a:latin typeface="Calibri Light" panose="020F0302020204030204" pitchFamily="34" charset="0"/>
                <a:ea typeface="Calibri Light" panose="020F0302020204030204" pitchFamily="34" charset="0"/>
                <a:cs typeface="Calibri Light" panose="020F0302020204030204" pitchFamily="34" charset="0"/>
              </a:rPr>
              <a:t>types</a:t>
            </a:r>
            <a:r>
              <a:rPr lang="it-IT" dirty="0">
                <a:latin typeface="Calibri Light" panose="020F0302020204030204" pitchFamily="34" charset="0"/>
                <a:ea typeface="Calibri Light" panose="020F0302020204030204" pitchFamily="34" charset="0"/>
                <a:cs typeface="Calibri Light" panose="020F0302020204030204" pitchFamily="34" charset="0"/>
              </a:rPr>
              <a:t> of goal, </a:t>
            </a:r>
            <a:r>
              <a:rPr lang="it-IT" dirty="0" err="1">
                <a:latin typeface="Calibri Light" panose="020F0302020204030204" pitchFamily="34" charset="0"/>
                <a:ea typeface="Calibri Light" panose="020F0302020204030204" pitchFamily="34" charset="0"/>
                <a:cs typeface="Calibri Light" panose="020F0302020204030204" pitchFamily="34" charset="0"/>
              </a:rPr>
              <a:t>named</a:t>
            </a:r>
            <a:r>
              <a:rPr lang="it-IT" dirty="0">
                <a:latin typeface="Calibri Light" panose="020F0302020204030204" pitchFamily="34" charset="0"/>
                <a:ea typeface="Calibri Light" panose="020F0302020204030204" pitchFamily="34" charset="0"/>
                <a:cs typeface="Calibri Light" panose="020F0302020204030204" pitchFamily="34" charset="0"/>
              </a:rPr>
              <a:t> Easy, Medium and Hard: the easy goal </a:t>
            </a:r>
            <a:r>
              <a:rPr lang="it-IT" dirty="0" err="1">
                <a:latin typeface="Calibri Light" panose="020F0302020204030204" pitchFamily="34" charset="0"/>
                <a:ea typeface="Calibri Light" panose="020F0302020204030204" pitchFamily="34" charset="0"/>
                <a:cs typeface="Calibri Light" panose="020F0302020204030204" pitchFamily="34" charset="0"/>
              </a:rPr>
              <a:t>was</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directly</a:t>
            </a:r>
            <a:r>
              <a:rPr lang="it-IT" dirty="0">
                <a:latin typeface="Calibri Light" panose="020F0302020204030204" pitchFamily="34" charset="0"/>
                <a:ea typeface="Calibri Light" panose="020F0302020204030204" pitchFamily="34" charset="0"/>
                <a:cs typeface="Calibri Light" panose="020F0302020204030204" pitchFamily="34" charset="0"/>
              </a:rPr>
              <a:t> in front of the </a:t>
            </a:r>
            <a:r>
              <a:rPr lang="it-IT" dirty="0" err="1">
                <a:latin typeface="Calibri Light" panose="020F0302020204030204" pitchFamily="34" charset="0"/>
                <a:ea typeface="Calibri Light" panose="020F0302020204030204" pitchFamily="34" charset="0"/>
                <a:cs typeface="Calibri Light" panose="020F0302020204030204" pitchFamily="34" charset="0"/>
              </a:rPr>
              <a:t>starting</a:t>
            </a:r>
            <a:r>
              <a:rPr lang="it-IT" dirty="0">
                <a:latin typeface="Calibri Light" panose="020F0302020204030204" pitchFamily="34" charset="0"/>
                <a:ea typeface="Calibri Light" panose="020F0302020204030204" pitchFamily="34" charset="0"/>
                <a:cs typeface="Calibri Light" panose="020F0302020204030204" pitchFamily="34" charset="0"/>
              </a:rPr>
              <a:t> position of the robot and the medium goal </a:t>
            </a:r>
            <a:r>
              <a:rPr lang="it-IT" dirty="0" err="1">
                <a:latin typeface="Calibri Light" panose="020F0302020204030204" pitchFamily="34" charset="0"/>
                <a:ea typeface="Calibri Light" panose="020F0302020204030204" pitchFamily="34" charset="0"/>
                <a:cs typeface="Calibri Light" panose="020F0302020204030204" pitchFamily="34" charset="0"/>
              </a:rPr>
              <a:t>was</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slightly</a:t>
            </a:r>
            <a:r>
              <a:rPr lang="it-IT" dirty="0">
                <a:latin typeface="Calibri Light" panose="020F0302020204030204" pitchFamily="34" charset="0"/>
                <a:ea typeface="Calibri Light" panose="020F0302020204030204" pitchFamily="34" charset="0"/>
                <a:cs typeface="Calibri Light" panose="020F0302020204030204" pitchFamily="34" charset="0"/>
              </a:rPr>
              <a:t> to the </a:t>
            </a:r>
            <a:r>
              <a:rPr lang="it-IT" dirty="0" err="1">
                <a:latin typeface="Calibri Light" panose="020F0302020204030204" pitchFamily="34" charset="0"/>
                <a:ea typeface="Calibri Light" panose="020F0302020204030204" pitchFamily="34" charset="0"/>
                <a:cs typeface="Calibri Light" panose="020F0302020204030204" pitchFamily="34" charset="0"/>
              </a:rPr>
              <a:t>left</a:t>
            </a:r>
            <a:r>
              <a:rPr lang="it-IT" dirty="0">
                <a:latin typeface="Calibri Light" panose="020F0302020204030204" pitchFamily="34" charset="0"/>
                <a:ea typeface="Calibri Light" panose="020F0302020204030204" pitchFamily="34" charset="0"/>
                <a:cs typeface="Calibri Light" panose="020F0302020204030204" pitchFamily="34" charset="0"/>
              </a:rPr>
              <a:t> of the </a:t>
            </a:r>
            <a:r>
              <a:rPr lang="it-IT" dirty="0" err="1">
                <a:latin typeface="Calibri Light" panose="020F0302020204030204" pitchFamily="34" charset="0"/>
                <a:ea typeface="Calibri Light" panose="020F0302020204030204" pitchFamily="34" charset="0"/>
                <a:cs typeface="Calibri Light" panose="020F0302020204030204" pitchFamily="34" charset="0"/>
              </a:rPr>
              <a:t>former</a:t>
            </a:r>
            <a:r>
              <a:rPr lang="it-IT" dirty="0">
                <a:latin typeface="Calibri Light" panose="020F0302020204030204" pitchFamily="34" charset="0"/>
                <a:ea typeface="Calibri Light" panose="020F0302020204030204" pitchFamily="34" charset="0"/>
                <a:cs typeface="Calibri Light" panose="020F0302020204030204" pitchFamily="34" charset="0"/>
              </a:rPr>
              <a:t>. The robot </a:t>
            </a:r>
            <a:r>
              <a:rPr lang="it-IT" dirty="0" err="1">
                <a:latin typeface="Calibri Light" panose="020F0302020204030204" pitchFamily="34" charset="0"/>
                <a:ea typeface="Calibri Light" panose="020F0302020204030204" pitchFamily="34" charset="0"/>
                <a:cs typeface="Calibri Light" panose="020F0302020204030204" pitchFamily="34" charset="0"/>
              </a:rPr>
              <a:t>refused</a:t>
            </a:r>
            <a:r>
              <a:rPr lang="it-IT" dirty="0">
                <a:latin typeface="Calibri Light" panose="020F0302020204030204" pitchFamily="34" charset="0"/>
                <a:ea typeface="Calibri Light" panose="020F0302020204030204" pitchFamily="34" charset="0"/>
                <a:cs typeface="Calibri Light" panose="020F0302020204030204" pitchFamily="34" charset="0"/>
              </a:rPr>
              <a:t> to navigate with </a:t>
            </a:r>
            <a:r>
              <a:rPr lang="it-IT" dirty="0" err="1">
                <a:latin typeface="Calibri Light" panose="020F0302020204030204" pitchFamily="34" charset="0"/>
                <a:ea typeface="Calibri Light" panose="020F0302020204030204" pitchFamily="34" charset="0"/>
                <a:cs typeface="Calibri Light" panose="020F0302020204030204" pitchFamily="34" charset="0"/>
              </a:rPr>
              <a:t>stability</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towards</a:t>
            </a:r>
            <a:r>
              <a:rPr lang="it-IT" dirty="0">
                <a:latin typeface="Calibri Light" panose="020F0302020204030204" pitchFamily="34" charset="0"/>
                <a:ea typeface="Calibri Light" panose="020F0302020204030204" pitchFamily="34" charset="0"/>
                <a:cs typeface="Calibri Light" panose="020F0302020204030204" pitchFamily="34" charset="0"/>
              </a:rPr>
              <a:t> the medium goal in </a:t>
            </a:r>
            <a:r>
              <a:rPr lang="it-IT" dirty="0" err="1">
                <a:latin typeface="Calibri Light" panose="020F0302020204030204" pitchFamily="34" charset="0"/>
                <a:ea typeface="Calibri Light" panose="020F0302020204030204" pitchFamily="34" charset="0"/>
                <a:cs typeface="Calibri Light" panose="020F0302020204030204" pitchFamily="34" charset="0"/>
              </a:rPr>
              <a:t>any</a:t>
            </a:r>
            <a:r>
              <a:rPr lang="it-IT" dirty="0">
                <a:latin typeface="Calibri Light" panose="020F0302020204030204" pitchFamily="34" charset="0"/>
                <a:ea typeface="Calibri Light" panose="020F0302020204030204" pitchFamily="34" charset="0"/>
                <a:cs typeface="Calibri Light" panose="020F0302020204030204" pitchFamily="34" charset="0"/>
              </a:rPr>
              <a:t> of the </a:t>
            </a:r>
            <a:r>
              <a:rPr lang="it-IT" dirty="0" err="1">
                <a:latin typeface="Calibri Light" panose="020F0302020204030204" pitchFamily="34" charset="0"/>
                <a:ea typeface="Calibri Light" panose="020F0302020204030204" pitchFamily="34" charset="0"/>
                <a:cs typeface="Calibri Light" panose="020F0302020204030204" pitchFamily="34" charset="0"/>
              </a:rPr>
              <a:t>tests</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we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have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done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even</a:t>
            </a:r>
            <a:r>
              <a:rPr lang="it-IT" dirty="0">
                <a:latin typeface="Calibri Light" panose="020F0302020204030204" pitchFamily="34" charset="0"/>
                <a:ea typeface="Calibri Light" panose="020F0302020204030204" pitchFamily="34" charset="0"/>
                <a:cs typeface="Calibri Light" panose="020F0302020204030204" pitchFamily="34" charset="0"/>
              </a:rPr>
              <a:t> and </a:t>
            </a:r>
            <a:r>
              <a:rPr lang="it-IT" dirty="0" err="1">
                <a:latin typeface="Calibri Light" panose="020F0302020204030204" pitchFamily="34" charset="0"/>
                <a:ea typeface="Calibri Light" panose="020F0302020204030204" pitchFamily="34" charset="0"/>
                <a:cs typeface="Calibri Light" panose="020F0302020204030204" pitchFamily="34" charset="0"/>
              </a:rPr>
              <a:t>especially</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when</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forced</a:t>
            </a:r>
            <a:r>
              <a:rPr lang="it-IT" dirty="0">
                <a:latin typeface="Calibri Light" panose="020F0302020204030204" pitchFamily="34" charset="0"/>
                <a:ea typeface="Calibri Light" panose="020F0302020204030204" pitchFamily="34" charset="0"/>
                <a:cs typeface="Calibri Light" panose="020F0302020204030204" pitchFamily="34" charset="0"/>
              </a:rPr>
              <a:t> to </a:t>
            </a:r>
            <a:r>
              <a:rPr lang="it-IT" dirty="0" err="1">
                <a:latin typeface="Calibri Light" panose="020F0302020204030204" pitchFamily="34" charset="0"/>
                <a:ea typeface="Calibri Light" panose="020F0302020204030204" pitchFamily="34" charset="0"/>
                <a:cs typeface="Calibri Light" panose="020F0302020204030204" pitchFamily="34" charset="0"/>
              </a:rPr>
              <a:t>choose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this</a:t>
            </a:r>
            <a:r>
              <a:rPr lang="it-IT" dirty="0">
                <a:latin typeface="Calibri Light" panose="020F0302020204030204" pitchFamily="34" charset="0"/>
                <a:ea typeface="Calibri Light" panose="020F0302020204030204" pitchFamily="34" charset="0"/>
                <a:cs typeface="Calibri Light" panose="020F0302020204030204" pitchFamily="34" charset="0"/>
              </a:rPr>
              <a:t> goal in the training.</a:t>
            </a:r>
          </a:p>
          <a:p>
            <a:pPr marL="0" indent="0">
              <a:buNone/>
            </a:pPr>
            <a:r>
              <a:rPr lang="it-IT" dirty="0">
                <a:latin typeface="Calibri Light" panose="020F0302020204030204" pitchFamily="34" charset="0"/>
                <a:ea typeface="Calibri Light" panose="020F0302020204030204" pitchFamily="34" charset="0"/>
                <a:cs typeface="Calibri Light" panose="020F0302020204030204" pitchFamily="34" charset="0"/>
              </a:rPr>
              <a:t>The </a:t>
            </a:r>
            <a:r>
              <a:rPr lang="it-IT" dirty="0" err="1">
                <a:latin typeface="Calibri Light" panose="020F0302020204030204" pitchFamily="34" charset="0"/>
                <a:ea typeface="Calibri Light" panose="020F0302020204030204" pitchFamily="34" charset="0"/>
                <a:cs typeface="Calibri Light" panose="020F0302020204030204" pitchFamily="34" charset="0"/>
              </a:rPr>
              <a:t>usual</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reward</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structure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used</a:t>
            </a:r>
            <a:r>
              <a:rPr lang="it-IT" dirty="0">
                <a:latin typeface="Calibri Light" panose="020F0302020204030204" pitchFamily="34" charset="0"/>
                <a:ea typeface="Calibri Light" panose="020F0302020204030204" pitchFamily="34" charset="0"/>
                <a:cs typeface="Calibri Light" panose="020F0302020204030204" pitchFamily="34" charset="0"/>
              </a:rPr>
              <a:t> to </a:t>
            </a:r>
            <a:r>
              <a:rPr lang="it-IT" dirty="0" err="1">
                <a:latin typeface="Calibri Light" panose="020F0302020204030204" pitchFamily="34" charset="0"/>
                <a:ea typeface="Calibri Light" panose="020F0302020204030204" pitchFamily="34" charset="0"/>
                <a:cs typeface="Calibri Light" panose="020F0302020204030204" pitchFamily="34" charset="0"/>
              </a:rPr>
              <a:t>train</a:t>
            </a:r>
            <a:r>
              <a:rPr lang="it-IT" dirty="0">
                <a:latin typeface="Calibri Light" panose="020F0302020204030204" pitchFamily="34" charset="0"/>
                <a:ea typeface="Calibri Light" panose="020F0302020204030204" pitchFamily="34" charset="0"/>
                <a:cs typeface="Calibri Light" panose="020F0302020204030204" pitchFamily="34" charset="0"/>
              </a:rPr>
              <a:t> the robot </a:t>
            </a:r>
            <a:r>
              <a:rPr lang="it-IT" dirty="0" err="1">
                <a:latin typeface="Calibri Light" panose="020F0302020204030204" pitchFamily="34" charset="0"/>
                <a:ea typeface="Calibri Light" panose="020F0302020204030204" pitchFamily="34" charset="0"/>
                <a:cs typeface="Calibri Light" panose="020F0302020204030204" pitchFamily="34" charset="0"/>
              </a:rPr>
              <a:t>was</a:t>
            </a:r>
            <a:r>
              <a:rPr lang="it-IT" dirty="0">
                <a:latin typeface="Calibri Light" panose="020F0302020204030204" pitchFamily="34" charset="0"/>
                <a:ea typeface="Calibri Light" panose="020F0302020204030204" pitchFamily="34" charset="0"/>
                <a:cs typeface="Calibri Light" panose="020F0302020204030204" pitchFamily="34" charset="0"/>
              </a:rPr>
              <a:t> a </a:t>
            </a:r>
            <a:r>
              <a:rPr lang="it-IT" dirty="0" err="1">
                <a:latin typeface="Calibri Light" panose="020F0302020204030204" pitchFamily="34" charset="0"/>
                <a:ea typeface="Calibri Light" panose="020F0302020204030204" pitchFamily="34" charset="0"/>
                <a:cs typeface="Calibri Light" panose="020F0302020204030204" pitchFamily="34" charset="0"/>
              </a:rPr>
              <a:t>factorized</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reward</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composed</a:t>
            </a:r>
            <a:r>
              <a:rPr lang="it-IT" dirty="0">
                <a:latin typeface="Calibri Light" panose="020F0302020204030204" pitchFamily="34" charset="0"/>
                <a:ea typeface="Calibri Light" panose="020F0302020204030204" pitchFamily="34" charset="0"/>
                <a:cs typeface="Calibri Light" panose="020F0302020204030204" pitchFamily="34" charset="0"/>
              </a:rPr>
              <a:t> of </a:t>
            </a:r>
            <a:r>
              <a:rPr lang="it-IT" dirty="0" err="1">
                <a:latin typeface="Calibri Light" panose="020F0302020204030204" pitchFamily="34" charset="0"/>
                <a:ea typeface="Calibri Light" panose="020F0302020204030204" pitchFamily="34" charset="0"/>
                <a:cs typeface="Calibri Light" panose="020F0302020204030204" pitchFamily="34" charset="0"/>
              </a:rPr>
              <a:t>collision</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avoidance</a:t>
            </a:r>
            <a:r>
              <a:rPr lang="it-IT" dirty="0">
                <a:latin typeface="Calibri Light" panose="020F0302020204030204" pitchFamily="34" charset="0"/>
                <a:ea typeface="Calibri Light" panose="020F0302020204030204" pitchFamily="34" charset="0"/>
                <a:cs typeface="Calibri Light" panose="020F0302020204030204" pitchFamily="34" charset="0"/>
              </a:rPr>
              <a:t>, time to target, goal </a:t>
            </a:r>
            <a:r>
              <a:rPr lang="it-IT" dirty="0" err="1">
                <a:latin typeface="Calibri Light" panose="020F0302020204030204" pitchFamily="34" charset="0"/>
                <a:ea typeface="Calibri Light" panose="020F0302020204030204" pitchFamily="34" charset="0"/>
                <a:cs typeface="Calibri Light" panose="020F0302020204030204" pitchFamily="34" charset="0"/>
              </a:rPr>
              <a:t>proximity</a:t>
            </a:r>
            <a:r>
              <a:rPr lang="it-IT" dirty="0">
                <a:latin typeface="Calibri Light" panose="020F0302020204030204" pitchFamily="34" charset="0"/>
                <a:ea typeface="Calibri Light" panose="020F0302020204030204" pitchFamily="34" charset="0"/>
                <a:cs typeface="Calibri Light" panose="020F0302020204030204" pitchFamily="34" charset="0"/>
              </a:rPr>
              <a:t> and </a:t>
            </a:r>
            <a:r>
              <a:rPr lang="it-IT" dirty="0" err="1">
                <a:latin typeface="Calibri Light" panose="020F0302020204030204" pitchFamily="34" charset="0"/>
                <a:ea typeface="Calibri Light" panose="020F0302020204030204" pitchFamily="34" charset="0"/>
                <a:cs typeface="Calibri Light" panose="020F0302020204030204" pitchFamily="34" charset="0"/>
              </a:rPr>
              <a:t>yaw</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but</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we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sometimes</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tried</a:t>
            </a:r>
            <a:r>
              <a:rPr lang="it-IT" dirty="0">
                <a:latin typeface="Calibri Light" panose="020F0302020204030204" pitchFamily="34" charset="0"/>
                <a:ea typeface="Calibri Light" panose="020F0302020204030204" pitchFamily="34" charset="0"/>
                <a:cs typeface="Calibri Light" panose="020F0302020204030204" pitchFamily="34" charset="0"/>
              </a:rPr>
              <a:t> to </a:t>
            </a:r>
            <a:r>
              <a:rPr lang="it-IT" dirty="0" err="1">
                <a:latin typeface="Calibri Light" panose="020F0302020204030204" pitchFamily="34" charset="0"/>
                <a:ea typeface="Calibri Light" panose="020F0302020204030204" pitchFamily="34" charset="0"/>
                <a:cs typeface="Calibri Light" panose="020F0302020204030204" pitchFamily="34" charset="0"/>
              </a:rPr>
              <a:t>cut</a:t>
            </a:r>
            <a:r>
              <a:rPr lang="it-IT" dirty="0">
                <a:latin typeface="Calibri Light" panose="020F0302020204030204" pitchFamily="34" charset="0"/>
                <a:ea typeface="Calibri Light" panose="020F0302020204030204" pitchFamily="34" charset="0"/>
                <a:cs typeface="Calibri Light" panose="020F0302020204030204" pitchFamily="34" charset="0"/>
              </a:rPr>
              <a:t> some of </a:t>
            </a:r>
            <a:r>
              <a:rPr lang="it-IT" dirty="0" err="1">
                <a:latin typeface="Calibri Light" panose="020F0302020204030204" pitchFamily="34" charset="0"/>
                <a:ea typeface="Calibri Light" panose="020F0302020204030204" pitchFamily="34" charset="0"/>
                <a:cs typeface="Calibri Light" panose="020F0302020204030204" pitchFamily="34" charset="0"/>
              </a:rPr>
              <a:t>them</a:t>
            </a:r>
            <a:r>
              <a:rPr lang="it-IT" dirty="0">
                <a:latin typeface="Calibri Light" panose="020F0302020204030204" pitchFamily="34" charset="0"/>
                <a:ea typeface="Calibri Light" panose="020F0302020204030204" pitchFamily="34" charset="0"/>
                <a:cs typeface="Calibri Light" panose="020F0302020204030204" pitchFamily="34" charset="0"/>
              </a:rPr>
              <a:t> for </a:t>
            </a:r>
            <a:r>
              <a:rPr lang="it-IT" dirty="0" err="1">
                <a:latin typeface="Calibri Light" panose="020F0302020204030204" pitchFamily="34" charset="0"/>
                <a:ea typeface="Calibri Light" panose="020F0302020204030204" pitchFamily="34" charset="0"/>
                <a:cs typeface="Calibri Light" panose="020F0302020204030204" pitchFamily="34" charset="0"/>
              </a:rPr>
              <a:t>troubleshooting</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purposes</a:t>
            </a:r>
            <a:r>
              <a:rPr lang="it-IT" dirty="0">
                <a:latin typeface="Calibri Light" panose="020F0302020204030204" pitchFamily="34" charset="0"/>
                <a:ea typeface="Calibri Light" panose="020F0302020204030204" pitchFamily="34" charset="0"/>
                <a:cs typeface="Calibri Light" panose="020F0302020204030204" pitchFamily="34" charset="0"/>
              </a:rPr>
              <a:t>.</a:t>
            </a:r>
          </a:p>
        </p:txBody>
      </p:sp>
    </p:spTree>
    <p:extLst>
      <p:ext uri="{BB962C8B-B14F-4D97-AF65-F5344CB8AC3E}">
        <p14:creationId xmlns:p14="http://schemas.microsoft.com/office/powerpoint/2010/main" val="9047219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D841987E-0CEE-A488-C6A5-F281BA167EFB}"/>
              </a:ext>
            </a:extLst>
          </p:cNvPr>
          <p:cNvSpPr>
            <a:spLocks noGrp="1"/>
          </p:cNvSpPr>
          <p:nvPr>
            <p:ph type="title"/>
          </p:nvPr>
        </p:nvSpPr>
        <p:spPr>
          <a:xfrm>
            <a:off x="1019015" y="1093787"/>
            <a:ext cx="3059969" cy="4697413"/>
          </a:xfrm>
        </p:spPr>
        <p:txBody>
          <a:bodyPr>
            <a:normAutofit/>
          </a:bodyPr>
          <a:lstStyle/>
          <a:p>
            <a:r>
              <a:rPr lang="it-IT" dirty="0"/>
              <a:t>Training strategy</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1A0701BE-0A11-AAC2-1CA9-F6B68F722FE8}"/>
              </a:ext>
            </a:extLst>
          </p:cNvPr>
          <p:cNvSpPr>
            <a:spLocks noGrp="1"/>
          </p:cNvSpPr>
          <p:nvPr>
            <p:ph idx="1"/>
          </p:nvPr>
        </p:nvSpPr>
        <p:spPr>
          <a:xfrm>
            <a:off x="4855112" y="1093788"/>
            <a:ext cx="7113051" cy="4697413"/>
          </a:xfrm>
        </p:spPr>
        <p:txBody>
          <a:bodyPr>
            <a:normAutofit/>
          </a:bodyPr>
          <a:lstStyle/>
          <a:p>
            <a:pPr marL="0" indent="0">
              <a:buNone/>
            </a:pP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already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discussed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tried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various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configurations</a:t>
            </a:r>
            <a:r>
              <a:rPr lang="it-IT" sz="2200" dirty="0">
                <a:latin typeface="Calibri Light" panose="020F0302020204030204" pitchFamily="34" charset="0"/>
                <a:ea typeface="Calibri Light" panose="020F0302020204030204" pitchFamily="34" charset="0"/>
                <a:cs typeface="Calibri Light" panose="020F0302020204030204" pitchFamily="34" charset="0"/>
              </a:rPr>
              <a:t> with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different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function</a:t>
            </a:r>
            <a:r>
              <a:rPr lang="it-IT" sz="2200" dirty="0">
                <a:latin typeface="Calibri Light" panose="020F0302020204030204" pitchFamily="34" charset="0"/>
                <a:ea typeface="Calibri Light" panose="020F0302020204030204" pitchFamily="34" charset="0"/>
                <a:cs typeface="Calibri Light" panose="020F0302020204030204" pitchFamily="34" charset="0"/>
              </a:rPr>
              <a:t> and training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parameters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different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reward</a:t>
            </a:r>
            <a:r>
              <a:rPr lang="it-IT" sz="2200" dirty="0">
                <a:latin typeface="Calibri Light" panose="020F0302020204030204" pitchFamily="34" charset="0"/>
                <a:ea typeface="Calibri Light" panose="020F0302020204030204" pitchFamily="34" charset="0"/>
                <a:cs typeface="Calibri Light" panose="020F0302020204030204" pitchFamily="34" charset="0"/>
              </a:rPr>
              <a:t> weights and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different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functions</a:t>
            </a:r>
            <a:r>
              <a:rPr lang="it-IT" sz="2200" dirty="0">
                <a:latin typeface="Calibri Light" panose="020F0302020204030204" pitchFamily="34" charset="0"/>
                <a:ea typeface="Calibri Light" panose="020F0302020204030204" pitchFamily="34" charset="0"/>
                <a:cs typeface="Calibri Light" panose="020F0302020204030204" pitchFamily="34" charset="0"/>
              </a:rPr>
              <a:t> to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calculate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those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rewards</a:t>
            </a:r>
            <a:r>
              <a:rPr lang="it-IT" sz="2200" dirty="0">
                <a:latin typeface="Calibri Light" panose="020F0302020204030204" pitchFamily="34" charset="0"/>
                <a:ea typeface="Calibri Light" panose="020F0302020204030204" pitchFamily="34" charset="0"/>
                <a:cs typeface="Calibri Light" panose="020F0302020204030204" pitchFamily="34" charset="0"/>
              </a:rPr>
              <a:t>. Once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noticed</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aforementioned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problems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divided</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group to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search</a:t>
            </a:r>
            <a:r>
              <a:rPr lang="it-IT" sz="2200" dirty="0">
                <a:latin typeface="Calibri Light" panose="020F0302020204030204" pitchFamily="34" charset="0"/>
                <a:ea typeface="Calibri Light" panose="020F0302020204030204" pitchFamily="34" charset="0"/>
                <a:cs typeface="Calibri Light" panose="020F0302020204030204" pitchFamily="34" charset="0"/>
              </a:rPr>
              <a:t> more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efficiently</a:t>
            </a:r>
            <a:r>
              <a:rPr lang="it-IT" sz="2200" dirty="0">
                <a:latin typeface="Calibri Light" panose="020F0302020204030204" pitchFamily="34" charset="0"/>
                <a:ea typeface="Calibri Light" panose="020F0302020204030204" pitchFamily="34" charset="0"/>
                <a:cs typeface="Calibri Light" panose="020F0302020204030204" pitchFamily="34" charset="0"/>
              </a:rPr>
              <a:t> for a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solution</a:t>
            </a:r>
            <a:r>
              <a:rPr lang="it-IT" sz="2200" dirty="0">
                <a:latin typeface="Calibri Light" panose="020F0302020204030204" pitchFamily="34" charset="0"/>
                <a:ea typeface="Calibri Light" panose="020F0302020204030204" pitchFamily="34" charset="0"/>
                <a:cs typeface="Calibri Light" panose="020F0302020204030204" pitchFamily="34" charset="0"/>
              </a:rPr>
              <a:t>: some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tried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various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configurations</a:t>
            </a:r>
            <a:r>
              <a:rPr lang="it-IT" sz="2200" dirty="0">
                <a:latin typeface="Calibri Light" panose="020F0302020204030204" pitchFamily="34" charset="0"/>
                <a:ea typeface="Calibri Light" panose="020F0302020204030204" pitchFamily="34" charset="0"/>
                <a:cs typeface="Calibri Light" panose="020F0302020204030204" pitchFamily="34" charset="0"/>
              </a:rPr>
              <a:t> for small training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periods</a:t>
            </a:r>
            <a:r>
              <a:rPr lang="it-IT" sz="2200" dirty="0">
                <a:latin typeface="Calibri Light" panose="020F0302020204030204" pitchFamily="34" charset="0"/>
                <a:ea typeface="Calibri Light" panose="020F0302020204030204" pitchFamily="34" charset="0"/>
                <a:cs typeface="Calibri Light" panose="020F0302020204030204" pitchFamily="34" charset="0"/>
              </a:rPr>
              <a:t> (2000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episodes</a:t>
            </a:r>
            <a:r>
              <a:rPr lang="it-IT" sz="2200" dirty="0">
                <a:latin typeface="Calibri Light" panose="020F0302020204030204" pitchFamily="34" charset="0"/>
                <a:ea typeface="Calibri Light" panose="020F0302020204030204" pitchFamily="34" charset="0"/>
                <a:cs typeface="Calibri Light" panose="020F0302020204030204" pitchFamily="34" charset="0"/>
              </a:rPr>
              <a:t>) and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others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tried</a:t>
            </a:r>
            <a:r>
              <a:rPr lang="it-IT" sz="2200" dirty="0">
                <a:latin typeface="Calibri Light" panose="020F0302020204030204" pitchFamily="34" charset="0"/>
                <a:ea typeface="Calibri Light" panose="020F0302020204030204" pitchFamily="34" charset="0"/>
                <a:cs typeface="Calibri Light" panose="020F0302020204030204" pitchFamily="34" charset="0"/>
              </a:rPr>
              <a:t> a multi-</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phase</a:t>
            </a:r>
            <a:r>
              <a:rPr lang="it-IT" sz="2200" dirty="0">
                <a:latin typeface="Calibri Light" panose="020F0302020204030204" pitchFamily="34" charset="0"/>
                <a:ea typeface="Calibri Light" panose="020F0302020204030204" pitchFamily="34" charset="0"/>
                <a:cs typeface="Calibri Light" panose="020F0302020204030204" pitchFamily="34" charset="0"/>
              </a:rPr>
              <a:t> training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starting</a:t>
            </a:r>
            <a:r>
              <a:rPr lang="it-IT" sz="2200" dirty="0">
                <a:latin typeface="Calibri Light" panose="020F0302020204030204" pitchFamily="34" charset="0"/>
                <a:ea typeface="Calibri Light" panose="020F0302020204030204" pitchFamily="34" charset="0"/>
                <a:cs typeface="Calibri Light" panose="020F0302020204030204" pitchFamily="34" charset="0"/>
              </a:rPr>
              <a:t> from a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maze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without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obstacles</a:t>
            </a:r>
            <a:r>
              <a:rPr lang="it-IT" sz="2200" dirty="0">
                <a:latin typeface="Calibri Light" panose="020F0302020204030204" pitchFamily="34" charset="0"/>
                <a:ea typeface="Calibri Light" panose="020F0302020204030204" pitchFamily="34" charset="0"/>
                <a:cs typeface="Calibri Light" panose="020F0302020204030204" pitchFamily="34" charset="0"/>
              </a:rPr>
              <a:t> and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increasing</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difficulty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gradually</a:t>
            </a:r>
            <a:r>
              <a:rPr lang="it-IT" sz="2200" dirty="0">
                <a:latin typeface="Calibri Light" panose="020F0302020204030204" pitchFamily="34" charset="0"/>
                <a:ea typeface="Calibri Light" panose="020F0302020204030204" pitchFamily="34" charset="0"/>
                <a:cs typeface="Calibri Light" panose="020F0302020204030204" pitchFamily="34" charset="0"/>
              </a:rPr>
              <a:t>).</a:t>
            </a:r>
          </a:p>
        </p:txBody>
      </p:sp>
    </p:spTree>
    <p:extLst>
      <p:ext uri="{BB962C8B-B14F-4D97-AF65-F5344CB8AC3E}">
        <p14:creationId xmlns:p14="http://schemas.microsoft.com/office/powerpoint/2010/main" val="36284825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D0E6150A-E7E2-44FE-B80D-F3D19B633193}"/>
              </a:ext>
            </a:extLst>
          </p:cNvPr>
          <p:cNvSpPr>
            <a:spLocks noGrp="1"/>
          </p:cNvSpPr>
          <p:nvPr>
            <p:ph type="title"/>
          </p:nvPr>
        </p:nvSpPr>
        <p:spPr>
          <a:xfrm>
            <a:off x="1019015" y="1093787"/>
            <a:ext cx="3059969" cy="4697413"/>
          </a:xfrm>
        </p:spPr>
        <p:txBody>
          <a:bodyPr>
            <a:normAutofit/>
          </a:bodyPr>
          <a:lstStyle/>
          <a:p>
            <a:r>
              <a:rPr lang="it-IT" dirty="0"/>
              <a:t>Evaluation </a:t>
            </a:r>
            <a:r>
              <a:rPr lang="it-IT" dirty="0" err="1"/>
              <a:t>metrics</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C2EAE932-A1A8-A244-1655-8E035622B6DF}"/>
              </a:ext>
            </a:extLst>
          </p:cNvPr>
          <p:cNvSpPr>
            <a:spLocks noGrp="1"/>
          </p:cNvSpPr>
          <p:nvPr>
            <p:ph idx="1"/>
          </p:nvPr>
        </p:nvSpPr>
        <p:spPr>
          <a:xfrm>
            <a:off x="4855112" y="1093788"/>
            <a:ext cx="7113051" cy="4697413"/>
          </a:xfrm>
        </p:spPr>
        <p:txBody>
          <a:bodyPr>
            <a:normAutofit/>
          </a:bodyPr>
          <a:lstStyle/>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Using the Goal Sampling Curriculum and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other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metrics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proposed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originally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well</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a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simple</a:t>
            </a:r>
            <a:r>
              <a:rPr lang="it-IT" sz="2200" dirty="0">
                <a:latin typeface="Calibri Light" panose="020F0302020204030204" pitchFamily="34" charset="0"/>
                <a:ea typeface="Calibri Light" panose="020F0302020204030204" pitchFamily="34" charset="0"/>
                <a:cs typeface="Calibri Light" panose="020F0302020204030204" pitchFamily="34" charset="0"/>
              </a:rPr>
              <a:t> script to plot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results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created</a:t>
            </a:r>
            <a:r>
              <a:rPr lang="it-IT" sz="2200" dirty="0">
                <a:latin typeface="Calibri Light" panose="020F0302020204030204" pitchFamily="34" charset="0"/>
                <a:ea typeface="Calibri Light" panose="020F0302020204030204" pitchFamily="34" charset="0"/>
                <a:cs typeface="Calibri Light" panose="020F0302020204030204" pitchFamily="34" charset="0"/>
              </a:rPr>
              <a:t> after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all</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trainings in metrics.csv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fundamental</a:t>
            </a:r>
            <a:r>
              <a:rPr lang="it-IT" sz="2200" dirty="0">
                <a:latin typeface="Calibri Light" panose="020F0302020204030204" pitchFamily="34" charset="0"/>
                <a:ea typeface="Calibri Light" panose="020F0302020204030204" pitchFamily="34" charset="0"/>
                <a:cs typeface="Calibri Light" panose="020F0302020204030204" pitchFamily="34" charset="0"/>
              </a:rPr>
              <a:t> to test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different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configurations</a:t>
            </a:r>
            <a:r>
              <a:rPr lang="it-IT" sz="2200" dirty="0">
                <a:latin typeface="Calibri Light" panose="020F0302020204030204" pitchFamily="34" charset="0"/>
                <a:ea typeface="Calibri Light" panose="020F0302020204030204" pitchFamily="34" charset="0"/>
                <a:cs typeface="Calibri Light" panose="020F0302020204030204" pitchFamily="34" charset="0"/>
              </a:rPr>
              <a:t> and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realize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which</a:t>
            </a:r>
            <a:r>
              <a:rPr lang="it-IT" sz="2200" dirty="0">
                <a:latin typeface="Calibri Light" panose="020F0302020204030204" pitchFamily="34" charset="0"/>
                <a:ea typeface="Calibri Light" panose="020F0302020204030204" pitchFamily="34" charset="0"/>
                <a:cs typeface="Calibri Light" panose="020F0302020204030204" pitchFamily="34" charset="0"/>
              </a:rPr>
              <a:t> one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worked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better</a:t>
            </a:r>
            <a:r>
              <a:rPr lang="it-IT" sz="2200" dirty="0">
                <a:latin typeface="Calibri Light" panose="020F0302020204030204" pitchFamily="34" charset="0"/>
                <a:ea typeface="Calibri Light" panose="020F0302020204030204" pitchFamily="34" charset="0"/>
                <a:cs typeface="Calibri Light" panose="020F0302020204030204" pitchFamily="34" charset="0"/>
              </a:rPr>
              <a:t>.</a:t>
            </a:r>
          </a:p>
          <a:p>
            <a:pPr marL="0" indent="0">
              <a:buNone/>
            </a:pP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also</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analyzed</a:t>
            </a:r>
            <a:r>
              <a:rPr lang="it-IT" sz="2200" dirty="0">
                <a:latin typeface="Calibri Light" panose="020F0302020204030204" pitchFamily="34" charset="0"/>
                <a:ea typeface="Calibri Light" panose="020F0302020204030204" pitchFamily="34" charset="0"/>
                <a:cs typeface="Calibri Light" panose="020F0302020204030204" pitchFamily="34" charset="0"/>
              </a:rPr>
              <a:t> a single goal success rate to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present</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results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achieved</a:t>
            </a:r>
            <a:r>
              <a:rPr lang="it-IT" sz="2200" dirty="0">
                <a:latin typeface="Calibri Light" panose="020F0302020204030204" pitchFamily="34" charset="0"/>
                <a:ea typeface="Calibri Light" panose="020F0302020204030204" pitchFamily="34" charset="0"/>
                <a:cs typeface="Calibri Light" panose="020F0302020204030204" pitchFamily="34" charset="0"/>
              </a:rPr>
              <a:t> by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showing</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that</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robot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had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difficulty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reaching</a:t>
            </a:r>
            <a:r>
              <a:rPr lang="it-IT" sz="2200" dirty="0">
                <a:latin typeface="Calibri Light" panose="020F0302020204030204" pitchFamily="34" charset="0"/>
                <a:ea typeface="Calibri Light" panose="020F0302020204030204" pitchFamily="34" charset="0"/>
                <a:cs typeface="Calibri Light" panose="020F0302020204030204" pitchFamily="34" charset="0"/>
              </a:rPr>
              <a:t> goals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other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then</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first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if</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not</a:t>
            </a:r>
            <a:r>
              <a:rPr lang="it-IT" sz="2200" dirty="0">
                <a:latin typeface="Calibri Light" panose="020F0302020204030204" pitchFamily="34" charset="0"/>
                <a:ea typeface="Calibri Light" panose="020F0302020204030204" pitchFamily="34" charset="0"/>
                <a:cs typeface="Calibri Light" panose="020F0302020204030204" pitchFamily="34" charset="0"/>
              </a:rPr>
              <a:t> by pure chance.</a:t>
            </a:r>
          </a:p>
        </p:txBody>
      </p:sp>
    </p:spTree>
    <p:extLst>
      <p:ext uri="{BB962C8B-B14F-4D97-AF65-F5344CB8AC3E}">
        <p14:creationId xmlns:p14="http://schemas.microsoft.com/office/powerpoint/2010/main" val="3042256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34770"/>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62C6D782-6B6F-4B4E-B92B-C8F13A0FED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4" name="Rectangle 13">
              <a:extLst>
                <a:ext uri="{FF2B5EF4-FFF2-40B4-BE49-F238E27FC236}">
                  <a16:creationId xmlns:a16="http://schemas.microsoft.com/office/drawing/2014/main" id="{E9716FBC-9870-4321-B055-657F96DDF1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a:extLst>
                <a:ext uri="{FF2B5EF4-FFF2-40B4-BE49-F238E27FC236}">
                  <a16:creationId xmlns:a16="http://schemas.microsoft.com/office/drawing/2014/main" id="{3720C802-2465-4EF6-9AED-E768D24605A6}"/>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grpSp>
        <p:nvGrpSpPr>
          <p:cNvPr id="17" name="Group 16">
            <a:extLst>
              <a:ext uri="{FF2B5EF4-FFF2-40B4-BE49-F238E27FC236}">
                <a16:creationId xmlns:a16="http://schemas.microsoft.com/office/drawing/2014/main" id="{6E532192-EB0D-43D0-8ACF-ABEBADC617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1779"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8" name="Rectangle 5">
              <a:extLst>
                <a:ext uri="{FF2B5EF4-FFF2-40B4-BE49-F238E27FC236}">
                  <a16:creationId xmlns:a16="http://schemas.microsoft.com/office/drawing/2014/main" id="{A61AEB4E-A65A-4890-AD09-C9ACFB0801B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9" name="Freeform 6">
              <a:extLst>
                <a:ext uri="{FF2B5EF4-FFF2-40B4-BE49-F238E27FC236}">
                  <a16:creationId xmlns:a16="http://schemas.microsoft.com/office/drawing/2014/main" id="{528DE10F-D498-4BFB-8B2A-E06AAA1F48D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7">
              <a:extLst>
                <a:ext uri="{FF2B5EF4-FFF2-40B4-BE49-F238E27FC236}">
                  <a16:creationId xmlns:a16="http://schemas.microsoft.com/office/drawing/2014/main" id="{EA9A7A15-77B2-4771-B979-8F0E0626AC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Rectangle 8">
              <a:extLst>
                <a:ext uri="{FF2B5EF4-FFF2-40B4-BE49-F238E27FC236}">
                  <a16:creationId xmlns:a16="http://schemas.microsoft.com/office/drawing/2014/main" id="{91C3D14F-54C6-49E0-BB0E-DAEA3688A87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2" name="Freeform 9">
              <a:extLst>
                <a:ext uri="{FF2B5EF4-FFF2-40B4-BE49-F238E27FC236}">
                  <a16:creationId xmlns:a16="http://schemas.microsoft.com/office/drawing/2014/main" id="{693A8E0B-9819-41E1-979C-44F08FECF5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3" name="Freeform 10">
              <a:extLst>
                <a:ext uri="{FF2B5EF4-FFF2-40B4-BE49-F238E27FC236}">
                  <a16:creationId xmlns:a16="http://schemas.microsoft.com/office/drawing/2014/main" id="{31C3E5DB-A7A3-4EAE-9026-F9B8F12EC1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1">
              <a:extLst>
                <a:ext uri="{FF2B5EF4-FFF2-40B4-BE49-F238E27FC236}">
                  <a16:creationId xmlns:a16="http://schemas.microsoft.com/office/drawing/2014/main" id="{DCA25288-1A1B-4F47-B482-9A847602E2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2">
              <a:extLst>
                <a:ext uri="{FF2B5EF4-FFF2-40B4-BE49-F238E27FC236}">
                  <a16:creationId xmlns:a16="http://schemas.microsoft.com/office/drawing/2014/main" id="{14B443AB-E1B9-4C40-BA70-8F6CAD01F21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13">
              <a:extLst>
                <a:ext uri="{FF2B5EF4-FFF2-40B4-BE49-F238E27FC236}">
                  <a16:creationId xmlns:a16="http://schemas.microsoft.com/office/drawing/2014/main" id="{85A198B7-B595-43D6-828B-3A6D853223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Freeform 14">
              <a:extLst>
                <a:ext uri="{FF2B5EF4-FFF2-40B4-BE49-F238E27FC236}">
                  <a16:creationId xmlns:a16="http://schemas.microsoft.com/office/drawing/2014/main" id="{F310B986-AB70-4FCE-85CC-A7FB750ABD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8" name="Freeform 15">
              <a:extLst>
                <a:ext uri="{FF2B5EF4-FFF2-40B4-BE49-F238E27FC236}">
                  <a16:creationId xmlns:a16="http://schemas.microsoft.com/office/drawing/2014/main" id="{58F94A36-E150-4C70-87E6-89E6368F1FB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16">
              <a:extLst>
                <a:ext uri="{FF2B5EF4-FFF2-40B4-BE49-F238E27FC236}">
                  <a16:creationId xmlns:a16="http://schemas.microsoft.com/office/drawing/2014/main" id="{885088E1-2931-4D8D-869D-72334C5961D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17">
              <a:extLst>
                <a:ext uri="{FF2B5EF4-FFF2-40B4-BE49-F238E27FC236}">
                  <a16:creationId xmlns:a16="http://schemas.microsoft.com/office/drawing/2014/main" id="{7AE9D160-3F56-4C52-9ED9-A6BAAA329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18">
              <a:extLst>
                <a:ext uri="{FF2B5EF4-FFF2-40B4-BE49-F238E27FC236}">
                  <a16:creationId xmlns:a16="http://schemas.microsoft.com/office/drawing/2014/main" id="{79F3F7A1-0C51-41DA-9DA6-8E90E3E35A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19">
              <a:extLst>
                <a:ext uri="{FF2B5EF4-FFF2-40B4-BE49-F238E27FC236}">
                  <a16:creationId xmlns:a16="http://schemas.microsoft.com/office/drawing/2014/main" id="{DD9A2A46-D55F-4922-A01B-3F8DBED621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0">
              <a:extLst>
                <a:ext uri="{FF2B5EF4-FFF2-40B4-BE49-F238E27FC236}">
                  <a16:creationId xmlns:a16="http://schemas.microsoft.com/office/drawing/2014/main" id="{0AA17DFB-AEBE-4499-865B-B703812442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1">
              <a:extLst>
                <a:ext uri="{FF2B5EF4-FFF2-40B4-BE49-F238E27FC236}">
                  <a16:creationId xmlns:a16="http://schemas.microsoft.com/office/drawing/2014/main" id="{057EE8DA-45A6-49F5-8818-666095A6840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2">
              <a:extLst>
                <a:ext uri="{FF2B5EF4-FFF2-40B4-BE49-F238E27FC236}">
                  <a16:creationId xmlns:a16="http://schemas.microsoft.com/office/drawing/2014/main" id="{8ADAA219-132F-41F3-BFAB-896804CF9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23">
              <a:extLst>
                <a:ext uri="{FF2B5EF4-FFF2-40B4-BE49-F238E27FC236}">
                  <a16:creationId xmlns:a16="http://schemas.microsoft.com/office/drawing/2014/main" id="{0593EFB1-DC77-417B-B5BC-0900A29F86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24">
              <a:extLst>
                <a:ext uri="{FF2B5EF4-FFF2-40B4-BE49-F238E27FC236}">
                  <a16:creationId xmlns:a16="http://schemas.microsoft.com/office/drawing/2014/main" id="{95C9F90E-2399-40F1-BB67-3EEDFC360A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8" name="Freeform 25">
              <a:extLst>
                <a:ext uri="{FF2B5EF4-FFF2-40B4-BE49-F238E27FC236}">
                  <a16:creationId xmlns:a16="http://schemas.microsoft.com/office/drawing/2014/main" id="{59635033-7842-47F7-869E-EB54B03BE9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9" name="Freeform 26">
              <a:extLst>
                <a:ext uri="{FF2B5EF4-FFF2-40B4-BE49-F238E27FC236}">
                  <a16:creationId xmlns:a16="http://schemas.microsoft.com/office/drawing/2014/main" id="{06710716-F4FF-4D2D-BD4D-3A1C29D5DA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0" name="Freeform 27">
              <a:extLst>
                <a:ext uri="{FF2B5EF4-FFF2-40B4-BE49-F238E27FC236}">
                  <a16:creationId xmlns:a16="http://schemas.microsoft.com/office/drawing/2014/main" id="{DD91BF26-5487-4130-87F9-0B56EA0B06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1" name="Freeform 28">
              <a:extLst>
                <a:ext uri="{FF2B5EF4-FFF2-40B4-BE49-F238E27FC236}">
                  <a16:creationId xmlns:a16="http://schemas.microsoft.com/office/drawing/2014/main" id="{DCAE746E-F56B-4E02-A50E-358503AB5F7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2" name="Freeform 29">
              <a:extLst>
                <a:ext uri="{FF2B5EF4-FFF2-40B4-BE49-F238E27FC236}">
                  <a16:creationId xmlns:a16="http://schemas.microsoft.com/office/drawing/2014/main" id="{81DB5307-35A1-4FFB-A8E6-C6AB7703A8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3" name="Freeform 30">
              <a:extLst>
                <a:ext uri="{FF2B5EF4-FFF2-40B4-BE49-F238E27FC236}">
                  <a16:creationId xmlns:a16="http://schemas.microsoft.com/office/drawing/2014/main" id="{052F6C49-049E-4FBC-A090-64B559CC10C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4" name="Freeform 31">
              <a:extLst>
                <a:ext uri="{FF2B5EF4-FFF2-40B4-BE49-F238E27FC236}">
                  <a16:creationId xmlns:a16="http://schemas.microsoft.com/office/drawing/2014/main" id="{B520037F-DF6D-49C9-937E-D7617F8DC8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5" name="Freeform 32">
              <a:extLst>
                <a:ext uri="{FF2B5EF4-FFF2-40B4-BE49-F238E27FC236}">
                  <a16:creationId xmlns:a16="http://schemas.microsoft.com/office/drawing/2014/main" id="{D65483B0-4562-4071-8E79-BFF7E3407B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6" name="Rectangle 33">
              <a:extLst>
                <a:ext uri="{FF2B5EF4-FFF2-40B4-BE49-F238E27FC236}">
                  <a16:creationId xmlns:a16="http://schemas.microsoft.com/office/drawing/2014/main" id="{B537F264-B801-4F97-8091-41E16CA52FE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47" name="Freeform 34">
              <a:extLst>
                <a:ext uri="{FF2B5EF4-FFF2-40B4-BE49-F238E27FC236}">
                  <a16:creationId xmlns:a16="http://schemas.microsoft.com/office/drawing/2014/main" id="{CF0D86E0-647F-437F-AA71-72A789B0D2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8" name="Freeform 35">
              <a:extLst>
                <a:ext uri="{FF2B5EF4-FFF2-40B4-BE49-F238E27FC236}">
                  <a16:creationId xmlns:a16="http://schemas.microsoft.com/office/drawing/2014/main" id="{D72C3866-21D1-48D0-899E-938892FF3D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9" name="Freeform 36">
              <a:extLst>
                <a:ext uri="{FF2B5EF4-FFF2-40B4-BE49-F238E27FC236}">
                  <a16:creationId xmlns:a16="http://schemas.microsoft.com/office/drawing/2014/main" id="{4E94AC39-CDCB-4B11-BE08-FABED0C00F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0" name="Freeform 37">
              <a:extLst>
                <a:ext uri="{FF2B5EF4-FFF2-40B4-BE49-F238E27FC236}">
                  <a16:creationId xmlns:a16="http://schemas.microsoft.com/office/drawing/2014/main" id="{29C7F939-61B9-467B-AC85-C146594B803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1" name="Freeform 38">
              <a:extLst>
                <a:ext uri="{FF2B5EF4-FFF2-40B4-BE49-F238E27FC236}">
                  <a16:creationId xmlns:a16="http://schemas.microsoft.com/office/drawing/2014/main" id="{0B851A48-E333-49BD-8150-3E207F2F5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2" name="Freeform 39">
              <a:extLst>
                <a:ext uri="{FF2B5EF4-FFF2-40B4-BE49-F238E27FC236}">
                  <a16:creationId xmlns:a16="http://schemas.microsoft.com/office/drawing/2014/main" id="{1CD0C878-A6ED-44A0-972F-164829F382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3" name="Freeform 40">
              <a:extLst>
                <a:ext uri="{FF2B5EF4-FFF2-40B4-BE49-F238E27FC236}">
                  <a16:creationId xmlns:a16="http://schemas.microsoft.com/office/drawing/2014/main" id="{1C236544-42D8-4A88-B600-6B8B20FFB4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4" name="Freeform 41">
              <a:extLst>
                <a:ext uri="{FF2B5EF4-FFF2-40B4-BE49-F238E27FC236}">
                  <a16:creationId xmlns:a16="http://schemas.microsoft.com/office/drawing/2014/main" id="{C9FF2C0E-61EA-45E6-8C93-270B51918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5" name="Freeform 42">
              <a:extLst>
                <a:ext uri="{FF2B5EF4-FFF2-40B4-BE49-F238E27FC236}">
                  <a16:creationId xmlns:a16="http://schemas.microsoft.com/office/drawing/2014/main" id="{654F9C3F-E635-4E7B-BF8F-87BF60CE7A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6" name="Freeform 43">
              <a:extLst>
                <a:ext uri="{FF2B5EF4-FFF2-40B4-BE49-F238E27FC236}">
                  <a16:creationId xmlns:a16="http://schemas.microsoft.com/office/drawing/2014/main" id="{ACCA7548-833A-4EEC-91F2-BB9687E3CE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7" name="Freeform 44">
              <a:extLst>
                <a:ext uri="{FF2B5EF4-FFF2-40B4-BE49-F238E27FC236}">
                  <a16:creationId xmlns:a16="http://schemas.microsoft.com/office/drawing/2014/main" id="{F895F203-B2FD-49FE-A865-269B367A41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8" name="Rectangle 45">
              <a:extLst>
                <a:ext uri="{FF2B5EF4-FFF2-40B4-BE49-F238E27FC236}">
                  <a16:creationId xmlns:a16="http://schemas.microsoft.com/office/drawing/2014/main" id="{84D9CCFF-23CD-4209-B238-57DDF091A6C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59" name="Freeform 46">
              <a:extLst>
                <a:ext uri="{FF2B5EF4-FFF2-40B4-BE49-F238E27FC236}">
                  <a16:creationId xmlns:a16="http://schemas.microsoft.com/office/drawing/2014/main" id="{190495CD-E216-4AF5-9038-D7807B638C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0" name="Freeform 47">
              <a:extLst>
                <a:ext uri="{FF2B5EF4-FFF2-40B4-BE49-F238E27FC236}">
                  <a16:creationId xmlns:a16="http://schemas.microsoft.com/office/drawing/2014/main" id="{6E2B5DDB-234E-47ED-9F32-83C6D5EEEB2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1" name="Freeform 48">
              <a:extLst>
                <a:ext uri="{FF2B5EF4-FFF2-40B4-BE49-F238E27FC236}">
                  <a16:creationId xmlns:a16="http://schemas.microsoft.com/office/drawing/2014/main" id="{9DB1F0CB-D565-4DF9-BA3F-7CE9F18B4F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2" name="Freeform 49">
              <a:extLst>
                <a:ext uri="{FF2B5EF4-FFF2-40B4-BE49-F238E27FC236}">
                  <a16:creationId xmlns:a16="http://schemas.microsoft.com/office/drawing/2014/main" id="{552F47B4-D0D5-4075-BD00-7145B6F205E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3" name="Freeform 50">
              <a:extLst>
                <a:ext uri="{FF2B5EF4-FFF2-40B4-BE49-F238E27FC236}">
                  <a16:creationId xmlns:a16="http://schemas.microsoft.com/office/drawing/2014/main" id="{F57CAD52-0B84-4068-BFD9-B48B16AFEE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4" name="Freeform 51">
              <a:extLst>
                <a:ext uri="{FF2B5EF4-FFF2-40B4-BE49-F238E27FC236}">
                  <a16:creationId xmlns:a16="http://schemas.microsoft.com/office/drawing/2014/main" id="{62E09F5E-A24D-4628-A8CB-143556FB9D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5" name="Freeform 52">
              <a:extLst>
                <a:ext uri="{FF2B5EF4-FFF2-40B4-BE49-F238E27FC236}">
                  <a16:creationId xmlns:a16="http://schemas.microsoft.com/office/drawing/2014/main" id="{C547CC76-FB8C-43B1-A625-F694184D94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6" name="Freeform 53">
              <a:extLst>
                <a:ext uri="{FF2B5EF4-FFF2-40B4-BE49-F238E27FC236}">
                  <a16:creationId xmlns:a16="http://schemas.microsoft.com/office/drawing/2014/main" id="{E86CE93B-A557-46C2-B87E-81C1E0E936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7" name="Freeform 54">
              <a:extLst>
                <a:ext uri="{FF2B5EF4-FFF2-40B4-BE49-F238E27FC236}">
                  <a16:creationId xmlns:a16="http://schemas.microsoft.com/office/drawing/2014/main" id="{7220D106-C5C0-4A39-909A-A11F3E246D6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8" name="Freeform 55">
              <a:extLst>
                <a:ext uri="{FF2B5EF4-FFF2-40B4-BE49-F238E27FC236}">
                  <a16:creationId xmlns:a16="http://schemas.microsoft.com/office/drawing/2014/main" id="{195044AA-79D9-4142-8865-9A4B4E8087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9" name="Freeform 56">
              <a:extLst>
                <a:ext uri="{FF2B5EF4-FFF2-40B4-BE49-F238E27FC236}">
                  <a16:creationId xmlns:a16="http://schemas.microsoft.com/office/drawing/2014/main" id="{BBFC5CFA-482C-4B45-87A7-C44F773CC66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70" name="Freeform 57">
              <a:extLst>
                <a:ext uri="{FF2B5EF4-FFF2-40B4-BE49-F238E27FC236}">
                  <a16:creationId xmlns:a16="http://schemas.microsoft.com/office/drawing/2014/main" id="{79BEC615-03E2-4F7F-A457-0CDA565ADA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71" name="Freeform 58">
              <a:extLst>
                <a:ext uri="{FF2B5EF4-FFF2-40B4-BE49-F238E27FC236}">
                  <a16:creationId xmlns:a16="http://schemas.microsoft.com/office/drawing/2014/main" id="{20E56620-58EC-4785-BA5E-2E40F40BC91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136E5999-85A8-328D-B9CE-10498F9A220D}"/>
              </a:ext>
            </a:extLst>
          </p:cNvPr>
          <p:cNvSpPr>
            <a:spLocks noGrp="1"/>
          </p:cNvSpPr>
          <p:nvPr>
            <p:ph type="title"/>
          </p:nvPr>
        </p:nvSpPr>
        <p:spPr>
          <a:xfrm>
            <a:off x="5491209" y="618518"/>
            <a:ext cx="5877676" cy="1478570"/>
          </a:xfrm>
        </p:spPr>
        <p:txBody>
          <a:bodyPr>
            <a:normAutofit/>
          </a:bodyPr>
          <a:lstStyle/>
          <a:p>
            <a:r>
              <a:rPr lang="it-IT" dirty="0" err="1"/>
              <a:t>Results</a:t>
            </a:r>
            <a:r>
              <a:rPr lang="it-IT" dirty="0"/>
              <a:t> A</a:t>
            </a:r>
          </a:p>
        </p:txBody>
      </p:sp>
      <p:pic>
        <p:nvPicPr>
          <p:cNvPr id="5" name="Immagine 4" descr="Immagine che contiene testo, linea, Diagramma, diagramma&#10;&#10;Il contenuto generato dall'IA potrebbe non essere corretto.">
            <a:extLst>
              <a:ext uri="{FF2B5EF4-FFF2-40B4-BE49-F238E27FC236}">
                <a16:creationId xmlns:a16="http://schemas.microsoft.com/office/drawing/2014/main" id="{6CE40831-D55C-580F-BFC0-FAD913BC6AD5}"/>
              </a:ext>
            </a:extLst>
          </p:cNvPr>
          <p:cNvPicPr>
            <a:picLocks noChangeAspect="1"/>
          </p:cNvPicPr>
          <p:nvPr/>
        </p:nvPicPr>
        <p:blipFill>
          <a:blip r:embed="rId3">
            <a:extLst>
              <a:ext uri="{28A0092B-C50C-407E-A947-70E740481C1C}">
                <a14:useLocalDpi xmlns:a14="http://schemas.microsoft.com/office/drawing/2010/main" val="0"/>
              </a:ext>
            </a:extLst>
          </a:blip>
          <a:srcRect l="10206" r="1726" b="1"/>
          <a:stretch>
            <a:fillRect/>
          </a:stretch>
        </p:blipFill>
        <p:spPr>
          <a:xfrm>
            <a:off x="-3080" y="4597703"/>
            <a:ext cx="4635563" cy="2276475"/>
          </a:xfrm>
          <a:custGeom>
            <a:avLst/>
            <a:gdLst/>
            <a:ahLst/>
            <a:cxnLst/>
            <a:rect l="l" t="t" r="r" b="b"/>
            <a:pathLst>
              <a:path w="4635583" h="3427413">
                <a:moveTo>
                  <a:pt x="0" y="0"/>
                </a:moveTo>
                <a:lnTo>
                  <a:pt x="4635583" y="0"/>
                </a:lnTo>
                <a:lnTo>
                  <a:pt x="4635583" y="3427413"/>
                </a:lnTo>
                <a:lnTo>
                  <a:pt x="0" y="3427413"/>
                </a:lnTo>
                <a:close/>
              </a:path>
            </a:pathLst>
          </a:custGeom>
        </p:spPr>
      </p:pic>
      <p:pic>
        <p:nvPicPr>
          <p:cNvPr id="8" name="Immagine 7" descr="Immagine che contiene testo, schermata, Diagramma, linea&#10;&#10;Il contenuto generato dall'IA potrebbe non essere corretto.">
            <a:extLst>
              <a:ext uri="{FF2B5EF4-FFF2-40B4-BE49-F238E27FC236}">
                <a16:creationId xmlns:a16="http://schemas.microsoft.com/office/drawing/2014/main" id="{814759F3-9B50-EB44-DEA7-CB347AB847B7}"/>
              </a:ext>
            </a:extLst>
          </p:cNvPr>
          <p:cNvPicPr>
            <a:picLocks noChangeAspect="1"/>
          </p:cNvPicPr>
          <p:nvPr/>
        </p:nvPicPr>
        <p:blipFill>
          <a:blip r:embed="rId4">
            <a:extLst>
              <a:ext uri="{28A0092B-C50C-407E-A947-70E740481C1C}">
                <a14:useLocalDpi xmlns:a14="http://schemas.microsoft.com/office/drawing/2010/main" val="0"/>
              </a:ext>
            </a:extLst>
          </a:blip>
          <a:srcRect r="12298" b="1"/>
          <a:stretch>
            <a:fillRect/>
          </a:stretch>
        </p:blipFill>
        <p:spPr>
          <a:xfrm>
            <a:off x="20" y="2285999"/>
            <a:ext cx="4635563" cy="2286001"/>
          </a:xfrm>
          <a:custGeom>
            <a:avLst/>
            <a:gdLst/>
            <a:ahLst/>
            <a:cxnLst/>
            <a:rect l="l" t="t" r="r" b="b"/>
            <a:pathLst>
              <a:path w="4635583" h="3430587">
                <a:moveTo>
                  <a:pt x="0" y="0"/>
                </a:moveTo>
                <a:lnTo>
                  <a:pt x="4635583" y="0"/>
                </a:lnTo>
                <a:lnTo>
                  <a:pt x="4635583" y="3430587"/>
                </a:lnTo>
                <a:lnTo>
                  <a:pt x="0" y="3430587"/>
                </a:lnTo>
                <a:close/>
              </a:path>
            </a:pathLst>
          </a:custGeom>
        </p:spPr>
      </p:pic>
      <p:cxnSp>
        <p:nvCxnSpPr>
          <p:cNvPr id="73" name="Straight Connector 72">
            <a:extLst>
              <a:ext uri="{FF2B5EF4-FFF2-40B4-BE49-F238E27FC236}">
                <a16:creationId xmlns:a16="http://schemas.microsoft.com/office/drawing/2014/main" id="{3CFEBF73-2875-4126-A90D-ABB6BBFEAD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2286000"/>
            <a:ext cx="4635583" cy="0"/>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pic>
        <p:nvPicPr>
          <p:cNvPr id="7" name="Immagine 6" descr="Immagine che contiene testo, schermata, diagramma, Diagramma&#10;&#10;Il contenuto generato dall'IA potrebbe non essere corretto.">
            <a:extLst>
              <a:ext uri="{FF2B5EF4-FFF2-40B4-BE49-F238E27FC236}">
                <a16:creationId xmlns:a16="http://schemas.microsoft.com/office/drawing/2014/main" id="{5ECC3848-27FF-4216-EAE4-585DC17C949D}"/>
              </a:ext>
            </a:extLst>
          </p:cNvPr>
          <p:cNvPicPr>
            <a:picLocks noChangeAspect="1"/>
          </p:cNvPicPr>
          <p:nvPr/>
        </p:nvPicPr>
        <p:blipFill>
          <a:blip r:embed="rId5">
            <a:extLst>
              <a:ext uri="{28A0092B-C50C-407E-A947-70E740481C1C}">
                <a14:useLocalDpi xmlns:a14="http://schemas.microsoft.com/office/drawing/2010/main" val="0"/>
              </a:ext>
            </a:extLst>
          </a:blip>
          <a:srcRect r="1" b="1372"/>
          <a:stretch>
            <a:fillRect/>
          </a:stretch>
        </p:blipFill>
        <p:spPr>
          <a:xfrm>
            <a:off x="0" y="-7132"/>
            <a:ext cx="4635563" cy="2286001"/>
          </a:xfrm>
          <a:custGeom>
            <a:avLst/>
            <a:gdLst/>
            <a:ahLst/>
            <a:cxnLst/>
            <a:rect l="l" t="t" r="r" b="b"/>
            <a:pathLst>
              <a:path w="4635583" h="3430587">
                <a:moveTo>
                  <a:pt x="0" y="0"/>
                </a:moveTo>
                <a:lnTo>
                  <a:pt x="4635583" y="0"/>
                </a:lnTo>
                <a:lnTo>
                  <a:pt x="4635583" y="3430587"/>
                </a:lnTo>
                <a:lnTo>
                  <a:pt x="0" y="3430587"/>
                </a:lnTo>
                <a:close/>
              </a:path>
            </a:pathLst>
          </a:custGeom>
        </p:spPr>
      </p:pic>
      <p:cxnSp>
        <p:nvCxnSpPr>
          <p:cNvPr id="75" name="Straight Connector 74">
            <a:extLst>
              <a:ext uri="{FF2B5EF4-FFF2-40B4-BE49-F238E27FC236}">
                <a16:creationId xmlns:a16="http://schemas.microsoft.com/office/drawing/2014/main" id="{0F167419-5C1C-40BD-B9C4-75CFC65088F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72000"/>
            <a:ext cx="4635583" cy="0"/>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cxnSp>
        <p:nvCxnSpPr>
          <p:cNvPr id="77" name="Straight Connector 76">
            <a:extLst>
              <a:ext uri="{FF2B5EF4-FFF2-40B4-BE49-F238E27FC236}">
                <a16:creationId xmlns:a16="http://schemas.microsoft.com/office/drawing/2014/main" id="{AFCD9A95-E405-4952-A0CF-6EAF80F9706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32483" y="-464"/>
            <a:ext cx="2646" cy="6858465"/>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sp>
        <p:nvSpPr>
          <p:cNvPr id="3" name="Segnaposto contenuto 2">
            <a:extLst>
              <a:ext uri="{FF2B5EF4-FFF2-40B4-BE49-F238E27FC236}">
                <a16:creationId xmlns:a16="http://schemas.microsoft.com/office/drawing/2014/main" id="{148653F7-7E89-E8D0-66AA-896B0A955B75}"/>
              </a:ext>
            </a:extLst>
          </p:cNvPr>
          <p:cNvSpPr>
            <a:spLocks noGrp="1"/>
          </p:cNvSpPr>
          <p:nvPr>
            <p:ph idx="1"/>
          </p:nvPr>
        </p:nvSpPr>
        <p:spPr>
          <a:xfrm>
            <a:off x="5504020" y="2095499"/>
            <a:ext cx="5877677" cy="3541714"/>
          </a:xfrm>
        </p:spPr>
        <p:txBody>
          <a:bodyPr>
            <a:normAutofit/>
          </a:bodyPr>
          <a:lstStyle/>
          <a:p>
            <a:pPr marL="0" indent="0">
              <a:buNone/>
            </a:pPr>
            <a:r>
              <a:rPr lang="it-IT" dirty="0">
                <a:latin typeface="Calibri Light" panose="020F0302020204030204" pitchFamily="34" charset="0"/>
                <a:ea typeface="Calibri Light" panose="020F0302020204030204" pitchFamily="34" charset="0"/>
                <a:cs typeface="Calibri Light" panose="020F0302020204030204" pitchFamily="34" charset="0"/>
              </a:rPr>
              <a:t>Test </a:t>
            </a:r>
            <a:r>
              <a:rPr lang="it-IT" dirty="0" err="1">
                <a:latin typeface="Calibri Light" panose="020F0302020204030204" pitchFamily="34" charset="0"/>
                <a:ea typeface="Calibri Light" panose="020F0302020204030204" pitchFamily="34" charset="0"/>
                <a:cs typeface="Calibri Light" panose="020F0302020204030204" pitchFamily="34" charset="0"/>
              </a:rPr>
              <a:t>number</a:t>
            </a:r>
            <a:r>
              <a:rPr lang="it-IT" dirty="0">
                <a:latin typeface="Calibri Light" panose="020F0302020204030204" pitchFamily="34" charset="0"/>
                <a:ea typeface="Calibri Light" panose="020F0302020204030204" pitchFamily="34" charset="0"/>
                <a:cs typeface="Calibri Light" panose="020F0302020204030204" pitchFamily="34" charset="0"/>
              </a:rPr>
              <a:t> 6: after </a:t>
            </a:r>
            <a:r>
              <a:rPr lang="it-IT" dirty="0" err="1">
                <a:latin typeface="Calibri Light" panose="020F0302020204030204" pitchFamily="34" charset="0"/>
                <a:ea typeface="Calibri Light" panose="020F0302020204030204" pitchFamily="34" charset="0"/>
                <a:cs typeface="Calibri Light" panose="020F0302020204030204" pitchFamily="34" charset="0"/>
              </a:rPr>
              <a:t>noticing</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that</a:t>
            </a:r>
            <a:r>
              <a:rPr lang="it-IT" dirty="0">
                <a:latin typeface="Calibri Light" panose="020F0302020204030204" pitchFamily="34" charset="0"/>
                <a:ea typeface="Calibri Light" panose="020F0302020204030204" pitchFamily="34" charset="0"/>
                <a:cs typeface="Calibri Light" panose="020F0302020204030204" pitchFamily="34" charset="0"/>
              </a:rPr>
              <a:t> the robot </a:t>
            </a:r>
            <a:r>
              <a:rPr lang="it-IT" dirty="0" err="1">
                <a:latin typeface="Calibri Light" panose="020F0302020204030204" pitchFamily="34" charset="0"/>
                <a:ea typeface="Calibri Light" panose="020F0302020204030204" pitchFamily="34" charset="0"/>
                <a:cs typeface="Calibri Light" panose="020F0302020204030204" pitchFamily="34" charset="0"/>
              </a:rPr>
              <a:t>failed</a:t>
            </a:r>
            <a:r>
              <a:rPr lang="it-IT" dirty="0">
                <a:latin typeface="Calibri Light" panose="020F0302020204030204" pitchFamily="34" charset="0"/>
                <a:ea typeface="Calibri Light" panose="020F0302020204030204" pitchFamily="34" charset="0"/>
                <a:cs typeface="Calibri Light" panose="020F0302020204030204" pitchFamily="34" charset="0"/>
              </a:rPr>
              <a:t> to </a:t>
            </a:r>
            <a:r>
              <a:rPr lang="it-IT" dirty="0" err="1">
                <a:latin typeface="Calibri Light" panose="020F0302020204030204" pitchFamily="34" charset="0"/>
                <a:ea typeface="Calibri Light" panose="020F0302020204030204" pitchFamily="34" charset="0"/>
                <a:cs typeface="Calibri Light" panose="020F0302020204030204" pitchFamily="34" charset="0"/>
              </a:rPr>
              <a:t>reach</a:t>
            </a:r>
            <a:r>
              <a:rPr lang="it-IT" dirty="0">
                <a:latin typeface="Calibri Light" panose="020F0302020204030204" pitchFamily="34" charset="0"/>
                <a:ea typeface="Calibri Light" panose="020F0302020204030204" pitchFamily="34" charset="0"/>
                <a:cs typeface="Calibri Light" panose="020F0302020204030204" pitchFamily="34" charset="0"/>
              </a:rPr>
              <a:t> the medium goal </a:t>
            </a:r>
            <a:r>
              <a:rPr lang="it-IT" dirty="0" err="1">
                <a:latin typeface="Calibri Light" panose="020F0302020204030204" pitchFamily="34" charset="0"/>
                <a:ea typeface="Calibri Light" panose="020F0302020204030204" pitchFamily="34" charset="0"/>
                <a:cs typeface="Calibri Light" panose="020F0302020204030204" pitchFamily="34" charset="0"/>
              </a:rPr>
              <a:t>we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tried</a:t>
            </a:r>
            <a:r>
              <a:rPr lang="it-IT" dirty="0">
                <a:latin typeface="Calibri Light" panose="020F0302020204030204" pitchFamily="34" charset="0"/>
                <a:ea typeface="Calibri Light" panose="020F0302020204030204" pitchFamily="34" charset="0"/>
                <a:cs typeface="Calibri Light" panose="020F0302020204030204" pitchFamily="34" charset="0"/>
              </a:rPr>
              <a:t> to force the </a:t>
            </a:r>
            <a:r>
              <a:rPr lang="it-IT" dirty="0" err="1">
                <a:latin typeface="Calibri Light" panose="020F0302020204030204" pitchFamily="34" charset="0"/>
                <a:ea typeface="Calibri Light" panose="020F0302020204030204" pitchFamily="34" charset="0"/>
                <a:cs typeface="Calibri Light" panose="020F0302020204030204" pitchFamily="34" charset="0"/>
              </a:rPr>
              <a:t>choice</a:t>
            </a:r>
            <a:r>
              <a:rPr lang="it-IT" dirty="0">
                <a:latin typeface="Calibri Light" panose="020F0302020204030204" pitchFamily="34" charset="0"/>
                <a:ea typeface="Calibri Light" panose="020F0302020204030204" pitchFamily="34" charset="0"/>
                <a:cs typeface="Calibri Light" panose="020F0302020204030204" pitchFamily="34" charset="0"/>
              </a:rPr>
              <a:t> of the goal </a:t>
            </a:r>
            <a:r>
              <a:rPr lang="it-IT" dirty="0" err="1">
                <a:latin typeface="Calibri Light" panose="020F0302020204030204" pitchFamily="34" charset="0"/>
                <a:ea typeface="Calibri Light" panose="020F0302020204030204" pitchFamily="34" charset="0"/>
                <a:cs typeface="Calibri Light" panose="020F0302020204030204" pitchFamily="34" charset="0"/>
              </a:rPr>
              <a:t>but</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this</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resulted</a:t>
            </a:r>
            <a:r>
              <a:rPr lang="it-IT" dirty="0">
                <a:latin typeface="Calibri Light" panose="020F0302020204030204" pitchFamily="34" charset="0"/>
                <a:ea typeface="Calibri Light" panose="020F0302020204030204" pitchFamily="34" charset="0"/>
                <a:cs typeface="Calibri Light" panose="020F0302020204030204" pitchFamily="34" charset="0"/>
              </a:rPr>
              <a:t> in the </a:t>
            </a:r>
            <a:r>
              <a:rPr lang="it-IT" dirty="0" err="1">
                <a:latin typeface="Calibri Light" panose="020F0302020204030204" pitchFamily="34" charset="0"/>
                <a:ea typeface="Calibri Light" panose="020F0302020204030204" pitchFamily="34" charset="0"/>
                <a:cs typeface="Calibri Light" panose="020F0302020204030204" pitchFamily="34" charset="0"/>
              </a:rPr>
              <a:t>plummeting</a:t>
            </a:r>
            <a:r>
              <a:rPr lang="it-IT" dirty="0">
                <a:latin typeface="Calibri Light" panose="020F0302020204030204" pitchFamily="34" charset="0"/>
                <a:ea typeface="Calibri Light" panose="020F0302020204030204" pitchFamily="34" charset="0"/>
                <a:cs typeface="Calibri Light" panose="020F0302020204030204" pitchFamily="34" charset="0"/>
              </a:rPr>
              <a:t> of the success rate</a:t>
            </a:r>
          </a:p>
          <a:p>
            <a:pPr marL="0" indent="0">
              <a:buNone/>
            </a:pPr>
            <a:endParaRPr lang="it-IT" dirty="0">
              <a:latin typeface="Calibri Light" panose="020F0302020204030204" pitchFamily="34" charset="0"/>
              <a:ea typeface="Calibri Light" panose="020F0302020204030204" pitchFamily="34" charset="0"/>
              <a:cs typeface="Calibri Light" panose="020F0302020204030204" pitchFamily="34" charset="0"/>
            </a:endParaRPr>
          </a:p>
          <a:p>
            <a:pPr marL="0" indent="0">
              <a:buNone/>
            </a:pPr>
            <a:endParaRPr lang="it-IT"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481308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34770"/>
        </a:solidFill>
        <a:effectLst/>
      </p:bgPr>
    </p:bg>
    <p:spTree>
      <p:nvGrpSpPr>
        <p:cNvPr id="1" name="">
          <a:extLst>
            <a:ext uri="{FF2B5EF4-FFF2-40B4-BE49-F238E27FC236}">
              <a16:creationId xmlns:a16="http://schemas.microsoft.com/office/drawing/2014/main" id="{E6851727-533E-D0D8-A44B-BA01424879B1}"/>
            </a:ext>
          </a:extLst>
        </p:cNvPr>
        <p:cNvGrpSpPr/>
        <p:nvPr/>
      </p:nvGrpSpPr>
      <p:grpSpPr>
        <a:xfrm>
          <a:off x="0" y="0"/>
          <a:ext cx="0" cy="0"/>
          <a:chOff x="0" y="0"/>
          <a:chExt cx="0" cy="0"/>
        </a:xfrm>
      </p:grpSpPr>
      <p:grpSp>
        <p:nvGrpSpPr>
          <p:cNvPr id="112" name="Group 111">
            <a:extLst>
              <a:ext uri="{FF2B5EF4-FFF2-40B4-BE49-F238E27FC236}">
                <a16:creationId xmlns:a16="http://schemas.microsoft.com/office/drawing/2014/main" id="{62C6D782-6B6F-4B4E-B92B-C8F13A0FED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13" name="Rectangle 112">
              <a:extLst>
                <a:ext uri="{FF2B5EF4-FFF2-40B4-BE49-F238E27FC236}">
                  <a16:creationId xmlns:a16="http://schemas.microsoft.com/office/drawing/2014/main" id="{E9716FBC-9870-4321-B055-657F96DDF1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4" name="Picture 2">
              <a:extLst>
                <a:ext uri="{FF2B5EF4-FFF2-40B4-BE49-F238E27FC236}">
                  <a16:creationId xmlns:a16="http://schemas.microsoft.com/office/drawing/2014/main" id="{3720C802-2465-4EF6-9AED-E768D24605A6}"/>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grpSp>
        <p:nvGrpSpPr>
          <p:cNvPr id="116" name="Group 115">
            <a:extLst>
              <a:ext uri="{FF2B5EF4-FFF2-40B4-BE49-F238E27FC236}">
                <a16:creationId xmlns:a16="http://schemas.microsoft.com/office/drawing/2014/main" id="{6E532192-EB0D-43D0-8ACF-ABEBADC617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1779"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17" name="Rectangle 5">
              <a:extLst>
                <a:ext uri="{FF2B5EF4-FFF2-40B4-BE49-F238E27FC236}">
                  <a16:creationId xmlns:a16="http://schemas.microsoft.com/office/drawing/2014/main" id="{A61AEB4E-A65A-4890-AD09-C9ACFB0801B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18" name="Freeform 6">
              <a:extLst>
                <a:ext uri="{FF2B5EF4-FFF2-40B4-BE49-F238E27FC236}">
                  <a16:creationId xmlns:a16="http://schemas.microsoft.com/office/drawing/2014/main" id="{528DE10F-D498-4BFB-8B2A-E06AAA1F48D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19" name="Freeform 7">
              <a:extLst>
                <a:ext uri="{FF2B5EF4-FFF2-40B4-BE49-F238E27FC236}">
                  <a16:creationId xmlns:a16="http://schemas.microsoft.com/office/drawing/2014/main" id="{EA9A7A15-77B2-4771-B979-8F0E0626AC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0" name="Rectangle 8">
              <a:extLst>
                <a:ext uri="{FF2B5EF4-FFF2-40B4-BE49-F238E27FC236}">
                  <a16:creationId xmlns:a16="http://schemas.microsoft.com/office/drawing/2014/main" id="{91C3D14F-54C6-49E0-BB0E-DAEA3688A87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1" name="Freeform 9">
              <a:extLst>
                <a:ext uri="{FF2B5EF4-FFF2-40B4-BE49-F238E27FC236}">
                  <a16:creationId xmlns:a16="http://schemas.microsoft.com/office/drawing/2014/main" id="{693A8E0B-9819-41E1-979C-44F08FECF5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2" name="Freeform 10">
              <a:extLst>
                <a:ext uri="{FF2B5EF4-FFF2-40B4-BE49-F238E27FC236}">
                  <a16:creationId xmlns:a16="http://schemas.microsoft.com/office/drawing/2014/main" id="{31C3E5DB-A7A3-4EAE-9026-F9B8F12EC1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3" name="Freeform 11">
              <a:extLst>
                <a:ext uri="{FF2B5EF4-FFF2-40B4-BE49-F238E27FC236}">
                  <a16:creationId xmlns:a16="http://schemas.microsoft.com/office/drawing/2014/main" id="{DCA25288-1A1B-4F47-B482-9A847602E2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4" name="Freeform 12">
              <a:extLst>
                <a:ext uri="{FF2B5EF4-FFF2-40B4-BE49-F238E27FC236}">
                  <a16:creationId xmlns:a16="http://schemas.microsoft.com/office/drawing/2014/main" id="{14B443AB-E1B9-4C40-BA70-8F6CAD01F21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5" name="Freeform 13">
              <a:extLst>
                <a:ext uri="{FF2B5EF4-FFF2-40B4-BE49-F238E27FC236}">
                  <a16:creationId xmlns:a16="http://schemas.microsoft.com/office/drawing/2014/main" id="{85A198B7-B595-43D6-828B-3A6D853223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6" name="Freeform 14">
              <a:extLst>
                <a:ext uri="{FF2B5EF4-FFF2-40B4-BE49-F238E27FC236}">
                  <a16:creationId xmlns:a16="http://schemas.microsoft.com/office/drawing/2014/main" id="{F310B986-AB70-4FCE-85CC-A7FB750ABD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7" name="Freeform 15">
              <a:extLst>
                <a:ext uri="{FF2B5EF4-FFF2-40B4-BE49-F238E27FC236}">
                  <a16:creationId xmlns:a16="http://schemas.microsoft.com/office/drawing/2014/main" id="{58F94A36-E150-4C70-87E6-89E6368F1FB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8" name="Freeform 16">
              <a:extLst>
                <a:ext uri="{FF2B5EF4-FFF2-40B4-BE49-F238E27FC236}">
                  <a16:creationId xmlns:a16="http://schemas.microsoft.com/office/drawing/2014/main" id="{885088E1-2931-4D8D-869D-72334C5961D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9" name="Freeform 17">
              <a:extLst>
                <a:ext uri="{FF2B5EF4-FFF2-40B4-BE49-F238E27FC236}">
                  <a16:creationId xmlns:a16="http://schemas.microsoft.com/office/drawing/2014/main" id="{7AE9D160-3F56-4C52-9ED9-A6BAAA329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0" name="Freeform 18">
              <a:extLst>
                <a:ext uri="{FF2B5EF4-FFF2-40B4-BE49-F238E27FC236}">
                  <a16:creationId xmlns:a16="http://schemas.microsoft.com/office/drawing/2014/main" id="{79F3F7A1-0C51-41DA-9DA6-8E90E3E35A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1" name="Freeform 19">
              <a:extLst>
                <a:ext uri="{FF2B5EF4-FFF2-40B4-BE49-F238E27FC236}">
                  <a16:creationId xmlns:a16="http://schemas.microsoft.com/office/drawing/2014/main" id="{DD9A2A46-D55F-4922-A01B-3F8DBED621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2" name="Freeform 20">
              <a:extLst>
                <a:ext uri="{FF2B5EF4-FFF2-40B4-BE49-F238E27FC236}">
                  <a16:creationId xmlns:a16="http://schemas.microsoft.com/office/drawing/2014/main" id="{0AA17DFB-AEBE-4499-865B-B703812442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3" name="Freeform 21">
              <a:extLst>
                <a:ext uri="{FF2B5EF4-FFF2-40B4-BE49-F238E27FC236}">
                  <a16:creationId xmlns:a16="http://schemas.microsoft.com/office/drawing/2014/main" id="{057EE8DA-45A6-49F5-8818-666095A6840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4" name="Freeform 22">
              <a:extLst>
                <a:ext uri="{FF2B5EF4-FFF2-40B4-BE49-F238E27FC236}">
                  <a16:creationId xmlns:a16="http://schemas.microsoft.com/office/drawing/2014/main" id="{8ADAA219-132F-41F3-BFAB-896804CF9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5" name="Freeform 23">
              <a:extLst>
                <a:ext uri="{FF2B5EF4-FFF2-40B4-BE49-F238E27FC236}">
                  <a16:creationId xmlns:a16="http://schemas.microsoft.com/office/drawing/2014/main" id="{0593EFB1-DC77-417B-B5BC-0900A29F86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6" name="Freeform 24">
              <a:extLst>
                <a:ext uri="{FF2B5EF4-FFF2-40B4-BE49-F238E27FC236}">
                  <a16:creationId xmlns:a16="http://schemas.microsoft.com/office/drawing/2014/main" id="{95C9F90E-2399-40F1-BB67-3EEDFC360A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7" name="Freeform 25">
              <a:extLst>
                <a:ext uri="{FF2B5EF4-FFF2-40B4-BE49-F238E27FC236}">
                  <a16:creationId xmlns:a16="http://schemas.microsoft.com/office/drawing/2014/main" id="{59635033-7842-47F7-869E-EB54B03BE9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8" name="Freeform 26">
              <a:extLst>
                <a:ext uri="{FF2B5EF4-FFF2-40B4-BE49-F238E27FC236}">
                  <a16:creationId xmlns:a16="http://schemas.microsoft.com/office/drawing/2014/main" id="{06710716-F4FF-4D2D-BD4D-3A1C29D5DA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9" name="Freeform 27">
              <a:extLst>
                <a:ext uri="{FF2B5EF4-FFF2-40B4-BE49-F238E27FC236}">
                  <a16:creationId xmlns:a16="http://schemas.microsoft.com/office/drawing/2014/main" id="{DD91BF26-5487-4130-87F9-0B56EA0B06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0" name="Freeform 28">
              <a:extLst>
                <a:ext uri="{FF2B5EF4-FFF2-40B4-BE49-F238E27FC236}">
                  <a16:creationId xmlns:a16="http://schemas.microsoft.com/office/drawing/2014/main" id="{DCAE746E-F56B-4E02-A50E-358503AB5F7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1" name="Freeform 29">
              <a:extLst>
                <a:ext uri="{FF2B5EF4-FFF2-40B4-BE49-F238E27FC236}">
                  <a16:creationId xmlns:a16="http://schemas.microsoft.com/office/drawing/2014/main" id="{81DB5307-35A1-4FFB-A8E6-C6AB7703A8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2" name="Freeform 30">
              <a:extLst>
                <a:ext uri="{FF2B5EF4-FFF2-40B4-BE49-F238E27FC236}">
                  <a16:creationId xmlns:a16="http://schemas.microsoft.com/office/drawing/2014/main" id="{052F6C49-049E-4FBC-A090-64B559CC10C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3" name="Freeform 31">
              <a:extLst>
                <a:ext uri="{FF2B5EF4-FFF2-40B4-BE49-F238E27FC236}">
                  <a16:creationId xmlns:a16="http://schemas.microsoft.com/office/drawing/2014/main" id="{B520037F-DF6D-49C9-937E-D7617F8DC8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4" name="Freeform 32">
              <a:extLst>
                <a:ext uri="{FF2B5EF4-FFF2-40B4-BE49-F238E27FC236}">
                  <a16:creationId xmlns:a16="http://schemas.microsoft.com/office/drawing/2014/main" id="{D65483B0-4562-4071-8E79-BFF7E3407B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5" name="Rectangle 33">
              <a:extLst>
                <a:ext uri="{FF2B5EF4-FFF2-40B4-BE49-F238E27FC236}">
                  <a16:creationId xmlns:a16="http://schemas.microsoft.com/office/drawing/2014/main" id="{B537F264-B801-4F97-8091-41E16CA52FE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46" name="Freeform 34">
              <a:extLst>
                <a:ext uri="{FF2B5EF4-FFF2-40B4-BE49-F238E27FC236}">
                  <a16:creationId xmlns:a16="http://schemas.microsoft.com/office/drawing/2014/main" id="{CF0D86E0-647F-437F-AA71-72A789B0D2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7" name="Freeform 35">
              <a:extLst>
                <a:ext uri="{FF2B5EF4-FFF2-40B4-BE49-F238E27FC236}">
                  <a16:creationId xmlns:a16="http://schemas.microsoft.com/office/drawing/2014/main" id="{D72C3866-21D1-48D0-899E-938892FF3D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8" name="Freeform 36">
              <a:extLst>
                <a:ext uri="{FF2B5EF4-FFF2-40B4-BE49-F238E27FC236}">
                  <a16:creationId xmlns:a16="http://schemas.microsoft.com/office/drawing/2014/main" id="{4E94AC39-CDCB-4B11-BE08-FABED0C00F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9" name="Freeform 37">
              <a:extLst>
                <a:ext uri="{FF2B5EF4-FFF2-40B4-BE49-F238E27FC236}">
                  <a16:creationId xmlns:a16="http://schemas.microsoft.com/office/drawing/2014/main" id="{29C7F939-61B9-467B-AC85-C146594B803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0" name="Freeform 38">
              <a:extLst>
                <a:ext uri="{FF2B5EF4-FFF2-40B4-BE49-F238E27FC236}">
                  <a16:creationId xmlns:a16="http://schemas.microsoft.com/office/drawing/2014/main" id="{0B851A48-E333-49BD-8150-3E207F2F5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1" name="Freeform 39">
              <a:extLst>
                <a:ext uri="{FF2B5EF4-FFF2-40B4-BE49-F238E27FC236}">
                  <a16:creationId xmlns:a16="http://schemas.microsoft.com/office/drawing/2014/main" id="{1CD0C878-A6ED-44A0-972F-164829F382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2" name="Freeform 40">
              <a:extLst>
                <a:ext uri="{FF2B5EF4-FFF2-40B4-BE49-F238E27FC236}">
                  <a16:creationId xmlns:a16="http://schemas.microsoft.com/office/drawing/2014/main" id="{1C236544-42D8-4A88-B600-6B8B20FFB4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3" name="Freeform 41">
              <a:extLst>
                <a:ext uri="{FF2B5EF4-FFF2-40B4-BE49-F238E27FC236}">
                  <a16:creationId xmlns:a16="http://schemas.microsoft.com/office/drawing/2014/main" id="{C9FF2C0E-61EA-45E6-8C93-270B51918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4" name="Freeform 42">
              <a:extLst>
                <a:ext uri="{FF2B5EF4-FFF2-40B4-BE49-F238E27FC236}">
                  <a16:creationId xmlns:a16="http://schemas.microsoft.com/office/drawing/2014/main" id="{654F9C3F-E635-4E7B-BF8F-87BF60CE7A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5" name="Freeform 43">
              <a:extLst>
                <a:ext uri="{FF2B5EF4-FFF2-40B4-BE49-F238E27FC236}">
                  <a16:creationId xmlns:a16="http://schemas.microsoft.com/office/drawing/2014/main" id="{ACCA7548-833A-4EEC-91F2-BB9687E3CE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6" name="Freeform 44">
              <a:extLst>
                <a:ext uri="{FF2B5EF4-FFF2-40B4-BE49-F238E27FC236}">
                  <a16:creationId xmlns:a16="http://schemas.microsoft.com/office/drawing/2014/main" id="{F895F203-B2FD-49FE-A865-269B367A41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7" name="Rectangle 45">
              <a:extLst>
                <a:ext uri="{FF2B5EF4-FFF2-40B4-BE49-F238E27FC236}">
                  <a16:creationId xmlns:a16="http://schemas.microsoft.com/office/drawing/2014/main" id="{84D9CCFF-23CD-4209-B238-57DDF091A6C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58" name="Freeform 46">
              <a:extLst>
                <a:ext uri="{FF2B5EF4-FFF2-40B4-BE49-F238E27FC236}">
                  <a16:creationId xmlns:a16="http://schemas.microsoft.com/office/drawing/2014/main" id="{190495CD-E216-4AF5-9038-D7807B638C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9" name="Freeform 47">
              <a:extLst>
                <a:ext uri="{FF2B5EF4-FFF2-40B4-BE49-F238E27FC236}">
                  <a16:creationId xmlns:a16="http://schemas.microsoft.com/office/drawing/2014/main" id="{6E2B5DDB-234E-47ED-9F32-83C6D5EEEB2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0" name="Freeform 48">
              <a:extLst>
                <a:ext uri="{FF2B5EF4-FFF2-40B4-BE49-F238E27FC236}">
                  <a16:creationId xmlns:a16="http://schemas.microsoft.com/office/drawing/2014/main" id="{9DB1F0CB-D565-4DF9-BA3F-7CE9F18B4F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1" name="Freeform 49">
              <a:extLst>
                <a:ext uri="{FF2B5EF4-FFF2-40B4-BE49-F238E27FC236}">
                  <a16:creationId xmlns:a16="http://schemas.microsoft.com/office/drawing/2014/main" id="{552F47B4-D0D5-4075-BD00-7145B6F205E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2" name="Freeform 50">
              <a:extLst>
                <a:ext uri="{FF2B5EF4-FFF2-40B4-BE49-F238E27FC236}">
                  <a16:creationId xmlns:a16="http://schemas.microsoft.com/office/drawing/2014/main" id="{F57CAD52-0B84-4068-BFD9-B48B16AFEE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3" name="Freeform 51">
              <a:extLst>
                <a:ext uri="{FF2B5EF4-FFF2-40B4-BE49-F238E27FC236}">
                  <a16:creationId xmlns:a16="http://schemas.microsoft.com/office/drawing/2014/main" id="{62E09F5E-A24D-4628-A8CB-143556FB9D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4" name="Freeform 52">
              <a:extLst>
                <a:ext uri="{FF2B5EF4-FFF2-40B4-BE49-F238E27FC236}">
                  <a16:creationId xmlns:a16="http://schemas.microsoft.com/office/drawing/2014/main" id="{C547CC76-FB8C-43B1-A625-F694184D94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5" name="Freeform 53">
              <a:extLst>
                <a:ext uri="{FF2B5EF4-FFF2-40B4-BE49-F238E27FC236}">
                  <a16:creationId xmlns:a16="http://schemas.microsoft.com/office/drawing/2014/main" id="{E86CE93B-A557-46C2-B87E-81C1E0E936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6" name="Freeform 54">
              <a:extLst>
                <a:ext uri="{FF2B5EF4-FFF2-40B4-BE49-F238E27FC236}">
                  <a16:creationId xmlns:a16="http://schemas.microsoft.com/office/drawing/2014/main" id="{7220D106-C5C0-4A39-909A-A11F3E246D6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7" name="Freeform 55">
              <a:extLst>
                <a:ext uri="{FF2B5EF4-FFF2-40B4-BE49-F238E27FC236}">
                  <a16:creationId xmlns:a16="http://schemas.microsoft.com/office/drawing/2014/main" id="{195044AA-79D9-4142-8865-9A4B4E8087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8" name="Freeform 56">
              <a:extLst>
                <a:ext uri="{FF2B5EF4-FFF2-40B4-BE49-F238E27FC236}">
                  <a16:creationId xmlns:a16="http://schemas.microsoft.com/office/drawing/2014/main" id="{BBFC5CFA-482C-4B45-87A7-C44F773CC66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9" name="Freeform 57">
              <a:extLst>
                <a:ext uri="{FF2B5EF4-FFF2-40B4-BE49-F238E27FC236}">
                  <a16:creationId xmlns:a16="http://schemas.microsoft.com/office/drawing/2014/main" id="{79BEC615-03E2-4F7F-A457-0CDA565ADA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0" name="Freeform 58">
              <a:extLst>
                <a:ext uri="{FF2B5EF4-FFF2-40B4-BE49-F238E27FC236}">
                  <a16:creationId xmlns:a16="http://schemas.microsoft.com/office/drawing/2014/main" id="{20E56620-58EC-4785-BA5E-2E40F40BC91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97B7BE0E-D41A-7327-313E-73BE3EC4D974}"/>
              </a:ext>
            </a:extLst>
          </p:cNvPr>
          <p:cNvSpPr>
            <a:spLocks noGrp="1"/>
          </p:cNvSpPr>
          <p:nvPr>
            <p:ph type="title"/>
          </p:nvPr>
        </p:nvSpPr>
        <p:spPr>
          <a:xfrm>
            <a:off x="5491209" y="618518"/>
            <a:ext cx="5877676" cy="1478570"/>
          </a:xfrm>
        </p:spPr>
        <p:txBody>
          <a:bodyPr>
            <a:normAutofit/>
          </a:bodyPr>
          <a:lstStyle/>
          <a:p>
            <a:r>
              <a:rPr lang="it-IT" dirty="0" err="1"/>
              <a:t>Results</a:t>
            </a:r>
            <a:r>
              <a:rPr lang="it-IT" dirty="0"/>
              <a:t> A</a:t>
            </a:r>
          </a:p>
        </p:txBody>
      </p:sp>
      <p:pic>
        <p:nvPicPr>
          <p:cNvPr id="38" name="Immagine 37" descr="Immagine che contiene testo, schermata, Carattere, Diagramma&#10;&#10;Il contenuto generato dall'IA potrebbe non essere corretto.">
            <a:extLst>
              <a:ext uri="{FF2B5EF4-FFF2-40B4-BE49-F238E27FC236}">
                <a16:creationId xmlns:a16="http://schemas.microsoft.com/office/drawing/2014/main" id="{A8E5A81E-4DA0-FCF9-1DF3-F7E1409831A7}"/>
              </a:ext>
            </a:extLst>
          </p:cNvPr>
          <p:cNvPicPr>
            <a:picLocks noChangeAspect="1"/>
          </p:cNvPicPr>
          <p:nvPr/>
        </p:nvPicPr>
        <p:blipFill>
          <a:blip r:embed="rId3">
            <a:extLst>
              <a:ext uri="{28A0092B-C50C-407E-A947-70E740481C1C}">
                <a14:useLocalDpi xmlns:a14="http://schemas.microsoft.com/office/drawing/2010/main" val="0"/>
              </a:ext>
            </a:extLst>
          </a:blip>
          <a:srcRect t="1372" r="1" b="411"/>
          <a:stretch>
            <a:fillRect/>
          </a:stretch>
        </p:blipFill>
        <p:spPr>
          <a:xfrm>
            <a:off x="20" y="1"/>
            <a:ext cx="4635563" cy="2276475"/>
          </a:xfrm>
          <a:custGeom>
            <a:avLst/>
            <a:gdLst/>
            <a:ahLst/>
            <a:cxnLst/>
            <a:rect l="l" t="t" r="r" b="b"/>
            <a:pathLst>
              <a:path w="4635583" h="3427413">
                <a:moveTo>
                  <a:pt x="0" y="0"/>
                </a:moveTo>
                <a:lnTo>
                  <a:pt x="4635583" y="0"/>
                </a:lnTo>
                <a:lnTo>
                  <a:pt x="4635583" y="3427413"/>
                </a:lnTo>
                <a:lnTo>
                  <a:pt x="0" y="3427413"/>
                </a:lnTo>
                <a:close/>
              </a:path>
            </a:pathLst>
          </a:custGeom>
        </p:spPr>
      </p:pic>
      <p:pic>
        <p:nvPicPr>
          <p:cNvPr id="12" name="Immagine 11" descr="Immagine che contiene testo, schermata, linea, Diagramma&#10;&#10;Il contenuto generato dall'IA potrebbe non essere corretto.">
            <a:extLst>
              <a:ext uri="{FF2B5EF4-FFF2-40B4-BE49-F238E27FC236}">
                <a16:creationId xmlns:a16="http://schemas.microsoft.com/office/drawing/2014/main" id="{5AC5A9AF-9D9E-CCAD-8911-4EE03BF3C081}"/>
              </a:ext>
            </a:extLst>
          </p:cNvPr>
          <p:cNvPicPr>
            <a:picLocks noChangeAspect="1"/>
          </p:cNvPicPr>
          <p:nvPr/>
        </p:nvPicPr>
        <p:blipFill>
          <a:blip r:embed="rId4">
            <a:extLst>
              <a:ext uri="{28A0092B-C50C-407E-A947-70E740481C1C}">
                <a14:useLocalDpi xmlns:a14="http://schemas.microsoft.com/office/drawing/2010/main" val="0"/>
              </a:ext>
            </a:extLst>
          </a:blip>
          <a:srcRect r="12298" b="1"/>
          <a:stretch>
            <a:fillRect/>
          </a:stretch>
        </p:blipFill>
        <p:spPr>
          <a:xfrm>
            <a:off x="20" y="2285999"/>
            <a:ext cx="4635563" cy="2286001"/>
          </a:xfrm>
          <a:custGeom>
            <a:avLst/>
            <a:gdLst/>
            <a:ahLst/>
            <a:cxnLst/>
            <a:rect l="l" t="t" r="r" b="b"/>
            <a:pathLst>
              <a:path w="4635583" h="3430587">
                <a:moveTo>
                  <a:pt x="0" y="0"/>
                </a:moveTo>
                <a:lnTo>
                  <a:pt x="4635583" y="0"/>
                </a:lnTo>
                <a:lnTo>
                  <a:pt x="4635583" y="3430587"/>
                </a:lnTo>
                <a:lnTo>
                  <a:pt x="0" y="3430587"/>
                </a:lnTo>
                <a:close/>
              </a:path>
            </a:pathLst>
          </a:custGeom>
        </p:spPr>
      </p:pic>
      <p:cxnSp>
        <p:nvCxnSpPr>
          <p:cNvPr id="172" name="Straight Connector 171">
            <a:extLst>
              <a:ext uri="{FF2B5EF4-FFF2-40B4-BE49-F238E27FC236}">
                <a16:creationId xmlns:a16="http://schemas.microsoft.com/office/drawing/2014/main" id="{3CFEBF73-2875-4126-A90D-ABB6BBFEAD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2286000"/>
            <a:ext cx="4635583" cy="0"/>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pic>
        <p:nvPicPr>
          <p:cNvPr id="10" name="Immagine 9" descr="Immagine che contiene testo, linea, Diagramma, schermata&#10;&#10;Il contenuto generato dall'IA potrebbe non essere corretto.">
            <a:extLst>
              <a:ext uri="{FF2B5EF4-FFF2-40B4-BE49-F238E27FC236}">
                <a16:creationId xmlns:a16="http://schemas.microsoft.com/office/drawing/2014/main" id="{06E5A864-6926-9B2D-DD00-2AAFB746659F}"/>
              </a:ext>
            </a:extLst>
          </p:cNvPr>
          <p:cNvPicPr>
            <a:picLocks noChangeAspect="1"/>
          </p:cNvPicPr>
          <p:nvPr/>
        </p:nvPicPr>
        <p:blipFill>
          <a:blip r:embed="rId5">
            <a:extLst>
              <a:ext uri="{28A0092B-C50C-407E-A947-70E740481C1C}">
                <a14:useLocalDpi xmlns:a14="http://schemas.microsoft.com/office/drawing/2010/main" val="0"/>
              </a:ext>
            </a:extLst>
          </a:blip>
          <a:srcRect l="12297" r="1" b="1"/>
          <a:stretch>
            <a:fillRect/>
          </a:stretch>
        </p:blipFill>
        <p:spPr>
          <a:xfrm>
            <a:off x="20" y="4572000"/>
            <a:ext cx="4635563" cy="2286001"/>
          </a:xfrm>
          <a:custGeom>
            <a:avLst/>
            <a:gdLst/>
            <a:ahLst/>
            <a:cxnLst/>
            <a:rect l="l" t="t" r="r" b="b"/>
            <a:pathLst>
              <a:path w="4635583" h="3430587">
                <a:moveTo>
                  <a:pt x="0" y="0"/>
                </a:moveTo>
                <a:lnTo>
                  <a:pt x="4635583" y="0"/>
                </a:lnTo>
                <a:lnTo>
                  <a:pt x="4635583" y="3430587"/>
                </a:lnTo>
                <a:lnTo>
                  <a:pt x="0" y="3430587"/>
                </a:lnTo>
                <a:close/>
              </a:path>
            </a:pathLst>
          </a:custGeom>
        </p:spPr>
      </p:pic>
      <p:cxnSp>
        <p:nvCxnSpPr>
          <p:cNvPr id="174" name="Straight Connector 173">
            <a:extLst>
              <a:ext uri="{FF2B5EF4-FFF2-40B4-BE49-F238E27FC236}">
                <a16:creationId xmlns:a16="http://schemas.microsoft.com/office/drawing/2014/main" id="{0F167419-5C1C-40BD-B9C4-75CFC65088F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72000"/>
            <a:ext cx="4635583" cy="0"/>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cxnSp>
        <p:nvCxnSpPr>
          <p:cNvPr id="176" name="Straight Connector 175">
            <a:extLst>
              <a:ext uri="{FF2B5EF4-FFF2-40B4-BE49-F238E27FC236}">
                <a16:creationId xmlns:a16="http://schemas.microsoft.com/office/drawing/2014/main" id="{AFCD9A95-E405-4952-A0CF-6EAF80F9706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32483" y="-464"/>
            <a:ext cx="2646" cy="6858465"/>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sp>
        <p:nvSpPr>
          <p:cNvPr id="3" name="Segnaposto contenuto 2">
            <a:extLst>
              <a:ext uri="{FF2B5EF4-FFF2-40B4-BE49-F238E27FC236}">
                <a16:creationId xmlns:a16="http://schemas.microsoft.com/office/drawing/2014/main" id="{DD587DBD-619C-E892-3A53-BC1D19DA962A}"/>
              </a:ext>
            </a:extLst>
          </p:cNvPr>
          <p:cNvSpPr>
            <a:spLocks noGrp="1"/>
          </p:cNvSpPr>
          <p:nvPr>
            <p:ph idx="1"/>
          </p:nvPr>
        </p:nvSpPr>
        <p:spPr>
          <a:xfrm>
            <a:off x="5491209" y="2249487"/>
            <a:ext cx="5877677" cy="3541714"/>
          </a:xfrm>
        </p:spPr>
        <p:txBody>
          <a:bodyPr>
            <a:normAutofit/>
          </a:bodyPr>
          <a:lstStyle/>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Test 14: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introduced</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DuelingDQN</a:t>
            </a:r>
            <a:r>
              <a:rPr lang="it-IT" sz="2200" dirty="0">
                <a:latin typeface="Calibri Light" panose="020F0302020204030204" pitchFamily="34" charset="0"/>
                <a:ea typeface="Calibri Light" panose="020F0302020204030204" pitchFamily="34" charset="0"/>
                <a:cs typeface="Calibri Light" panose="020F0302020204030204" pitchFamily="34" charset="0"/>
              </a:rPr>
              <a:t> network and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this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resulted</a:t>
            </a:r>
            <a:r>
              <a:rPr lang="it-IT" sz="2200" dirty="0">
                <a:latin typeface="Calibri Light" panose="020F0302020204030204" pitchFamily="34" charset="0"/>
                <a:ea typeface="Calibri Light" panose="020F0302020204030204" pitchFamily="34" charset="0"/>
                <a:cs typeface="Calibri Light" panose="020F0302020204030204" pitchFamily="34" charset="0"/>
              </a:rPr>
              <a:t> in a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significant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improvement</a:t>
            </a:r>
            <a:r>
              <a:rPr lang="it-IT" sz="2200" dirty="0">
                <a:latin typeface="Calibri Light" panose="020F0302020204030204" pitchFamily="34" charset="0"/>
                <a:ea typeface="Calibri Light" panose="020F0302020204030204" pitchFamily="34" charset="0"/>
                <a:cs typeface="Calibri Light" panose="020F0302020204030204" pitchFamily="34" charset="0"/>
              </a:rPr>
              <a:t> in the success rate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although</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boosted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almost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entirely</a:t>
            </a:r>
            <a:r>
              <a:rPr lang="it-IT" sz="2200" dirty="0">
                <a:latin typeface="Calibri Light" panose="020F0302020204030204" pitchFamily="34" charset="0"/>
                <a:ea typeface="Calibri Light" panose="020F0302020204030204" pitchFamily="34" charset="0"/>
                <a:cs typeface="Calibri Light" panose="020F0302020204030204" pitchFamily="34" charset="0"/>
              </a:rPr>
              <a:t> by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navigation</a:t>
            </a:r>
            <a:r>
              <a:rPr lang="it-IT" sz="2200" dirty="0">
                <a:latin typeface="Calibri Light" panose="020F0302020204030204" pitchFamily="34" charset="0"/>
                <a:ea typeface="Calibri Light" panose="020F0302020204030204" pitchFamily="34" charset="0"/>
                <a:cs typeface="Calibri Light" panose="020F0302020204030204" pitchFamily="34" charset="0"/>
              </a:rPr>
              <a:t> to the easy goal.</a:t>
            </a:r>
          </a:p>
        </p:txBody>
      </p:sp>
    </p:spTree>
    <p:extLst>
      <p:ext uri="{BB962C8B-B14F-4D97-AF65-F5344CB8AC3E}">
        <p14:creationId xmlns:p14="http://schemas.microsoft.com/office/powerpoint/2010/main" val="7548741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34770"/>
        </a:solidFill>
        <a:effectLst/>
      </p:bgPr>
    </p:bg>
    <p:spTree>
      <p:nvGrpSpPr>
        <p:cNvPr id="1" name=""/>
        <p:cNvGrpSpPr/>
        <p:nvPr/>
      </p:nvGrpSpPr>
      <p:grpSpPr>
        <a:xfrm>
          <a:off x="0" y="0"/>
          <a:ext cx="0" cy="0"/>
          <a:chOff x="0" y="0"/>
          <a:chExt cx="0" cy="0"/>
        </a:xfrm>
      </p:grpSpPr>
      <p:grpSp>
        <p:nvGrpSpPr>
          <p:cNvPr id="90" name="Group 89">
            <a:extLst>
              <a:ext uri="{FF2B5EF4-FFF2-40B4-BE49-F238E27FC236}">
                <a16:creationId xmlns:a16="http://schemas.microsoft.com/office/drawing/2014/main" id="{62C6D782-6B6F-4B4E-B92B-C8F13A0FED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91" name="Rectangle 90">
              <a:extLst>
                <a:ext uri="{FF2B5EF4-FFF2-40B4-BE49-F238E27FC236}">
                  <a16:creationId xmlns:a16="http://schemas.microsoft.com/office/drawing/2014/main" id="{E9716FBC-9870-4321-B055-657F96DDF1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 name="Picture 2">
              <a:extLst>
                <a:ext uri="{FF2B5EF4-FFF2-40B4-BE49-F238E27FC236}">
                  <a16:creationId xmlns:a16="http://schemas.microsoft.com/office/drawing/2014/main" id="{3720C802-2465-4EF6-9AED-E768D24605A6}"/>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grpSp>
        <p:nvGrpSpPr>
          <p:cNvPr id="94" name="Group 93">
            <a:extLst>
              <a:ext uri="{FF2B5EF4-FFF2-40B4-BE49-F238E27FC236}">
                <a16:creationId xmlns:a16="http://schemas.microsoft.com/office/drawing/2014/main" id="{6E532192-EB0D-43D0-8ACF-ABEBADC617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1779"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95" name="Rectangle 5">
              <a:extLst>
                <a:ext uri="{FF2B5EF4-FFF2-40B4-BE49-F238E27FC236}">
                  <a16:creationId xmlns:a16="http://schemas.microsoft.com/office/drawing/2014/main" id="{A61AEB4E-A65A-4890-AD09-C9ACFB0801B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96" name="Freeform 6">
              <a:extLst>
                <a:ext uri="{FF2B5EF4-FFF2-40B4-BE49-F238E27FC236}">
                  <a16:creationId xmlns:a16="http://schemas.microsoft.com/office/drawing/2014/main" id="{528DE10F-D498-4BFB-8B2A-E06AAA1F48D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97" name="Freeform 7">
              <a:extLst>
                <a:ext uri="{FF2B5EF4-FFF2-40B4-BE49-F238E27FC236}">
                  <a16:creationId xmlns:a16="http://schemas.microsoft.com/office/drawing/2014/main" id="{EA9A7A15-77B2-4771-B979-8F0E0626AC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98" name="Rectangle 8">
              <a:extLst>
                <a:ext uri="{FF2B5EF4-FFF2-40B4-BE49-F238E27FC236}">
                  <a16:creationId xmlns:a16="http://schemas.microsoft.com/office/drawing/2014/main" id="{91C3D14F-54C6-49E0-BB0E-DAEA3688A87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99" name="Freeform 9">
              <a:extLst>
                <a:ext uri="{FF2B5EF4-FFF2-40B4-BE49-F238E27FC236}">
                  <a16:creationId xmlns:a16="http://schemas.microsoft.com/office/drawing/2014/main" id="{693A8E0B-9819-41E1-979C-44F08FECF5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00" name="Freeform 10">
              <a:extLst>
                <a:ext uri="{FF2B5EF4-FFF2-40B4-BE49-F238E27FC236}">
                  <a16:creationId xmlns:a16="http://schemas.microsoft.com/office/drawing/2014/main" id="{31C3E5DB-A7A3-4EAE-9026-F9B8F12EC1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01" name="Freeform 11">
              <a:extLst>
                <a:ext uri="{FF2B5EF4-FFF2-40B4-BE49-F238E27FC236}">
                  <a16:creationId xmlns:a16="http://schemas.microsoft.com/office/drawing/2014/main" id="{DCA25288-1A1B-4F47-B482-9A847602E2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02" name="Freeform 12">
              <a:extLst>
                <a:ext uri="{FF2B5EF4-FFF2-40B4-BE49-F238E27FC236}">
                  <a16:creationId xmlns:a16="http://schemas.microsoft.com/office/drawing/2014/main" id="{14B443AB-E1B9-4C40-BA70-8F6CAD01F21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03" name="Freeform 13">
              <a:extLst>
                <a:ext uri="{FF2B5EF4-FFF2-40B4-BE49-F238E27FC236}">
                  <a16:creationId xmlns:a16="http://schemas.microsoft.com/office/drawing/2014/main" id="{85A198B7-B595-43D6-828B-3A6D853223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04" name="Freeform 14">
              <a:extLst>
                <a:ext uri="{FF2B5EF4-FFF2-40B4-BE49-F238E27FC236}">
                  <a16:creationId xmlns:a16="http://schemas.microsoft.com/office/drawing/2014/main" id="{F310B986-AB70-4FCE-85CC-A7FB750ABD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05" name="Freeform 15">
              <a:extLst>
                <a:ext uri="{FF2B5EF4-FFF2-40B4-BE49-F238E27FC236}">
                  <a16:creationId xmlns:a16="http://schemas.microsoft.com/office/drawing/2014/main" id="{58F94A36-E150-4C70-87E6-89E6368F1FB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06" name="Freeform 16">
              <a:extLst>
                <a:ext uri="{FF2B5EF4-FFF2-40B4-BE49-F238E27FC236}">
                  <a16:creationId xmlns:a16="http://schemas.microsoft.com/office/drawing/2014/main" id="{885088E1-2931-4D8D-869D-72334C5961D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07" name="Freeform 17">
              <a:extLst>
                <a:ext uri="{FF2B5EF4-FFF2-40B4-BE49-F238E27FC236}">
                  <a16:creationId xmlns:a16="http://schemas.microsoft.com/office/drawing/2014/main" id="{7AE9D160-3F56-4C52-9ED9-A6BAAA329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08" name="Freeform 18">
              <a:extLst>
                <a:ext uri="{FF2B5EF4-FFF2-40B4-BE49-F238E27FC236}">
                  <a16:creationId xmlns:a16="http://schemas.microsoft.com/office/drawing/2014/main" id="{79F3F7A1-0C51-41DA-9DA6-8E90E3E35A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09" name="Freeform 19">
              <a:extLst>
                <a:ext uri="{FF2B5EF4-FFF2-40B4-BE49-F238E27FC236}">
                  <a16:creationId xmlns:a16="http://schemas.microsoft.com/office/drawing/2014/main" id="{DD9A2A46-D55F-4922-A01B-3F8DBED621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10" name="Freeform 20">
              <a:extLst>
                <a:ext uri="{FF2B5EF4-FFF2-40B4-BE49-F238E27FC236}">
                  <a16:creationId xmlns:a16="http://schemas.microsoft.com/office/drawing/2014/main" id="{0AA17DFB-AEBE-4499-865B-B703812442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11" name="Freeform 21">
              <a:extLst>
                <a:ext uri="{FF2B5EF4-FFF2-40B4-BE49-F238E27FC236}">
                  <a16:creationId xmlns:a16="http://schemas.microsoft.com/office/drawing/2014/main" id="{057EE8DA-45A6-49F5-8818-666095A6840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12" name="Freeform 22">
              <a:extLst>
                <a:ext uri="{FF2B5EF4-FFF2-40B4-BE49-F238E27FC236}">
                  <a16:creationId xmlns:a16="http://schemas.microsoft.com/office/drawing/2014/main" id="{8ADAA219-132F-41F3-BFAB-896804CF9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13" name="Freeform 23">
              <a:extLst>
                <a:ext uri="{FF2B5EF4-FFF2-40B4-BE49-F238E27FC236}">
                  <a16:creationId xmlns:a16="http://schemas.microsoft.com/office/drawing/2014/main" id="{0593EFB1-DC77-417B-B5BC-0900A29F86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14" name="Freeform 24">
              <a:extLst>
                <a:ext uri="{FF2B5EF4-FFF2-40B4-BE49-F238E27FC236}">
                  <a16:creationId xmlns:a16="http://schemas.microsoft.com/office/drawing/2014/main" id="{95C9F90E-2399-40F1-BB67-3EEDFC360A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15" name="Freeform 25">
              <a:extLst>
                <a:ext uri="{FF2B5EF4-FFF2-40B4-BE49-F238E27FC236}">
                  <a16:creationId xmlns:a16="http://schemas.microsoft.com/office/drawing/2014/main" id="{59635033-7842-47F7-869E-EB54B03BE9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16" name="Freeform 26">
              <a:extLst>
                <a:ext uri="{FF2B5EF4-FFF2-40B4-BE49-F238E27FC236}">
                  <a16:creationId xmlns:a16="http://schemas.microsoft.com/office/drawing/2014/main" id="{06710716-F4FF-4D2D-BD4D-3A1C29D5DA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17" name="Freeform 27">
              <a:extLst>
                <a:ext uri="{FF2B5EF4-FFF2-40B4-BE49-F238E27FC236}">
                  <a16:creationId xmlns:a16="http://schemas.microsoft.com/office/drawing/2014/main" id="{DD91BF26-5487-4130-87F9-0B56EA0B06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18" name="Freeform 28">
              <a:extLst>
                <a:ext uri="{FF2B5EF4-FFF2-40B4-BE49-F238E27FC236}">
                  <a16:creationId xmlns:a16="http://schemas.microsoft.com/office/drawing/2014/main" id="{DCAE746E-F56B-4E02-A50E-358503AB5F7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19" name="Freeform 29">
              <a:extLst>
                <a:ext uri="{FF2B5EF4-FFF2-40B4-BE49-F238E27FC236}">
                  <a16:creationId xmlns:a16="http://schemas.microsoft.com/office/drawing/2014/main" id="{81DB5307-35A1-4FFB-A8E6-C6AB7703A8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0" name="Freeform 30">
              <a:extLst>
                <a:ext uri="{FF2B5EF4-FFF2-40B4-BE49-F238E27FC236}">
                  <a16:creationId xmlns:a16="http://schemas.microsoft.com/office/drawing/2014/main" id="{052F6C49-049E-4FBC-A090-64B559CC10C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1" name="Freeform 31">
              <a:extLst>
                <a:ext uri="{FF2B5EF4-FFF2-40B4-BE49-F238E27FC236}">
                  <a16:creationId xmlns:a16="http://schemas.microsoft.com/office/drawing/2014/main" id="{B520037F-DF6D-49C9-937E-D7617F8DC8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2" name="Freeform 32">
              <a:extLst>
                <a:ext uri="{FF2B5EF4-FFF2-40B4-BE49-F238E27FC236}">
                  <a16:creationId xmlns:a16="http://schemas.microsoft.com/office/drawing/2014/main" id="{D65483B0-4562-4071-8E79-BFF7E3407B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3" name="Rectangle 33">
              <a:extLst>
                <a:ext uri="{FF2B5EF4-FFF2-40B4-BE49-F238E27FC236}">
                  <a16:creationId xmlns:a16="http://schemas.microsoft.com/office/drawing/2014/main" id="{B537F264-B801-4F97-8091-41E16CA52FE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4" name="Freeform 34">
              <a:extLst>
                <a:ext uri="{FF2B5EF4-FFF2-40B4-BE49-F238E27FC236}">
                  <a16:creationId xmlns:a16="http://schemas.microsoft.com/office/drawing/2014/main" id="{CF0D86E0-647F-437F-AA71-72A789B0D2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5" name="Freeform 35">
              <a:extLst>
                <a:ext uri="{FF2B5EF4-FFF2-40B4-BE49-F238E27FC236}">
                  <a16:creationId xmlns:a16="http://schemas.microsoft.com/office/drawing/2014/main" id="{D72C3866-21D1-48D0-899E-938892FF3D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6" name="Freeform 36">
              <a:extLst>
                <a:ext uri="{FF2B5EF4-FFF2-40B4-BE49-F238E27FC236}">
                  <a16:creationId xmlns:a16="http://schemas.microsoft.com/office/drawing/2014/main" id="{4E94AC39-CDCB-4B11-BE08-FABED0C00F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7" name="Freeform 37">
              <a:extLst>
                <a:ext uri="{FF2B5EF4-FFF2-40B4-BE49-F238E27FC236}">
                  <a16:creationId xmlns:a16="http://schemas.microsoft.com/office/drawing/2014/main" id="{29C7F939-61B9-467B-AC85-C146594B803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8" name="Freeform 38">
              <a:extLst>
                <a:ext uri="{FF2B5EF4-FFF2-40B4-BE49-F238E27FC236}">
                  <a16:creationId xmlns:a16="http://schemas.microsoft.com/office/drawing/2014/main" id="{0B851A48-E333-49BD-8150-3E207F2F5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9" name="Freeform 39">
              <a:extLst>
                <a:ext uri="{FF2B5EF4-FFF2-40B4-BE49-F238E27FC236}">
                  <a16:creationId xmlns:a16="http://schemas.microsoft.com/office/drawing/2014/main" id="{1CD0C878-A6ED-44A0-972F-164829F382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0" name="Freeform 40">
              <a:extLst>
                <a:ext uri="{FF2B5EF4-FFF2-40B4-BE49-F238E27FC236}">
                  <a16:creationId xmlns:a16="http://schemas.microsoft.com/office/drawing/2014/main" id="{1C236544-42D8-4A88-B600-6B8B20FFB4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1" name="Freeform 41">
              <a:extLst>
                <a:ext uri="{FF2B5EF4-FFF2-40B4-BE49-F238E27FC236}">
                  <a16:creationId xmlns:a16="http://schemas.microsoft.com/office/drawing/2014/main" id="{C9FF2C0E-61EA-45E6-8C93-270B51918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2" name="Freeform 42">
              <a:extLst>
                <a:ext uri="{FF2B5EF4-FFF2-40B4-BE49-F238E27FC236}">
                  <a16:creationId xmlns:a16="http://schemas.microsoft.com/office/drawing/2014/main" id="{654F9C3F-E635-4E7B-BF8F-87BF60CE7A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3" name="Freeform 43">
              <a:extLst>
                <a:ext uri="{FF2B5EF4-FFF2-40B4-BE49-F238E27FC236}">
                  <a16:creationId xmlns:a16="http://schemas.microsoft.com/office/drawing/2014/main" id="{ACCA7548-833A-4EEC-91F2-BB9687E3CE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4" name="Freeform 44">
              <a:extLst>
                <a:ext uri="{FF2B5EF4-FFF2-40B4-BE49-F238E27FC236}">
                  <a16:creationId xmlns:a16="http://schemas.microsoft.com/office/drawing/2014/main" id="{F895F203-B2FD-49FE-A865-269B367A41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5" name="Rectangle 45">
              <a:extLst>
                <a:ext uri="{FF2B5EF4-FFF2-40B4-BE49-F238E27FC236}">
                  <a16:creationId xmlns:a16="http://schemas.microsoft.com/office/drawing/2014/main" id="{84D9CCFF-23CD-4209-B238-57DDF091A6C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36" name="Freeform 46">
              <a:extLst>
                <a:ext uri="{FF2B5EF4-FFF2-40B4-BE49-F238E27FC236}">
                  <a16:creationId xmlns:a16="http://schemas.microsoft.com/office/drawing/2014/main" id="{190495CD-E216-4AF5-9038-D7807B638C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7" name="Freeform 47">
              <a:extLst>
                <a:ext uri="{FF2B5EF4-FFF2-40B4-BE49-F238E27FC236}">
                  <a16:creationId xmlns:a16="http://schemas.microsoft.com/office/drawing/2014/main" id="{6E2B5DDB-234E-47ED-9F32-83C6D5EEEB2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8" name="Freeform 48">
              <a:extLst>
                <a:ext uri="{FF2B5EF4-FFF2-40B4-BE49-F238E27FC236}">
                  <a16:creationId xmlns:a16="http://schemas.microsoft.com/office/drawing/2014/main" id="{9DB1F0CB-D565-4DF9-BA3F-7CE9F18B4F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9" name="Freeform 49">
              <a:extLst>
                <a:ext uri="{FF2B5EF4-FFF2-40B4-BE49-F238E27FC236}">
                  <a16:creationId xmlns:a16="http://schemas.microsoft.com/office/drawing/2014/main" id="{552F47B4-D0D5-4075-BD00-7145B6F205E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0" name="Freeform 50">
              <a:extLst>
                <a:ext uri="{FF2B5EF4-FFF2-40B4-BE49-F238E27FC236}">
                  <a16:creationId xmlns:a16="http://schemas.microsoft.com/office/drawing/2014/main" id="{F57CAD52-0B84-4068-BFD9-B48B16AFEE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1" name="Freeform 51">
              <a:extLst>
                <a:ext uri="{FF2B5EF4-FFF2-40B4-BE49-F238E27FC236}">
                  <a16:creationId xmlns:a16="http://schemas.microsoft.com/office/drawing/2014/main" id="{62E09F5E-A24D-4628-A8CB-143556FB9D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2" name="Freeform 52">
              <a:extLst>
                <a:ext uri="{FF2B5EF4-FFF2-40B4-BE49-F238E27FC236}">
                  <a16:creationId xmlns:a16="http://schemas.microsoft.com/office/drawing/2014/main" id="{C547CC76-FB8C-43B1-A625-F694184D94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3" name="Freeform 53">
              <a:extLst>
                <a:ext uri="{FF2B5EF4-FFF2-40B4-BE49-F238E27FC236}">
                  <a16:creationId xmlns:a16="http://schemas.microsoft.com/office/drawing/2014/main" id="{E86CE93B-A557-46C2-B87E-81C1E0E936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4" name="Freeform 54">
              <a:extLst>
                <a:ext uri="{FF2B5EF4-FFF2-40B4-BE49-F238E27FC236}">
                  <a16:creationId xmlns:a16="http://schemas.microsoft.com/office/drawing/2014/main" id="{7220D106-C5C0-4A39-909A-A11F3E246D6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5" name="Freeform 55">
              <a:extLst>
                <a:ext uri="{FF2B5EF4-FFF2-40B4-BE49-F238E27FC236}">
                  <a16:creationId xmlns:a16="http://schemas.microsoft.com/office/drawing/2014/main" id="{195044AA-79D9-4142-8865-9A4B4E8087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6" name="Freeform 56">
              <a:extLst>
                <a:ext uri="{FF2B5EF4-FFF2-40B4-BE49-F238E27FC236}">
                  <a16:creationId xmlns:a16="http://schemas.microsoft.com/office/drawing/2014/main" id="{BBFC5CFA-482C-4B45-87A7-C44F773CC66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7" name="Freeform 57">
              <a:extLst>
                <a:ext uri="{FF2B5EF4-FFF2-40B4-BE49-F238E27FC236}">
                  <a16:creationId xmlns:a16="http://schemas.microsoft.com/office/drawing/2014/main" id="{79BEC615-03E2-4F7F-A457-0CDA565ADA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8" name="Freeform 58">
              <a:extLst>
                <a:ext uri="{FF2B5EF4-FFF2-40B4-BE49-F238E27FC236}">
                  <a16:creationId xmlns:a16="http://schemas.microsoft.com/office/drawing/2014/main" id="{20E56620-58EC-4785-BA5E-2E40F40BC91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pic>
        <p:nvPicPr>
          <p:cNvPr id="2" name="Immagine 1" descr="Immagine che contiene testo, linea, Diagramma, schermata&#10;&#10;Il contenuto generato dall'IA potrebbe non essere corretto.">
            <a:extLst>
              <a:ext uri="{FF2B5EF4-FFF2-40B4-BE49-F238E27FC236}">
                <a16:creationId xmlns:a16="http://schemas.microsoft.com/office/drawing/2014/main" id="{9481CA0A-178C-B9D8-873B-6B9C11DE8013}"/>
              </a:ext>
            </a:extLst>
          </p:cNvPr>
          <p:cNvPicPr>
            <a:picLocks noChangeAspect="1"/>
          </p:cNvPicPr>
          <p:nvPr/>
        </p:nvPicPr>
        <p:blipFill>
          <a:blip r:embed="rId3">
            <a:extLst>
              <a:ext uri="{28A0092B-C50C-407E-A947-70E740481C1C}">
                <a14:useLocalDpi xmlns:a14="http://schemas.microsoft.com/office/drawing/2010/main" val="0"/>
              </a:ext>
            </a:extLst>
          </a:blip>
          <a:srcRect l="11930" r="1" b="1"/>
          <a:stretch>
            <a:fillRect/>
          </a:stretch>
        </p:blipFill>
        <p:spPr>
          <a:xfrm>
            <a:off x="9" y="4583344"/>
            <a:ext cx="4635563" cy="2276475"/>
          </a:xfrm>
          <a:custGeom>
            <a:avLst/>
            <a:gdLst/>
            <a:ahLst/>
            <a:cxnLst/>
            <a:rect l="l" t="t" r="r" b="b"/>
            <a:pathLst>
              <a:path w="4635583" h="3427413">
                <a:moveTo>
                  <a:pt x="0" y="0"/>
                </a:moveTo>
                <a:lnTo>
                  <a:pt x="4635583" y="0"/>
                </a:lnTo>
                <a:lnTo>
                  <a:pt x="4635583" y="3427413"/>
                </a:lnTo>
                <a:lnTo>
                  <a:pt x="0" y="3427413"/>
                </a:lnTo>
                <a:close/>
              </a:path>
            </a:pathLst>
          </a:custGeom>
        </p:spPr>
      </p:pic>
      <p:pic>
        <p:nvPicPr>
          <p:cNvPr id="8" name="Immagine 7" descr="Immagine che contiene testo, schermata, linea, Diagramma&#10;&#10;Il contenuto generato dall'IA potrebbe non essere corretto.">
            <a:extLst>
              <a:ext uri="{FF2B5EF4-FFF2-40B4-BE49-F238E27FC236}">
                <a16:creationId xmlns:a16="http://schemas.microsoft.com/office/drawing/2014/main" id="{C6998742-896C-20A1-516F-986BE59063F1}"/>
              </a:ext>
            </a:extLst>
          </p:cNvPr>
          <p:cNvPicPr>
            <a:picLocks noChangeAspect="1"/>
          </p:cNvPicPr>
          <p:nvPr/>
        </p:nvPicPr>
        <p:blipFill>
          <a:blip r:embed="rId4">
            <a:extLst>
              <a:ext uri="{28A0092B-C50C-407E-A947-70E740481C1C}">
                <a14:useLocalDpi xmlns:a14="http://schemas.microsoft.com/office/drawing/2010/main" val="0"/>
              </a:ext>
            </a:extLst>
          </a:blip>
          <a:srcRect r="12298" b="1"/>
          <a:stretch>
            <a:fillRect/>
          </a:stretch>
        </p:blipFill>
        <p:spPr>
          <a:xfrm>
            <a:off x="20" y="2285999"/>
            <a:ext cx="4635563" cy="2286001"/>
          </a:xfrm>
          <a:custGeom>
            <a:avLst/>
            <a:gdLst/>
            <a:ahLst/>
            <a:cxnLst/>
            <a:rect l="l" t="t" r="r" b="b"/>
            <a:pathLst>
              <a:path w="4635583" h="3430587">
                <a:moveTo>
                  <a:pt x="0" y="0"/>
                </a:moveTo>
                <a:lnTo>
                  <a:pt x="4635583" y="0"/>
                </a:lnTo>
                <a:lnTo>
                  <a:pt x="4635583" y="3430587"/>
                </a:lnTo>
                <a:lnTo>
                  <a:pt x="0" y="3430587"/>
                </a:lnTo>
                <a:close/>
              </a:path>
            </a:pathLst>
          </a:custGeom>
        </p:spPr>
      </p:pic>
      <p:cxnSp>
        <p:nvCxnSpPr>
          <p:cNvPr id="150" name="Straight Connector 149">
            <a:extLst>
              <a:ext uri="{FF2B5EF4-FFF2-40B4-BE49-F238E27FC236}">
                <a16:creationId xmlns:a16="http://schemas.microsoft.com/office/drawing/2014/main" id="{3CFEBF73-2875-4126-A90D-ABB6BBFEAD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2286000"/>
            <a:ext cx="4635583" cy="0"/>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pic>
        <p:nvPicPr>
          <p:cNvPr id="5" name="Immagine 4" descr="Immagine che contiene testo, schermata, Carattere, Diagramma">
            <a:extLst>
              <a:ext uri="{FF2B5EF4-FFF2-40B4-BE49-F238E27FC236}">
                <a16:creationId xmlns:a16="http://schemas.microsoft.com/office/drawing/2014/main" id="{0A0F955D-CDFE-B243-CB84-5D151DB8F8D6}"/>
              </a:ext>
            </a:extLst>
          </p:cNvPr>
          <p:cNvPicPr>
            <a:picLocks noChangeAspect="1"/>
          </p:cNvPicPr>
          <p:nvPr/>
        </p:nvPicPr>
        <p:blipFill>
          <a:blip r:embed="rId5">
            <a:extLst>
              <a:ext uri="{28A0092B-C50C-407E-A947-70E740481C1C}">
                <a14:useLocalDpi xmlns:a14="http://schemas.microsoft.com/office/drawing/2010/main" val="0"/>
              </a:ext>
            </a:extLst>
          </a:blip>
          <a:srcRect t="1371" r="1" b="1"/>
          <a:stretch>
            <a:fillRect/>
          </a:stretch>
        </p:blipFill>
        <p:spPr>
          <a:xfrm>
            <a:off x="-12083" y="-11345"/>
            <a:ext cx="4635563" cy="2286001"/>
          </a:xfrm>
          <a:custGeom>
            <a:avLst/>
            <a:gdLst/>
            <a:ahLst/>
            <a:cxnLst/>
            <a:rect l="l" t="t" r="r" b="b"/>
            <a:pathLst>
              <a:path w="4635583" h="3430587">
                <a:moveTo>
                  <a:pt x="0" y="0"/>
                </a:moveTo>
                <a:lnTo>
                  <a:pt x="4635583" y="0"/>
                </a:lnTo>
                <a:lnTo>
                  <a:pt x="4635583" y="3430587"/>
                </a:lnTo>
                <a:lnTo>
                  <a:pt x="0" y="3430587"/>
                </a:lnTo>
                <a:close/>
              </a:path>
            </a:pathLst>
          </a:custGeom>
        </p:spPr>
      </p:pic>
      <p:cxnSp>
        <p:nvCxnSpPr>
          <p:cNvPr id="152" name="Straight Connector 151">
            <a:extLst>
              <a:ext uri="{FF2B5EF4-FFF2-40B4-BE49-F238E27FC236}">
                <a16:creationId xmlns:a16="http://schemas.microsoft.com/office/drawing/2014/main" id="{0F167419-5C1C-40BD-B9C4-75CFC65088F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72000"/>
            <a:ext cx="4635583" cy="0"/>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cxnSp>
        <p:nvCxnSpPr>
          <p:cNvPr id="154" name="Straight Connector 153">
            <a:extLst>
              <a:ext uri="{FF2B5EF4-FFF2-40B4-BE49-F238E27FC236}">
                <a16:creationId xmlns:a16="http://schemas.microsoft.com/office/drawing/2014/main" id="{AFCD9A95-E405-4952-A0CF-6EAF80F9706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32483" y="-464"/>
            <a:ext cx="2646" cy="6858465"/>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sp>
        <p:nvSpPr>
          <p:cNvPr id="7" name="CasellaDiTesto 6">
            <a:extLst>
              <a:ext uri="{FF2B5EF4-FFF2-40B4-BE49-F238E27FC236}">
                <a16:creationId xmlns:a16="http://schemas.microsoft.com/office/drawing/2014/main" id="{367B0E69-77BA-BACE-A9CC-9186B609704D}"/>
              </a:ext>
            </a:extLst>
          </p:cNvPr>
          <p:cNvSpPr txBox="1"/>
          <p:nvPr/>
        </p:nvSpPr>
        <p:spPr>
          <a:xfrm>
            <a:off x="5519577" y="1808571"/>
            <a:ext cx="5877677" cy="3541714"/>
          </a:xfrm>
          <a:prstGeom prst="rect">
            <a:avLst/>
          </a:prstGeom>
        </p:spPr>
        <p:txBody>
          <a:bodyPr vert="horz" lIns="91440" tIns="45720" rIns="91440" bIns="45720" rtlCol="0">
            <a:normAutofit/>
          </a:bodyPr>
          <a:lstStyle/>
          <a:p>
            <a:pPr defTabSz="914400">
              <a:lnSpc>
                <a:spcPct val="120000"/>
              </a:lnSpc>
              <a:spcAft>
                <a:spcPts val="600"/>
              </a:spcAft>
              <a:buSzPct val="125000"/>
            </a:pPr>
            <a:r>
              <a:rPr lang="en-US" sz="2200" dirty="0">
                <a:latin typeface="Calibri Light" panose="020F0302020204030204" pitchFamily="34" charset="0"/>
                <a:ea typeface="Calibri Light" panose="020F0302020204030204" pitchFamily="34" charset="0"/>
                <a:cs typeface="Calibri Light" panose="020F0302020204030204" pitchFamily="34" charset="0"/>
              </a:rPr>
              <a:t>Test number 24: we implemented all the positive changes we found in this last test with some decent results (but with the same main problem as before) as well removing the direct reward for the movement towards the objective: this seemingly made the robot slower in the navigation but more precise as it was mainly guided by the yaw and collision avoidance rewards.</a:t>
            </a:r>
          </a:p>
        </p:txBody>
      </p:sp>
      <p:sp>
        <p:nvSpPr>
          <p:cNvPr id="4" name="CasellaDiTesto 3">
            <a:extLst>
              <a:ext uri="{FF2B5EF4-FFF2-40B4-BE49-F238E27FC236}">
                <a16:creationId xmlns:a16="http://schemas.microsoft.com/office/drawing/2014/main" id="{397C44D1-1320-A629-065A-B3F0D39F11E8}"/>
              </a:ext>
            </a:extLst>
          </p:cNvPr>
          <p:cNvSpPr txBox="1"/>
          <p:nvPr/>
        </p:nvSpPr>
        <p:spPr>
          <a:xfrm>
            <a:off x="5509287" y="760322"/>
            <a:ext cx="6107806" cy="646331"/>
          </a:xfrm>
          <a:prstGeom prst="rect">
            <a:avLst/>
          </a:prstGeom>
          <a:noFill/>
        </p:spPr>
        <p:txBody>
          <a:bodyPr wrap="square">
            <a:spAutoFit/>
          </a:bodyPr>
          <a:lstStyle/>
          <a:p>
            <a:r>
              <a:rPr lang="it-IT" sz="3600" dirty="0">
                <a:latin typeface="+mj-lt"/>
              </a:rPr>
              <a:t>RESULTS A</a:t>
            </a:r>
          </a:p>
        </p:txBody>
      </p:sp>
    </p:spTree>
    <p:extLst>
      <p:ext uri="{BB962C8B-B14F-4D97-AF65-F5344CB8AC3E}">
        <p14:creationId xmlns:p14="http://schemas.microsoft.com/office/powerpoint/2010/main" val="34399052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34770"/>
        </a:solidFill>
        <a:effectLst/>
      </p:bgPr>
    </p:bg>
    <p:spTree>
      <p:nvGrpSpPr>
        <p:cNvPr id="1" name="">
          <a:extLst>
            <a:ext uri="{FF2B5EF4-FFF2-40B4-BE49-F238E27FC236}">
              <a16:creationId xmlns:a16="http://schemas.microsoft.com/office/drawing/2014/main" id="{41676131-338E-781E-AB4A-AC0E220D004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7DC13C5-329B-2EF3-436D-59E7588A3A6B}"/>
              </a:ext>
            </a:extLst>
          </p:cNvPr>
          <p:cNvSpPr>
            <a:spLocks noGrp="1"/>
          </p:cNvSpPr>
          <p:nvPr>
            <p:ph type="title"/>
          </p:nvPr>
        </p:nvSpPr>
        <p:spPr>
          <a:xfrm>
            <a:off x="1266715" y="-234953"/>
            <a:ext cx="9906000" cy="1477963"/>
          </a:xfrm>
        </p:spPr>
        <p:txBody>
          <a:bodyPr>
            <a:normAutofit/>
          </a:bodyPr>
          <a:lstStyle/>
          <a:p>
            <a:r>
              <a:rPr lang="it-IT" dirty="0"/>
              <a:t>Results B</a:t>
            </a:r>
          </a:p>
        </p:txBody>
      </p:sp>
      <p:sp>
        <p:nvSpPr>
          <p:cNvPr id="3" name="Segnaposto contenuto 2">
            <a:extLst>
              <a:ext uri="{FF2B5EF4-FFF2-40B4-BE49-F238E27FC236}">
                <a16:creationId xmlns:a16="http://schemas.microsoft.com/office/drawing/2014/main" id="{BED63108-1E3B-1918-F6F1-67E8F44C4D51}"/>
              </a:ext>
            </a:extLst>
          </p:cNvPr>
          <p:cNvSpPr>
            <a:spLocks noGrp="1"/>
          </p:cNvSpPr>
          <p:nvPr>
            <p:ph idx="1"/>
          </p:nvPr>
        </p:nvSpPr>
        <p:spPr>
          <a:xfrm>
            <a:off x="855785" y="952798"/>
            <a:ext cx="10316930" cy="5634713"/>
          </a:xfrm>
        </p:spPr>
        <p:txBody>
          <a:bodyPr>
            <a:normAutofit/>
          </a:bodyPr>
          <a:lstStyle/>
          <a:p>
            <a:pPr marL="0" indent="0">
              <a:buNone/>
            </a:pPr>
            <a:r>
              <a:rPr lang="en-GB" sz="2200" dirty="0">
                <a:latin typeface="Calibri Light" panose="020F0302020204030204" pitchFamily="34" charset="0"/>
                <a:ea typeface="Calibri Light" panose="020F0302020204030204" pitchFamily="34" charset="0"/>
                <a:cs typeface="Calibri Light" panose="020F0302020204030204" pitchFamily="34" charset="0"/>
              </a:rPr>
              <a:t>In this results we adopted a structured four-stage training strategy aimed at progressively increasing the complexity of the environment and the task difficulty:</a:t>
            </a:r>
          </a:p>
          <a:p>
            <a:r>
              <a:rPr lang="en-GB" sz="2200" dirty="0">
                <a:latin typeface="Calibri Light" panose="020F0302020204030204" pitchFamily="34" charset="0"/>
                <a:ea typeface="Calibri Light" panose="020F0302020204030204" pitchFamily="34" charset="0"/>
                <a:cs typeface="Calibri Light" panose="020F0302020204030204" pitchFamily="34" charset="0"/>
              </a:rPr>
              <a:t>Phase 1: empty arena with no obstacles, the agent was required to reach a randomly generated goal within the map.</a:t>
            </a:r>
          </a:p>
          <a:p>
            <a:r>
              <a:rPr lang="en-GB" sz="2200" dirty="0">
                <a:latin typeface="Calibri Light" panose="020F0302020204030204" pitchFamily="34" charset="0"/>
                <a:ea typeface="Calibri Light" panose="020F0302020204030204" pitchFamily="34" charset="0"/>
                <a:cs typeface="Calibri Light" panose="020F0302020204030204" pitchFamily="34" charset="0"/>
              </a:rPr>
              <a:t>Phase 2: arena containing only columns as obstacles, the agent was trained to reach a fixed goal with hard difficulty.</a:t>
            </a:r>
          </a:p>
          <a:p>
            <a:r>
              <a:rPr lang="en-GB" sz="2200" dirty="0">
                <a:latin typeface="Calibri Light" panose="020F0302020204030204" pitchFamily="34" charset="0"/>
                <a:ea typeface="Calibri Light" panose="020F0302020204030204" pitchFamily="34" charset="0"/>
                <a:cs typeface="Calibri Light" panose="020F0302020204030204" pitchFamily="34" charset="0"/>
              </a:rPr>
              <a:t>Phase 3: arena with a maze layout, the agent was required to reach medium and hard difficulty goals.</a:t>
            </a:r>
          </a:p>
          <a:p>
            <a:r>
              <a:rPr lang="en-GB" sz="2200" dirty="0">
                <a:latin typeface="Calibri Light" panose="020F0302020204030204" pitchFamily="34" charset="0"/>
                <a:ea typeface="Calibri Light" panose="020F0302020204030204" pitchFamily="34" charset="0"/>
                <a:cs typeface="Calibri Light" panose="020F0302020204030204" pitchFamily="34" charset="0"/>
              </a:rPr>
              <a:t>Phase 4: arena with a maze configuration, introducing a goal sampling strategy to enhance generalization and robustness.</a:t>
            </a:r>
            <a:endParaRPr lang="it-IT" sz="2200"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7076353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34770"/>
        </a:solidFill>
        <a:effectLst/>
      </p:bgPr>
    </p:bg>
    <p:spTree>
      <p:nvGrpSpPr>
        <p:cNvPr id="1" name="">
          <a:extLst>
            <a:ext uri="{FF2B5EF4-FFF2-40B4-BE49-F238E27FC236}">
              <a16:creationId xmlns:a16="http://schemas.microsoft.com/office/drawing/2014/main" id="{AEAA63C5-DDAE-3684-FDD5-9C2ADE39E45B}"/>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62C6D782-6B6F-4B4E-B92B-C8F13A0FED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3" name="Rectangle 12">
              <a:extLst>
                <a:ext uri="{FF2B5EF4-FFF2-40B4-BE49-F238E27FC236}">
                  <a16:creationId xmlns:a16="http://schemas.microsoft.com/office/drawing/2014/main" id="{E9716FBC-9870-4321-B055-657F96DDF1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2">
              <a:extLst>
                <a:ext uri="{FF2B5EF4-FFF2-40B4-BE49-F238E27FC236}">
                  <a16:creationId xmlns:a16="http://schemas.microsoft.com/office/drawing/2014/main" id="{3720C802-2465-4EF6-9AED-E768D24605A6}"/>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grpSp>
        <p:nvGrpSpPr>
          <p:cNvPr id="16" name="Group 15">
            <a:extLst>
              <a:ext uri="{FF2B5EF4-FFF2-40B4-BE49-F238E27FC236}">
                <a16:creationId xmlns:a16="http://schemas.microsoft.com/office/drawing/2014/main" id="{6E532192-EB0D-43D0-8ACF-ABEBADC617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1779"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7" name="Rectangle 5">
              <a:extLst>
                <a:ext uri="{FF2B5EF4-FFF2-40B4-BE49-F238E27FC236}">
                  <a16:creationId xmlns:a16="http://schemas.microsoft.com/office/drawing/2014/main" id="{A61AEB4E-A65A-4890-AD09-C9ACFB0801B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8" name="Freeform 6">
              <a:extLst>
                <a:ext uri="{FF2B5EF4-FFF2-40B4-BE49-F238E27FC236}">
                  <a16:creationId xmlns:a16="http://schemas.microsoft.com/office/drawing/2014/main" id="{528DE10F-D498-4BFB-8B2A-E06AAA1F48D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7">
              <a:extLst>
                <a:ext uri="{FF2B5EF4-FFF2-40B4-BE49-F238E27FC236}">
                  <a16:creationId xmlns:a16="http://schemas.microsoft.com/office/drawing/2014/main" id="{EA9A7A15-77B2-4771-B979-8F0E0626AC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Rectangle 8">
              <a:extLst>
                <a:ext uri="{FF2B5EF4-FFF2-40B4-BE49-F238E27FC236}">
                  <a16:creationId xmlns:a16="http://schemas.microsoft.com/office/drawing/2014/main" id="{91C3D14F-54C6-49E0-BB0E-DAEA3688A87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1" name="Freeform 9">
              <a:extLst>
                <a:ext uri="{FF2B5EF4-FFF2-40B4-BE49-F238E27FC236}">
                  <a16:creationId xmlns:a16="http://schemas.microsoft.com/office/drawing/2014/main" id="{693A8E0B-9819-41E1-979C-44F08FECF5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Freeform 10">
              <a:extLst>
                <a:ext uri="{FF2B5EF4-FFF2-40B4-BE49-F238E27FC236}">
                  <a16:creationId xmlns:a16="http://schemas.microsoft.com/office/drawing/2014/main" id="{31C3E5DB-A7A3-4EAE-9026-F9B8F12EC1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3" name="Freeform 11">
              <a:extLst>
                <a:ext uri="{FF2B5EF4-FFF2-40B4-BE49-F238E27FC236}">
                  <a16:creationId xmlns:a16="http://schemas.microsoft.com/office/drawing/2014/main" id="{DCA25288-1A1B-4F47-B482-9A847602E2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2">
              <a:extLst>
                <a:ext uri="{FF2B5EF4-FFF2-40B4-BE49-F238E27FC236}">
                  <a16:creationId xmlns:a16="http://schemas.microsoft.com/office/drawing/2014/main" id="{14B443AB-E1B9-4C40-BA70-8F6CAD01F21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3">
              <a:extLst>
                <a:ext uri="{FF2B5EF4-FFF2-40B4-BE49-F238E27FC236}">
                  <a16:creationId xmlns:a16="http://schemas.microsoft.com/office/drawing/2014/main" id="{85A198B7-B595-43D6-828B-3A6D853223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14">
              <a:extLst>
                <a:ext uri="{FF2B5EF4-FFF2-40B4-BE49-F238E27FC236}">
                  <a16:creationId xmlns:a16="http://schemas.microsoft.com/office/drawing/2014/main" id="{F310B986-AB70-4FCE-85CC-A7FB750ABD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Freeform 15">
              <a:extLst>
                <a:ext uri="{FF2B5EF4-FFF2-40B4-BE49-F238E27FC236}">
                  <a16:creationId xmlns:a16="http://schemas.microsoft.com/office/drawing/2014/main" id="{58F94A36-E150-4C70-87E6-89E6368F1FB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8" name="Freeform 16">
              <a:extLst>
                <a:ext uri="{FF2B5EF4-FFF2-40B4-BE49-F238E27FC236}">
                  <a16:creationId xmlns:a16="http://schemas.microsoft.com/office/drawing/2014/main" id="{885088E1-2931-4D8D-869D-72334C5961D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17">
              <a:extLst>
                <a:ext uri="{FF2B5EF4-FFF2-40B4-BE49-F238E27FC236}">
                  <a16:creationId xmlns:a16="http://schemas.microsoft.com/office/drawing/2014/main" id="{7AE9D160-3F56-4C52-9ED9-A6BAAA329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18">
              <a:extLst>
                <a:ext uri="{FF2B5EF4-FFF2-40B4-BE49-F238E27FC236}">
                  <a16:creationId xmlns:a16="http://schemas.microsoft.com/office/drawing/2014/main" id="{79F3F7A1-0C51-41DA-9DA6-8E90E3E35A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19">
              <a:extLst>
                <a:ext uri="{FF2B5EF4-FFF2-40B4-BE49-F238E27FC236}">
                  <a16:creationId xmlns:a16="http://schemas.microsoft.com/office/drawing/2014/main" id="{DD9A2A46-D55F-4922-A01B-3F8DBED621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0">
              <a:extLst>
                <a:ext uri="{FF2B5EF4-FFF2-40B4-BE49-F238E27FC236}">
                  <a16:creationId xmlns:a16="http://schemas.microsoft.com/office/drawing/2014/main" id="{0AA17DFB-AEBE-4499-865B-B703812442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1">
              <a:extLst>
                <a:ext uri="{FF2B5EF4-FFF2-40B4-BE49-F238E27FC236}">
                  <a16:creationId xmlns:a16="http://schemas.microsoft.com/office/drawing/2014/main" id="{057EE8DA-45A6-49F5-8818-666095A6840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2">
              <a:extLst>
                <a:ext uri="{FF2B5EF4-FFF2-40B4-BE49-F238E27FC236}">
                  <a16:creationId xmlns:a16="http://schemas.microsoft.com/office/drawing/2014/main" id="{8ADAA219-132F-41F3-BFAB-896804CF9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3">
              <a:extLst>
                <a:ext uri="{FF2B5EF4-FFF2-40B4-BE49-F238E27FC236}">
                  <a16:creationId xmlns:a16="http://schemas.microsoft.com/office/drawing/2014/main" id="{0593EFB1-DC77-417B-B5BC-0900A29F86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24">
              <a:extLst>
                <a:ext uri="{FF2B5EF4-FFF2-40B4-BE49-F238E27FC236}">
                  <a16:creationId xmlns:a16="http://schemas.microsoft.com/office/drawing/2014/main" id="{95C9F90E-2399-40F1-BB67-3EEDFC360A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25">
              <a:extLst>
                <a:ext uri="{FF2B5EF4-FFF2-40B4-BE49-F238E27FC236}">
                  <a16:creationId xmlns:a16="http://schemas.microsoft.com/office/drawing/2014/main" id="{59635033-7842-47F7-869E-EB54B03BE9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9" name="Freeform 26">
              <a:extLst>
                <a:ext uri="{FF2B5EF4-FFF2-40B4-BE49-F238E27FC236}">
                  <a16:creationId xmlns:a16="http://schemas.microsoft.com/office/drawing/2014/main" id="{06710716-F4FF-4D2D-BD4D-3A1C29D5DA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9" name="Freeform 27">
              <a:extLst>
                <a:ext uri="{FF2B5EF4-FFF2-40B4-BE49-F238E27FC236}">
                  <a16:creationId xmlns:a16="http://schemas.microsoft.com/office/drawing/2014/main" id="{DD91BF26-5487-4130-87F9-0B56EA0B06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0" name="Freeform 28">
              <a:extLst>
                <a:ext uri="{FF2B5EF4-FFF2-40B4-BE49-F238E27FC236}">
                  <a16:creationId xmlns:a16="http://schemas.microsoft.com/office/drawing/2014/main" id="{DCAE746E-F56B-4E02-A50E-358503AB5F7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1" name="Freeform 29">
              <a:extLst>
                <a:ext uri="{FF2B5EF4-FFF2-40B4-BE49-F238E27FC236}">
                  <a16:creationId xmlns:a16="http://schemas.microsoft.com/office/drawing/2014/main" id="{81DB5307-35A1-4FFB-A8E6-C6AB7703A8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2" name="Freeform 30">
              <a:extLst>
                <a:ext uri="{FF2B5EF4-FFF2-40B4-BE49-F238E27FC236}">
                  <a16:creationId xmlns:a16="http://schemas.microsoft.com/office/drawing/2014/main" id="{052F6C49-049E-4FBC-A090-64B559CC10C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3" name="Freeform 31">
              <a:extLst>
                <a:ext uri="{FF2B5EF4-FFF2-40B4-BE49-F238E27FC236}">
                  <a16:creationId xmlns:a16="http://schemas.microsoft.com/office/drawing/2014/main" id="{B520037F-DF6D-49C9-937E-D7617F8DC8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4" name="Freeform 32">
              <a:extLst>
                <a:ext uri="{FF2B5EF4-FFF2-40B4-BE49-F238E27FC236}">
                  <a16:creationId xmlns:a16="http://schemas.microsoft.com/office/drawing/2014/main" id="{D65483B0-4562-4071-8E79-BFF7E3407B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5" name="Rectangle 33">
              <a:extLst>
                <a:ext uri="{FF2B5EF4-FFF2-40B4-BE49-F238E27FC236}">
                  <a16:creationId xmlns:a16="http://schemas.microsoft.com/office/drawing/2014/main" id="{B537F264-B801-4F97-8091-41E16CA52FE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46" name="Freeform 34">
              <a:extLst>
                <a:ext uri="{FF2B5EF4-FFF2-40B4-BE49-F238E27FC236}">
                  <a16:creationId xmlns:a16="http://schemas.microsoft.com/office/drawing/2014/main" id="{CF0D86E0-647F-437F-AA71-72A789B0D2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7" name="Freeform 35">
              <a:extLst>
                <a:ext uri="{FF2B5EF4-FFF2-40B4-BE49-F238E27FC236}">
                  <a16:creationId xmlns:a16="http://schemas.microsoft.com/office/drawing/2014/main" id="{D72C3866-21D1-48D0-899E-938892FF3D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8" name="Freeform 36">
              <a:extLst>
                <a:ext uri="{FF2B5EF4-FFF2-40B4-BE49-F238E27FC236}">
                  <a16:creationId xmlns:a16="http://schemas.microsoft.com/office/drawing/2014/main" id="{4E94AC39-CDCB-4B11-BE08-FABED0C00F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9" name="Freeform 37">
              <a:extLst>
                <a:ext uri="{FF2B5EF4-FFF2-40B4-BE49-F238E27FC236}">
                  <a16:creationId xmlns:a16="http://schemas.microsoft.com/office/drawing/2014/main" id="{29C7F939-61B9-467B-AC85-C146594B803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0" name="Freeform 38">
              <a:extLst>
                <a:ext uri="{FF2B5EF4-FFF2-40B4-BE49-F238E27FC236}">
                  <a16:creationId xmlns:a16="http://schemas.microsoft.com/office/drawing/2014/main" id="{0B851A48-E333-49BD-8150-3E207F2F5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1" name="Freeform 39">
              <a:extLst>
                <a:ext uri="{FF2B5EF4-FFF2-40B4-BE49-F238E27FC236}">
                  <a16:creationId xmlns:a16="http://schemas.microsoft.com/office/drawing/2014/main" id="{1CD0C878-A6ED-44A0-972F-164829F382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2" name="Freeform 40">
              <a:extLst>
                <a:ext uri="{FF2B5EF4-FFF2-40B4-BE49-F238E27FC236}">
                  <a16:creationId xmlns:a16="http://schemas.microsoft.com/office/drawing/2014/main" id="{1C236544-42D8-4A88-B600-6B8B20FFB4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3" name="Freeform 41">
              <a:extLst>
                <a:ext uri="{FF2B5EF4-FFF2-40B4-BE49-F238E27FC236}">
                  <a16:creationId xmlns:a16="http://schemas.microsoft.com/office/drawing/2014/main" id="{C9FF2C0E-61EA-45E6-8C93-270B51918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4" name="Freeform 42">
              <a:extLst>
                <a:ext uri="{FF2B5EF4-FFF2-40B4-BE49-F238E27FC236}">
                  <a16:creationId xmlns:a16="http://schemas.microsoft.com/office/drawing/2014/main" id="{654F9C3F-E635-4E7B-BF8F-87BF60CE7A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5" name="Freeform 43">
              <a:extLst>
                <a:ext uri="{FF2B5EF4-FFF2-40B4-BE49-F238E27FC236}">
                  <a16:creationId xmlns:a16="http://schemas.microsoft.com/office/drawing/2014/main" id="{ACCA7548-833A-4EEC-91F2-BB9687E3CE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6" name="Freeform 44">
              <a:extLst>
                <a:ext uri="{FF2B5EF4-FFF2-40B4-BE49-F238E27FC236}">
                  <a16:creationId xmlns:a16="http://schemas.microsoft.com/office/drawing/2014/main" id="{F895F203-B2FD-49FE-A865-269B367A41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7" name="Rectangle 45">
              <a:extLst>
                <a:ext uri="{FF2B5EF4-FFF2-40B4-BE49-F238E27FC236}">
                  <a16:creationId xmlns:a16="http://schemas.microsoft.com/office/drawing/2014/main" id="{84D9CCFF-23CD-4209-B238-57DDF091A6C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58" name="Freeform 46">
              <a:extLst>
                <a:ext uri="{FF2B5EF4-FFF2-40B4-BE49-F238E27FC236}">
                  <a16:creationId xmlns:a16="http://schemas.microsoft.com/office/drawing/2014/main" id="{190495CD-E216-4AF5-9038-D7807B638C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9" name="Freeform 47">
              <a:extLst>
                <a:ext uri="{FF2B5EF4-FFF2-40B4-BE49-F238E27FC236}">
                  <a16:creationId xmlns:a16="http://schemas.microsoft.com/office/drawing/2014/main" id="{6E2B5DDB-234E-47ED-9F32-83C6D5EEEB2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0" name="Freeform 48">
              <a:extLst>
                <a:ext uri="{FF2B5EF4-FFF2-40B4-BE49-F238E27FC236}">
                  <a16:creationId xmlns:a16="http://schemas.microsoft.com/office/drawing/2014/main" id="{9DB1F0CB-D565-4DF9-BA3F-7CE9F18B4F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1" name="Freeform 49">
              <a:extLst>
                <a:ext uri="{FF2B5EF4-FFF2-40B4-BE49-F238E27FC236}">
                  <a16:creationId xmlns:a16="http://schemas.microsoft.com/office/drawing/2014/main" id="{552F47B4-D0D5-4075-BD00-7145B6F205E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2" name="Freeform 50">
              <a:extLst>
                <a:ext uri="{FF2B5EF4-FFF2-40B4-BE49-F238E27FC236}">
                  <a16:creationId xmlns:a16="http://schemas.microsoft.com/office/drawing/2014/main" id="{F57CAD52-0B84-4068-BFD9-B48B16AFEE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3" name="Freeform 51">
              <a:extLst>
                <a:ext uri="{FF2B5EF4-FFF2-40B4-BE49-F238E27FC236}">
                  <a16:creationId xmlns:a16="http://schemas.microsoft.com/office/drawing/2014/main" id="{62E09F5E-A24D-4628-A8CB-143556FB9D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4" name="Freeform 52">
              <a:extLst>
                <a:ext uri="{FF2B5EF4-FFF2-40B4-BE49-F238E27FC236}">
                  <a16:creationId xmlns:a16="http://schemas.microsoft.com/office/drawing/2014/main" id="{C547CC76-FB8C-43B1-A625-F694184D94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5" name="Freeform 53">
              <a:extLst>
                <a:ext uri="{FF2B5EF4-FFF2-40B4-BE49-F238E27FC236}">
                  <a16:creationId xmlns:a16="http://schemas.microsoft.com/office/drawing/2014/main" id="{E86CE93B-A557-46C2-B87E-81C1E0E936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6" name="Freeform 54">
              <a:extLst>
                <a:ext uri="{FF2B5EF4-FFF2-40B4-BE49-F238E27FC236}">
                  <a16:creationId xmlns:a16="http://schemas.microsoft.com/office/drawing/2014/main" id="{7220D106-C5C0-4A39-909A-A11F3E246D6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7" name="Freeform 55">
              <a:extLst>
                <a:ext uri="{FF2B5EF4-FFF2-40B4-BE49-F238E27FC236}">
                  <a16:creationId xmlns:a16="http://schemas.microsoft.com/office/drawing/2014/main" id="{195044AA-79D9-4142-8865-9A4B4E8087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8" name="Freeform 56">
              <a:extLst>
                <a:ext uri="{FF2B5EF4-FFF2-40B4-BE49-F238E27FC236}">
                  <a16:creationId xmlns:a16="http://schemas.microsoft.com/office/drawing/2014/main" id="{BBFC5CFA-482C-4B45-87A7-C44F773CC66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9" name="Freeform 57">
              <a:extLst>
                <a:ext uri="{FF2B5EF4-FFF2-40B4-BE49-F238E27FC236}">
                  <a16:creationId xmlns:a16="http://schemas.microsoft.com/office/drawing/2014/main" id="{79BEC615-03E2-4F7F-A457-0CDA565ADA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70" name="Freeform 58">
              <a:extLst>
                <a:ext uri="{FF2B5EF4-FFF2-40B4-BE49-F238E27FC236}">
                  <a16:creationId xmlns:a16="http://schemas.microsoft.com/office/drawing/2014/main" id="{20E56620-58EC-4785-BA5E-2E40F40BC91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pic>
        <p:nvPicPr>
          <p:cNvPr id="4" name="Immagine 3" descr="Immagine che contiene testo, linea, Carattere, Diagramma&#10;&#10;Il contenuto generato dall'IA potrebbe non essere corretto.">
            <a:extLst>
              <a:ext uri="{FF2B5EF4-FFF2-40B4-BE49-F238E27FC236}">
                <a16:creationId xmlns:a16="http://schemas.microsoft.com/office/drawing/2014/main" id="{655CA6DC-EC68-B995-759E-410B277432C5}"/>
              </a:ext>
            </a:extLst>
          </p:cNvPr>
          <p:cNvPicPr>
            <a:picLocks noChangeAspect="1"/>
          </p:cNvPicPr>
          <p:nvPr/>
        </p:nvPicPr>
        <p:blipFill>
          <a:blip r:embed="rId3">
            <a:extLst>
              <a:ext uri="{28A0092B-C50C-407E-A947-70E740481C1C}">
                <a14:useLocalDpi xmlns:a14="http://schemas.microsoft.com/office/drawing/2010/main" val="0"/>
              </a:ext>
            </a:extLst>
          </a:blip>
          <a:srcRect l="4660" r="7272" b="1"/>
          <a:stretch>
            <a:fillRect/>
          </a:stretch>
        </p:blipFill>
        <p:spPr>
          <a:xfrm>
            <a:off x="-12605" y="4574181"/>
            <a:ext cx="4635563" cy="2276475"/>
          </a:xfrm>
          <a:custGeom>
            <a:avLst/>
            <a:gdLst/>
            <a:ahLst/>
            <a:cxnLst/>
            <a:rect l="l" t="t" r="r" b="b"/>
            <a:pathLst>
              <a:path w="4635583" h="3427413">
                <a:moveTo>
                  <a:pt x="0" y="0"/>
                </a:moveTo>
                <a:lnTo>
                  <a:pt x="4635583" y="0"/>
                </a:lnTo>
                <a:lnTo>
                  <a:pt x="4635583" y="3427413"/>
                </a:lnTo>
                <a:lnTo>
                  <a:pt x="0" y="3427413"/>
                </a:lnTo>
                <a:close/>
              </a:path>
            </a:pathLst>
          </a:custGeom>
        </p:spPr>
      </p:pic>
      <p:pic>
        <p:nvPicPr>
          <p:cNvPr id="6" name="Immagine 5" descr="Immagine che contiene testo, schermata, Diagramma, diagramma&#10;&#10;Il contenuto generato dall'IA potrebbe non essere corretto.">
            <a:extLst>
              <a:ext uri="{FF2B5EF4-FFF2-40B4-BE49-F238E27FC236}">
                <a16:creationId xmlns:a16="http://schemas.microsoft.com/office/drawing/2014/main" id="{B7F7351A-2CA0-14C2-8533-6C14573FAAA7}"/>
              </a:ext>
            </a:extLst>
          </p:cNvPr>
          <p:cNvPicPr>
            <a:picLocks noChangeAspect="1"/>
          </p:cNvPicPr>
          <p:nvPr/>
        </p:nvPicPr>
        <p:blipFill>
          <a:blip r:embed="rId4">
            <a:extLst>
              <a:ext uri="{28A0092B-C50C-407E-A947-70E740481C1C}">
                <a14:useLocalDpi xmlns:a14="http://schemas.microsoft.com/office/drawing/2010/main" val="0"/>
              </a:ext>
            </a:extLst>
          </a:blip>
          <a:srcRect r="12298" b="1"/>
          <a:stretch>
            <a:fillRect/>
          </a:stretch>
        </p:blipFill>
        <p:spPr>
          <a:xfrm>
            <a:off x="20" y="2285999"/>
            <a:ext cx="4635563" cy="2286001"/>
          </a:xfrm>
          <a:custGeom>
            <a:avLst/>
            <a:gdLst/>
            <a:ahLst/>
            <a:cxnLst/>
            <a:rect l="l" t="t" r="r" b="b"/>
            <a:pathLst>
              <a:path w="4635583" h="3430587">
                <a:moveTo>
                  <a:pt x="0" y="0"/>
                </a:moveTo>
                <a:lnTo>
                  <a:pt x="4635583" y="0"/>
                </a:lnTo>
                <a:lnTo>
                  <a:pt x="4635583" y="3430587"/>
                </a:lnTo>
                <a:lnTo>
                  <a:pt x="0" y="3430587"/>
                </a:lnTo>
                <a:close/>
              </a:path>
            </a:pathLst>
          </a:custGeom>
        </p:spPr>
      </p:pic>
      <p:cxnSp>
        <p:nvCxnSpPr>
          <p:cNvPr id="72" name="Straight Connector 71">
            <a:extLst>
              <a:ext uri="{FF2B5EF4-FFF2-40B4-BE49-F238E27FC236}">
                <a16:creationId xmlns:a16="http://schemas.microsoft.com/office/drawing/2014/main" id="{3CFEBF73-2875-4126-A90D-ABB6BBFEAD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2286000"/>
            <a:ext cx="4635583" cy="0"/>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pic>
        <p:nvPicPr>
          <p:cNvPr id="7" name="Immagine 6">
            <a:extLst>
              <a:ext uri="{FF2B5EF4-FFF2-40B4-BE49-F238E27FC236}">
                <a16:creationId xmlns:a16="http://schemas.microsoft.com/office/drawing/2014/main" id="{A986B055-1799-49BB-B058-4E76229FB401}"/>
              </a:ext>
            </a:extLst>
          </p:cNvPr>
          <p:cNvPicPr>
            <a:picLocks noChangeAspect="1"/>
          </p:cNvPicPr>
          <p:nvPr/>
        </p:nvPicPr>
        <p:blipFill>
          <a:blip r:embed="rId5">
            <a:extLst>
              <a:ext uri="{28A0092B-C50C-407E-A947-70E740481C1C}">
                <a14:useLocalDpi xmlns:a14="http://schemas.microsoft.com/office/drawing/2010/main" val="0"/>
              </a:ext>
            </a:extLst>
          </a:blip>
          <a:srcRect r="1" b="1372"/>
          <a:stretch>
            <a:fillRect/>
          </a:stretch>
        </p:blipFill>
        <p:spPr>
          <a:xfrm>
            <a:off x="9" y="-7536"/>
            <a:ext cx="4635563" cy="2286001"/>
          </a:xfrm>
          <a:custGeom>
            <a:avLst/>
            <a:gdLst/>
            <a:ahLst/>
            <a:cxnLst/>
            <a:rect l="l" t="t" r="r" b="b"/>
            <a:pathLst>
              <a:path w="4635583" h="3430587">
                <a:moveTo>
                  <a:pt x="0" y="0"/>
                </a:moveTo>
                <a:lnTo>
                  <a:pt x="4635583" y="0"/>
                </a:lnTo>
                <a:lnTo>
                  <a:pt x="4635583" y="3430587"/>
                </a:lnTo>
                <a:lnTo>
                  <a:pt x="0" y="3430587"/>
                </a:lnTo>
                <a:close/>
              </a:path>
            </a:pathLst>
          </a:custGeom>
        </p:spPr>
      </p:pic>
      <p:cxnSp>
        <p:nvCxnSpPr>
          <p:cNvPr id="74" name="Straight Connector 73">
            <a:extLst>
              <a:ext uri="{FF2B5EF4-FFF2-40B4-BE49-F238E27FC236}">
                <a16:creationId xmlns:a16="http://schemas.microsoft.com/office/drawing/2014/main" id="{0F167419-5C1C-40BD-B9C4-75CFC65088F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72000"/>
            <a:ext cx="4635583" cy="0"/>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cxnSp>
        <p:nvCxnSpPr>
          <p:cNvPr id="76" name="Straight Connector 75">
            <a:extLst>
              <a:ext uri="{FF2B5EF4-FFF2-40B4-BE49-F238E27FC236}">
                <a16:creationId xmlns:a16="http://schemas.microsoft.com/office/drawing/2014/main" id="{AFCD9A95-E405-4952-A0CF-6EAF80F9706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32483" y="-464"/>
            <a:ext cx="2646" cy="6858465"/>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sp>
        <p:nvSpPr>
          <p:cNvPr id="3" name="Segnaposto contenuto 2">
            <a:extLst>
              <a:ext uri="{FF2B5EF4-FFF2-40B4-BE49-F238E27FC236}">
                <a16:creationId xmlns:a16="http://schemas.microsoft.com/office/drawing/2014/main" id="{DC6FEA46-B916-EB8D-F39A-0EF43906DBA9}"/>
              </a:ext>
            </a:extLst>
          </p:cNvPr>
          <p:cNvSpPr>
            <a:spLocks noGrp="1"/>
          </p:cNvSpPr>
          <p:nvPr>
            <p:ph idx="1"/>
          </p:nvPr>
        </p:nvSpPr>
        <p:spPr>
          <a:xfrm>
            <a:off x="5477494" y="1626743"/>
            <a:ext cx="6185679" cy="3541714"/>
          </a:xfrm>
        </p:spPr>
        <p:txBody>
          <a:bodyPr>
            <a:noAutofit/>
          </a:bodyPr>
          <a:lstStyle/>
          <a:p>
            <a:pPr marL="0" indent="0">
              <a:lnSpc>
                <a:spcPct val="110000"/>
              </a:lnSpc>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Test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number</a:t>
            </a:r>
            <a:r>
              <a:rPr lang="it-IT" sz="2200" dirty="0">
                <a:latin typeface="Calibri Light" panose="020F0302020204030204" pitchFamily="34" charset="0"/>
                <a:ea typeface="Calibri Light" panose="020F0302020204030204" pitchFamily="34" charset="0"/>
                <a:cs typeface="Calibri Light" panose="020F0302020204030204" pitchFamily="34" charset="0"/>
              </a:rPr>
              <a:t> 8: t</a:t>
            </a:r>
            <a:r>
              <a:rPr lang="en-GB" sz="2200" dirty="0">
                <a:latin typeface="Calibri Light" panose="020F0302020204030204" pitchFamily="34" charset="0"/>
                <a:ea typeface="Calibri Light" panose="020F0302020204030204" pitchFamily="34" charset="0"/>
                <a:cs typeface="Calibri Light" panose="020F0302020204030204" pitchFamily="34" charset="0"/>
              </a:rPr>
              <a:t>he results were obtained during the fourth phase using a standard Deep Q-Network (DQN) algorithm. </a:t>
            </a:r>
          </a:p>
          <a:p>
            <a:pPr marL="0" indent="0">
              <a:lnSpc>
                <a:spcPct val="110000"/>
              </a:lnSpc>
              <a:buNone/>
            </a:pPr>
            <a:r>
              <a:rPr lang="en-GB" sz="2200" dirty="0">
                <a:latin typeface="Calibri Light" panose="020F0302020204030204" pitchFamily="34" charset="0"/>
                <a:ea typeface="Calibri Light" panose="020F0302020204030204" pitchFamily="34" charset="0"/>
                <a:cs typeface="Calibri Light" panose="020F0302020204030204" pitchFamily="34" charset="0"/>
              </a:rPr>
              <a:t>The Collision vs. Success Rate trend appears overall promising, showing a gradual improvement in performance and a relatively stable </a:t>
            </a:r>
            <a:r>
              <a:rPr lang="en-GB" sz="2200" dirty="0" err="1">
                <a:latin typeface="Calibri Light" panose="020F0302020204030204" pitchFamily="34" charset="0"/>
                <a:ea typeface="Calibri Light" panose="020F0302020204030204" pitchFamily="34" charset="0"/>
                <a:cs typeface="Calibri Light" panose="020F0302020204030204" pitchFamily="34" charset="0"/>
              </a:rPr>
              <a:t>behavior</a:t>
            </a:r>
            <a:r>
              <a:rPr lang="en-GB" sz="2200" dirty="0">
                <a:latin typeface="Calibri Light" panose="020F0302020204030204" pitchFamily="34" charset="0"/>
                <a:ea typeface="Calibri Light" panose="020F0302020204030204" pitchFamily="34" charset="0"/>
                <a:cs typeface="Calibri Light" panose="020F0302020204030204" pitchFamily="34" charset="0"/>
              </a:rPr>
              <a:t> over time. However, when </a:t>
            </a:r>
            <a:r>
              <a:rPr lang="en-GB" sz="2200" dirty="0" err="1">
                <a:latin typeface="Calibri Light" panose="020F0302020204030204" pitchFamily="34" charset="0"/>
                <a:ea typeface="Calibri Light" panose="020F0302020204030204" pitchFamily="34" charset="0"/>
                <a:cs typeface="Calibri Light" panose="020F0302020204030204" pitchFamily="34" charset="0"/>
              </a:rPr>
              <a:t>analyzing</a:t>
            </a:r>
            <a:r>
              <a:rPr lang="en-GB" sz="2200" dirty="0">
                <a:latin typeface="Calibri Light" panose="020F0302020204030204" pitchFamily="34" charset="0"/>
                <a:ea typeface="Calibri Light" panose="020F0302020204030204" pitchFamily="34" charset="0"/>
                <a:cs typeface="Calibri Light" panose="020F0302020204030204" pitchFamily="34" charset="0"/>
              </a:rPr>
              <a:t> the success rate per goal difficulty, a critical limitation becomes evident: the agent consistently reaches only the easiest goal, while medium and hard goals remain unsolved.</a:t>
            </a:r>
            <a:endParaRPr lang="it-IT" sz="22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0" name="CasellaDiTesto 9">
            <a:extLst>
              <a:ext uri="{FF2B5EF4-FFF2-40B4-BE49-F238E27FC236}">
                <a16:creationId xmlns:a16="http://schemas.microsoft.com/office/drawing/2014/main" id="{A2B8AB4B-CD2D-4B93-D0EB-B4952B707EC5}"/>
              </a:ext>
            </a:extLst>
          </p:cNvPr>
          <p:cNvSpPr txBox="1"/>
          <p:nvPr/>
        </p:nvSpPr>
        <p:spPr>
          <a:xfrm>
            <a:off x="5498538" y="742443"/>
            <a:ext cx="6107806" cy="646331"/>
          </a:xfrm>
          <a:prstGeom prst="rect">
            <a:avLst/>
          </a:prstGeom>
          <a:noFill/>
        </p:spPr>
        <p:txBody>
          <a:bodyPr wrap="square">
            <a:spAutoFit/>
          </a:bodyPr>
          <a:lstStyle/>
          <a:p>
            <a:r>
              <a:rPr lang="it-IT" sz="3600" dirty="0">
                <a:latin typeface="+mj-lt"/>
              </a:rPr>
              <a:t>RESULTS B</a:t>
            </a:r>
          </a:p>
        </p:txBody>
      </p:sp>
    </p:spTree>
    <p:extLst>
      <p:ext uri="{BB962C8B-B14F-4D97-AF65-F5344CB8AC3E}">
        <p14:creationId xmlns:p14="http://schemas.microsoft.com/office/powerpoint/2010/main" val="24003555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34770"/>
        </a:solidFill>
        <a:effectLst/>
      </p:bgPr>
    </p:bg>
    <p:spTree>
      <p:nvGrpSpPr>
        <p:cNvPr id="1" name="">
          <a:extLst>
            <a:ext uri="{FF2B5EF4-FFF2-40B4-BE49-F238E27FC236}">
              <a16:creationId xmlns:a16="http://schemas.microsoft.com/office/drawing/2014/main" id="{5DE83E24-D4BE-CE09-6716-14C49AE5E0C4}"/>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62C6D782-6B6F-4B4E-B92B-C8F13A0FED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3" name="Rectangle 12">
              <a:extLst>
                <a:ext uri="{FF2B5EF4-FFF2-40B4-BE49-F238E27FC236}">
                  <a16:creationId xmlns:a16="http://schemas.microsoft.com/office/drawing/2014/main" id="{E9716FBC-9870-4321-B055-657F96DDF1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2">
              <a:extLst>
                <a:ext uri="{FF2B5EF4-FFF2-40B4-BE49-F238E27FC236}">
                  <a16:creationId xmlns:a16="http://schemas.microsoft.com/office/drawing/2014/main" id="{3720C802-2465-4EF6-9AED-E768D24605A6}"/>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grpSp>
        <p:nvGrpSpPr>
          <p:cNvPr id="16" name="Group 15">
            <a:extLst>
              <a:ext uri="{FF2B5EF4-FFF2-40B4-BE49-F238E27FC236}">
                <a16:creationId xmlns:a16="http://schemas.microsoft.com/office/drawing/2014/main" id="{6E532192-EB0D-43D0-8ACF-ABEBADC617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1779"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7" name="Rectangle 5">
              <a:extLst>
                <a:ext uri="{FF2B5EF4-FFF2-40B4-BE49-F238E27FC236}">
                  <a16:creationId xmlns:a16="http://schemas.microsoft.com/office/drawing/2014/main" id="{A61AEB4E-A65A-4890-AD09-C9ACFB0801B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8" name="Freeform 6">
              <a:extLst>
                <a:ext uri="{FF2B5EF4-FFF2-40B4-BE49-F238E27FC236}">
                  <a16:creationId xmlns:a16="http://schemas.microsoft.com/office/drawing/2014/main" id="{528DE10F-D498-4BFB-8B2A-E06AAA1F48D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7">
              <a:extLst>
                <a:ext uri="{FF2B5EF4-FFF2-40B4-BE49-F238E27FC236}">
                  <a16:creationId xmlns:a16="http://schemas.microsoft.com/office/drawing/2014/main" id="{EA9A7A15-77B2-4771-B979-8F0E0626AC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Rectangle 8">
              <a:extLst>
                <a:ext uri="{FF2B5EF4-FFF2-40B4-BE49-F238E27FC236}">
                  <a16:creationId xmlns:a16="http://schemas.microsoft.com/office/drawing/2014/main" id="{91C3D14F-54C6-49E0-BB0E-DAEA3688A87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1" name="Freeform 9">
              <a:extLst>
                <a:ext uri="{FF2B5EF4-FFF2-40B4-BE49-F238E27FC236}">
                  <a16:creationId xmlns:a16="http://schemas.microsoft.com/office/drawing/2014/main" id="{693A8E0B-9819-41E1-979C-44F08FECF5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Freeform 10">
              <a:extLst>
                <a:ext uri="{FF2B5EF4-FFF2-40B4-BE49-F238E27FC236}">
                  <a16:creationId xmlns:a16="http://schemas.microsoft.com/office/drawing/2014/main" id="{31C3E5DB-A7A3-4EAE-9026-F9B8F12EC1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3" name="Freeform 11">
              <a:extLst>
                <a:ext uri="{FF2B5EF4-FFF2-40B4-BE49-F238E27FC236}">
                  <a16:creationId xmlns:a16="http://schemas.microsoft.com/office/drawing/2014/main" id="{DCA25288-1A1B-4F47-B482-9A847602E2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2">
              <a:extLst>
                <a:ext uri="{FF2B5EF4-FFF2-40B4-BE49-F238E27FC236}">
                  <a16:creationId xmlns:a16="http://schemas.microsoft.com/office/drawing/2014/main" id="{14B443AB-E1B9-4C40-BA70-8F6CAD01F21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3">
              <a:extLst>
                <a:ext uri="{FF2B5EF4-FFF2-40B4-BE49-F238E27FC236}">
                  <a16:creationId xmlns:a16="http://schemas.microsoft.com/office/drawing/2014/main" id="{85A198B7-B595-43D6-828B-3A6D853223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14">
              <a:extLst>
                <a:ext uri="{FF2B5EF4-FFF2-40B4-BE49-F238E27FC236}">
                  <a16:creationId xmlns:a16="http://schemas.microsoft.com/office/drawing/2014/main" id="{F310B986-AB70-4FCE-85CC-A7FB750ABD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Freeform 15">
              <a:extLst>
                <a:ext uri="{FF2B5EF4-FFF2-40B4-BE49-F238E27FC236}">
                  <a16:creationId xmlns:a16="http://schemas.microsoft.com/office/drawing/2014/main" id="{58F94A36-E150-4C70-87E6-89E6368F1FB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8" name="Freeform 16">
              <a:extLst>
                <a:ext uri="{FF2B5EF4-FFF2-40B4-BE49-F238E27FC236}">
                  <a16:creationId xmlns:a16="http://schemas.microsoft.com/office/drawing/2014/main" id="{885088E1-2931-4D8D-869D-72334C5961D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17">
              <a:extLst>
                <a:ext uri="{FF2B5EF4-FFF2-40B4-BE49-F238E27FC236}">
                  <a16:creationId xmlns:a16="http://schemas.microsoft.com/office/drawing/2014/main" id="{7AE9D160-3F56-4C52-9ED9-A6BAAA329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18">
              <a:extLst>
                <a:ext uri="{FF2B5EF4-FFF2-40B4-BE49-F238E27FC236}">
                  <a16:creationId xmlns:a16="http://schemas.microsoft.com/office/drawing/2014/main" id="{79F3F7A1-0C51-41DA-9DA6-8E90E3E35A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19">
              <a:extLst>
                <a:ext uri="{FF2B5EF4-FFF2-40B4-BE49-F238E27FC236}">
                  <a16:creationId xmlns:a16="http://schemas.microsoft.com/office/drawing/2014/main" id="{DD9A2A46-D55F-4922-A01B-3F8DBED621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0">
              <a:extLst>
                <a:ext uri="{FF2B5EF4-FFF2-40B4-BE49-F238E27FC236}">
                  <a16:creationId xmlns:a16="http://schemas.microsoft.com/office/drawing/2014/main" id="{0AA17DFB-AEBE-4499-865B-B703812442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1">
              <a:extLst>
                <a:ext uri="{FF2B5EF4-FFF2-40B4-BE49-F238E27FC236}">
                  <a16:creationId xmlns:a16="http://schemas.microsoft.com/office/drawing/2014/main" id="{057EE8DA-45A6-49F5-8818-666095A6840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2">
              <a:extLst>
                <a:ext uri="{FF2B5EF4-FFF2-40B4-BE49-F238E27FC236}">
                  <a16:creationId xmlns:a16="http://schemas.microsoft.com/office/drawing/2014/main" id="{8ADAA219-132F-41F3-BFAB-896804CF9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3">
              <a:extLst>
                <a:ext uri="{FF2B5EF4-FFF2-40B4-BE49-F238E27FC236}">
                  <a16:creationId xmlns:a16="http://schemas.microsoft.com/office/drawing/2014/main" id="{0593EFB1-DC77-417B-B5BC-0900A29F86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24">
              <a:extLst>
                <a:ext uri="{FF2B5EF4-FFF2-40B4-BE49-F238E27FC236}">
                  <a16:creationId xmlns:a16="http://schemas.microsoft.com/office/drawing/2014/main" id="{95C9F90E-2399-40F1-BB67-3EEDFC360A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25">
              <a:extLst>
                <a:ext uri="{FF2B5EF4-FFF2-40B4-BE49-F238E27FC236}">
                  <a16:creationId xmlns:a16="http://schemas.microsoft.com/office/drawing/2014/main" id="{59635033-7842-47F7-869E-EB54B03BE9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9" name="Freeform 26">
              <a:extLst>
                <a:ext uri="{FF2B5EF4-FFF2-40B4-BE49-F238E27FC236}">
                  <a16:creationId xmlns:a16="http://schemas.microsoft.com/office/drawing/2014/main" id="{06710716-F4FF-4D2D-BD4D-3A1C29D5DA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9" name="Freeform 27">
              <a:extLst>
                <a:ext uri="{FF2B5EF4-FFF2-40B4-BE49-F238E27FC236}">
                  <a16:creationId xmlns:a16="http://schemas.microsoft.com/office/drawing/2014/main" id="{DD91BF26-5487-4130-87F9-0B56EA0B06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0" name="Freeform 28">
              <a:extLst>
                <a:ext uri="{FF2B5EF4-FFF2-40B4-BE49-F238E27FC236}">
                  <a16:creationId xmlns:a16="http://schemas.microsoft.com/office/drawing/2014/main" id="{DCAE746E-F56B-4E02-A50E-358503AB5F7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1" name="Freeform 29">
              <a:extLst>
                <a:ext uri="{FF2B5EF4-FFF2-40B4-BE49-F238E27FC236}">
                  <a16:creationId xmlns:a16="http://schemas.microsoft.com/office/drawing/2014/main" id="{81DB5307-35A1-4FFB-A8E6-C6AB7703A8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2" name="Freeform 30">
              <a:extLst>
                <a:ext uri="{FF2B5EF4-FFF2-40B4-BE49-F238E27FC236}">
                  <a16:creationId xmlns:a16="http://schemas.microsoft.com/office/drawing/2014/main" id="{052F6C49-049E-4FBC-A090-64B559CC10C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3" name="Freeform 31">
              <a:extLst>
                <a:ext uri="{FF2B5EF4-FFF2-40B4-BE49-F238E27FC236}">
                  <a16:creationId xmlns:a16="http://schemas.microsoft.com/office/drawing/2014/main" id="{B520037F-DF6D-49C9-937E-D7617F8DC8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4" name="Freeform 32">
              <a:extLst>
                <a:ext uri="{FF2B5EF4-FFF2-40B4-BE49-F238E27FC236}">
                  <a16:creationId xmlns:a16="http://schemas.microsoft.com/office/drawing/2014/main" id="{D65483B0-4562-4071-8E79-BFF7E3407B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5" name="Rectangle 33">
              <a:extLst>
                <a:ext uri="{FF2B5EF4-FFF2-40B4-BE49-F238E27FC236}">
                  <a16:creationId xmlns:a16="http://schemas.microsoft.com/office/drawing/2014/main" id="{B537F264-B801-4F97-8091-41E16CA52FE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46" name="Freeform 34">
              <a:extLst>
                <a:ext uri="{FF2B5EF4-FFF2-40B4-BE49-F238E27FC236}">
                  <a16:creationId xmlns:a16="http://schemas.microsoft.com/office/drawing/2014/main" id="{CF0D86E0-647F-437F-AA71-72A789B0D2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7" name="Freeform 35">
              <a:extLst>
                <a:ext uri="{FF2B5EF4-FFF2-40B4-BE49-F238E27FC236}">
                  <a16:creationId xmlns:a16="http://schemas.microsoft.com/office/drawing/2014/main" id="{D72C3866-21D1-48D0-899E-938892FF3D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8" name="Freeform 36">
              <a:extLst>
                <a:ext uri="{FF2B5EF4-FFF2-40B4-BE49-F238E27FC236}">
                  <a16:creationId xmlns:a16="http://schemas.microsoft.com/office/drawing/2014/main" id="{4E94AC39-CDCB-4B11-BE08-FABED0C00F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9" name="Freeform 37">
              <a:extLst>
                <a:ext uri="{FF2B5EF4-FFF2-40B4-BE49-F238E27FC236}">
                  <a16:creationId xmlns:a16="http://schemas.microsoft.com/office/drawing/2014/main" id="{29C7F939-61B9-467B-AC85-C146594B803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0" name="Freeform 38">
              <a:extLst>
                <a:ext uri="{FF2B5EF4-FFF2-40B4-BE49-F238E27FC236}">
                  <a16:creationId xmlns:a16="http://schemas.microsoft.com/office/drawing/2014/main" id="{0B851A48-E333-49BD-8150-3E207F2F5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1" name="Freeform 39">
              <a:extLst>
                <a:ext uri="{FF2B5EF4-FFF2-40B4-BE49-F238E27FC236}">
                  <a16:creationId xmlns:a16="http://schemas.microsoft.com/office/drawing/2014/main" id="{1CD0C878-A6ED-44A0-972F-164829F382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2" name="Freeform 40">
              <a:extLst>
                <a:ext uri="{FF2B5EF4-FFF2-40B4-BE49-F238E27FC236}">
                  <a16:creationId xmlns:a16="http://schemas.microsoft.com/office/drawing/2014/main" id="{1C236544-42D8-4A88-B600-6B8B20FFB4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3" name="Freeform 41">
              <a:extLst>
                <a:ext uri="{FF2B5EF4-FFF2-40B4-BE49-F238E27FC236}">
                  <a16:creationId xmlns:a16="http://schemas.microsoft.com/office/drawing/2014/main" id="{C9FF2C0E-61EA-45E6-8C93-270B51918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4" name="Freeform 42">
              <a:extLst>
                <a:ext uri="{FF2B5EF4-FFF2-40B4-BE49-F238E27FC236}">
                  <a16:creationId xmlns:a16="http://schemas.microsoft.com/office/drawing/2014/main" id="{654F9C3F-E635-4E7B-BF8F-87BF60CE7A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5" name="Freeform 43">
              <a:extLst>
                <a:ext uri="{FF2B5EF4-FFF2-40B4-BE49-F238E27FC236}">
                  <a16:creationId xmlns:a16="http://schemas.microsoft.com/office/drawing/2014/main" id="{ACCA7548-833A-4EEC-91F2-BB9687E3CE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6" name="Freeform 44">
              <a:extLst>
                <a:ext uri="{FF2B5EF4-FFF2-40B4-BE49-F238E27FC236}">
                  <a16:creationId xmlns:a16="http://schemas.microsoft.com/office/drawing/2014/main" id="{F895F203-B2FD-49FE-A865-269B367A41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7" name="Rectangle 45">
              <a:extLst>
                <a:ext uri="{FF2B5EF4-FFF2-40B4-BE49-F238E27FC236}">
                  <a16:creationId xmlns:a16="http://schemas.microsoft.com/office/drawing/2014/main" id="{84D9CCFF-23CD-4209-B238-57DDF091A6C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58" name="Freeform 46">
              <a:extLst>
                <a:ext uri="{FF2B5EF4-FFF2-40B4-BE49-F238E27FC236}">
                  <a16:creationId xmlns:a16="http://schemas.microsoft.com/office/drawing/2014/main" id="{190495CD-E216-4AF5-9038-D7807B638C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9" name="Freeform 47">
              <a:extLst>
                <a:ext uri="{FF2B5EF4-FFF2-40B4-BE49-F238E27FC236}">
                  <a16:creationId xmlns:a16="http://schemas.microsoft.com/office/drawing/2014/main" id="{6E2B5DDB-234E-47ED-9F32-83C6D5EEEB2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0" name="Freeform 48">
              <a:extLst>
                <a:ext uri="{FF2B5EF4-FFF2-40B4-BE49-F238E27FC236}">
                  <a16:creationId xmlns:a16="http://schemas.microsoft.com/office/drawing/2014/main" id="{9DB1F0CB-D565-4DF9-BA3F-7CE9F18B4F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1" name="Freeform 49">
              <a:extLst>
                <a:ext uri="{FF2B5EF4-FFF2-40B4-BE49-F238E27FC236}">
                  <a16:creationId xmlns:a16="http://schemas.microsoft.com/office/drawing/2014/main" id="{552F47B4-D0D5-4075-BD00-7145B6F205E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2" name="Freeform 50">
              <a:extLst>
                <a:ext uri="{FF2B5EF4-FFF2-40B4-BE49-F238E27FC236}">
                  <a16:creationId xmlns:a16="http://schemas.microsoft.com/office/drawing/2014/main" id="{F57CAD52-0B84-4068-BFD9-B48B16AFEE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3" name="Freeform 51">
              <a:extLst>
                <a:ext uri="{FF2B5EF4-FFF2-40B4-BE49-F238E27FC236}">
                  <a16:creationId xmlns:a16="http://schemas.microsoft.com/office/drawing/2014/main" id="{62E09F5E-A24D-4628-A8CB-143556FB9D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4" name="Freeform 52">
              <a:extLst>
                <a:ext uri="{FF2B5EF4-FFF2-40B4-BE49-F238E27FC236}">
                  <a16:creationId xmlns:a16="http://schemas.microsoft.com/office/drawing/2014/main" id="{C547CC76-FB8C-43B1-A625-F694184D94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5" name="Freeform 53">
              <a:extLst>
                <a:ext uri="{FF2B5EF4-FFF2-40B4-BE49-F238E27FC236}">
                  <a16:creationId xmlns:a16="http://schemas.microsoft.com/office/drawing/2014/main" id="{E86CE93B-A557-46C2-B87E-81C1E0E936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6" name="Freeform 54">
              <a:extLst>
                <a:ext uri="{FF2B5EF4-FFF2-40B4-BE49-F238E27FC236}">
                  <a16:creationId xmlns:a16="http://schemas.microsoft.com/office/drawing/2014/main" id="{7220D106-C5C0-4A39-909A-A11F3E246D6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7" name="Freeform 55">
              <a:extLst>
                <a:ext uri="{FF2B5EF4-FFF2-40B4-BE49-F238E27FC236}">
                  <a16:creationId xmlns:a16="http://schemas.microsoft.com/office/drawing/2014/main" id="{195044AA-79D9-4142-8865-9A4B4E8087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8" name="Freeform 56">
              <a:extLst>
                <a:ext uri="{FF2B5EF4-FFF2-40B4-BE49-F238E27FC236}">
                  <a16:creationId xmlns:a16="http://schemas.microsoft.com/office/drawing/2014/main" id="{BBFC5CFA-482C-4B45-87A7-C44F773CC66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9" name="Freeform 57">
              <a:extLst>
                <a:ext uri="{FF2B5EF4-FFF2-40B4-BE49-F238E27FC236}">
                  <a16:creationId xmlns:a16="http://schemas.microsoft.com/office/drawing/2014/main" id="{79BEC615-03E2-4F7F-A457-0CDA565ADA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70" name="Freeform 58">
              <a:extLst>
                <a:ext uri="{FF2B5EF4-FFF2-40B4-BE49-F238E27FC236}">
                  <a16:creationId xmlns:a16="http://schemas.microsoft.com/office/drawing/2014/main" id="{20E56620-58EC-4785-BA5E-2E40F40BC91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pic>
        <p:nvPicPr>
          <p:cNvPr id="4" name="Immagine 3" descr="Immagine che contiene testo, linea, Diagramma, Carattere&#10;&#10;Il contenuto generato dall'IA potrebbe non essere corretto.">
            <a:extLst>
              <a:ext uri="{FF2B5EF4-FFF2-40B4-BE49-F238E27FC236}">
                <a16:creationId xmlns:a16="http://schemas.microsoft.com/office/drawing/2014/main" id="{8F83E89D-5A7C-FA56-ED51-561CE2C52A1F}"/>
              </a:ext>
            </a:extLst>
          </p:cNvPr>
          <p:cNvPicPr>
            <a:picLocks noChangeAspect="1"/>
          </p:cNvPicPr>
          <p:nvPr/>
        </p:nvPicPr>
        <p:blipFill>
          <a:blip r:embed="rId3">
            <a:extLst>
              <a:ext uri="{28A0092B-C50C-407E-A947-70E740481C1C}">
                <a14:useLocalDpi xmlns:a14="http://schemas.microsoft.com/office/drawing/2010/main" val="0"/>
              </a:ext>
            </a:extLst>
          </a:blip>
          <a:srcRect l="1608" r="10323" b="1"/>
          <a:stretch>
            <a:fillRect/>
          </a:stretch>
        </p:blipFill>
        <p:spPr>
          <a:xfrm>
            <a:off x="9" y="4569619"/>
            <a:ext cx="4635563" cy="2276475"/>
          </a:xfrm>
          <a:custGeom>
            <a:avLst/>
            <a:gdLst/>
            <a:ahLst/>
            <a:cxnLst/>
            <a:rect l="l" t="t" r="r" b="b"/>
            <a:pathLst>
              <a:path w="4635583" h="3427413">
                <a:moveTo>
                  <a:pt x="0" y="0"/>
                </a:moveTo>
                <a:lnTo>
                  <a:pt x="4635583" y="0"/>
                </a:lnTo>
                <a:lnTo>
                  <a:pt x="4635583" y="3427413"/>
                </a:lnTo>
                <a:lnTo>
                  <a:pt x="0" y="3427413"/>
                </a:lnTo>
                <a:close/>
              </a:path>
            </a:pathLst>
          </a:custGeom>
        </p:spPr>
      </p:pic>
      <p:pic>
        <p:nvPicPr>
          <p:cNvPr id="6" name="Immagine 5" descr="Immagine che contiene testo, schermata, linea, diagramma&#10;&#10;Il contenuto generato dall'IA potrebbe non essere corretto.">
            <a:extLst>
              <a:ext uri="{FF2B5EF4-FFF2-40B4-BE49-F238E27FC236}">
                <a16:creationId xmlns:a16="http://schemas.microsoft.com/office/drawing/2014/main" id="{A9B71E4B-D28E-8299-F93A-79F5B9D85714}"/>
              </a:ext>
            </a:extLst>
          </p:cNvPr>
          <p:cNvPicPr>
            <a:picLocks noChangeAspect="1"/>
          </p:cNvPicPr>
          <p:nvPr/>
        </p:nvPicPr>
        <p:blipFill>
          <a:blip r:embed="rId4">
            <a:extLst>
              <a:ext uri="{28A0092B-C50C-407E-A947-70E740481C1C}">
                <a14:useLocalDpi xmlns:a14="http://schemas.microsoft.com/office/drawing/2010/main" val="0"/>
              </a:ext>
            </a:extLst>
          </a:blip>
          <a:srcRect r="12298" b="1"/>
          <a:stretch>
            <a:fillRect/>
          </a:stretch>
        </p:blipFill>
        <p:spPr>
          <a:xfrm>
            <a:off x="20" y="2285999"/>
            <a:ext cx="4635563" cy="2286001"/>
          </a:xfrm>
          <a:custGeom>
            <a:avLst/>
            <a:gdLst/>
            <a:ahLst/>
            <a:cxnLst/>
            <a:rect l="l" t="t" r="r" b="b"/>
            <a:pathLst>
              <a:path w="4635583" h="3430587">
                <a:moveTo>
                  <a:pt x="0" y="0"/>
                </a:moveTo>
                <a:lnTo>
                  <a:pt x="4635583" y="0"/>
                </a:lnTo>
                <a:lnTo>
                  <a:pt x="4635583" y="3430587"/>
                </a:lnTo>
                <a:lnTo>
                  <a:pt x="0" y="3430587"/>
                </a:lnTo>
                <a:close/>
              </a:path>
            </a:pathLst>
          </a:custGeom>
        </p:spPr>
      </p:pic>
      <p:cxnSp>
        <p:nvCxnSpPr>
          <p:cNvPr id="72" name="Straight Connector 71">
            <a:extLst>
              <a:ext uri="{FF2B5EF4-FFF2-40B4-BE49-F238E27FC236}">
                <a16:creationId xmlns:a16="http://schemas.microsoft.com/office/drawing/2014/main" id="{3CFEBF73-2875-4126-A90D-ABB6BBFEAD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2286000"/>
            <a:ext cx="4635583" cy="0"/>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pic>
        <p:nvPicPr>
          <p:cNvPr id="7" name="Immagine 6">
            <a:extLst>
              <a:ext uri="{FF2B5EF4-FFF2-40B4-BE49-F238E27FC236}">
                <a16:creationId xmlns:a16="http://schemas.microsoft.com/office/drawing/2014/main" id="{B6F7C18D-2482-6F43-2D42-4A33B7361F1E}"/>
              </a:ext>
            </a:extLst>
          </p:cNvPr>
          <p:cNvPicPr>
            <a:picLocks noChangeAspect="1"/>
          </p:cNvPicPr>
          <p:nvPr/>
        </p:nvPicPr>
        <p:blipFill>
          <a:blip r:embed="rId5">
            <a:extLst>
              <a:ext uri="{28A0092B-C50C-407E-A947-70E740481C1C}">
                <a14:useLocalDpi xmlns:a14="http://schemas.microsoft.com/office/drawing/2010/main" val="0"/>
              </a:ext>
            </a:extLst>
          </a:blip>
          <a:srcRect r="1" b="1372"/>
          <a:stretch>
            <a:fillRect/>
          </a:stretch>
        </p:blipFill>
        <p:spPr>
          <a:xfrm>
            <a:off x="9544" y="-4765"/>
            <a:ext cx="4635563" cy="2286001"/>
          </a:xfrm>
          <a:custGeom>
            <a:avLst/>
            <a:gdLst/>
            <a:ahLst/>
            <a:cxnLst/>
            <a:rect l="l" t="t" r="r" b="b"/>
            <a:pathLst>
              <a:path w="4635583" h="3430587">
                <a:moveTo>
                  <a:pt x="0" y="0"/>
                </a:moveTo>
                <a:lnTo>
                  <a:pt x="4635583" y="0"/>
                </a:lnTo>
                <a:lnTo>
                  <a:pt x="4635583" y="3430587"/>
                </a:lnTo>
                <a:lnTo>
                  <a:pt x="0" y="3430587"/>
                </a:lnTo>
                <a:close/>
              </a:path>
            </a:pathLst>
          </a:custGeom>
        </p:spPr>
      </p:pic>
      <p:cxnSp>
        <p:nvCxnSpPr>
          <p:cNvPr id="74" name="Straight Connector 73">
            <a:extLst>
              <a:ext uri="{FF2B5EF4-FFF2-40B4-BE49-F238E27FC236}">
                <a16:creationId xmlns:a16="http://schemas.microsoft.com/office/drawing/2014/main" id="{0F167419-5C1C-40BD-B9C4-75CFC65088F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72000"/>
            <a:ext cx="4635583" cy="0"/>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cxnSp>
        <p:nvCxnSpPr>
          <p:cNvPr id="76" name="Straight Connector 75">
            <a:extLst>
              <a:ext uri="{FF2B5EF4-FFF2-40B4-BE49-F238E27FC236}">
                <a16:creationId xmlns:a16="http://schemas.microsoft.com/office/drawing/2014/main" id="{AFCD9A95-E405-4952-A0CF-6EAF80F9706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32483" y="-464"/>
            <a:ext cx="2646" cy="6858465"/>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sp>
        <p:nvSpPr>
          <p:cNvPr id="3" name="Segnaposto contenuto 2">
            <a:extLst>
              <a:ext uri="{FF2B5EF4-FFF2-40B4-BE49-F238E27FC236}">
                <a16:creationId xmlns:a16="http://schemas.microsoft.com/office/drawing/2014/main" id="{18B8CE2A-A179-5B7F-2C5E-CAB269B869C0}"/>
              </a:ext>
            </a:extLst>
          </p:cNvPr>
          <p:cNvSpPr>
            <a:spLocks noGrp="1"/>
          </p:cNvSpPr>
          <p:nvPr>
            <p:ph idx="1"/>
          </p:nvPr>
        </p:nvSpPr>
        <p:spPr>
          <a:xfrm>
            <a:off x="5222215" y="945419"/>
            <a:ext cx="6720049" cy="6340349"/>
          </a:xfrm>
        </p:spPr>
        <p:txBody>
          <a:bodyPr>
            <a:noAutofit/>
          </a:bodyPr>
          <a:lstStyle/>
          <a:p>
            <a:pPr marL="0" indent="0">
              <a:lnSpc>
                <a:spcPct val="110000"/>
              </a:lnSpc>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Test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number</a:t>
            </a:r>
            <a:r>
              <a:rPr lang="it-IT" sz="2200" dirty="0">
                <a:latin typeface="Calibri Light" panose="020F0302020204030204" pitchFamily="34" charset="0"/>
                <a:ea typeface="Calibri Light" panose="020F0302020204030204" pitchFamily="34" charset="0"/>
                <a:cs typeface="Calibri Light" panose="020F0302020204030204" pitchFamily="34" charset="0"/>
              </a:rPr>
              <a:t> 12: t</a:t>
            </a:r>
            <a:r>
              <a:rPr lang="en-GB" sz="2200" dirty="0" err="1">
                <a:latin typeface="Calibri Light" panose="020F0302020204030204" pitchFamily="34" charset="0"/>
                <a:ea typeface="Calibri Light" panose="020F0302020204030204" pitchFamily="34" charset="0"/>
                <a:cs typeface="Calibri Light" panose="020F0302020204030204" pitchFamily="34" charset="0"/>
              </a:rPr>
              <a:t>hese</a:t>
            </a:r>
            <a:r>
              <a:rPr lang="en-GB" sz="2200" dirty="0">
                <a:latin typeface="Calibri Light" panose="020F0302020204030204" pitchFamily="34" charset="0"/>
                <a:ea typeface="Calibri Light" panose="020F0302020204030204" pitchFamily="34" charset="0"/>
                <a:cs typeface="Calibri Light" panose="020F0302020204030204" pitchFamily="34" charset="0"/>
              </a:rPr>
              <a:t> results were obtained using a Dueling DQN architecture. Unlike the standard DQN, Dueling DQN separately estimates the state value and the advantage of each action, which can improve learning stability and action evaluation.</a:t>
            </a:r>
          </a:p>
          <a:p>
            <a:pPr marL="0" indent="0">
              <a:lnSpc>
                <a:spcPct val="110000"/>
              </a:lnSpc>
              <a:buNone/>
            </a:pPr>
            <a:r>
              <a:rPr lang="en-GB" sz="2200" dirty="0">
                <a:latin typeface="Calibri Light" panose="020F0302020204030204" pitchFamily="34" charset="0"/>
                <a:ea typeface="Calibri Light" panose="020F0302020204030204" pitchFamily="34" charset="0"/>
                <a:cs typeface="Calibri Light" panose="020F0302020204030204" pitchFamily="34" charset="0"/>
              </a:rPr>
              <a:t>From the Collision vs. Success Rate graph, the overall trend appears slightly worse compared to the previous experiment with the standard DQN, with lower stability and a higher collision rate.</a:t>
            </a:r>
          </a:p>
          <a:p>
            <a:pPr marL="0" indent="0">
              <a:lnSpc>
                <a:spcPct val="110000"/>
              </a:lnSpc>
              <a:buNone/>
            </a:pPr>
            <a:r>
              <a:rPr lang="en-GB" sz="2200" dirty="0">
                <a:latin typeface="Calibri Light" panose="020F0302020204030204" pitchFamily="34" charset="0"/>
                <a:ea typeface="Calibri Light" panose="020F0302020204030204" pitchFamily="34" charset="0"/>
                <a:cs typeface="Calibri Light" panose="020F0302020204030204" pitchFamily="34" charset="0"/>
              </a:rPr>
              <a:t>However, the success rate per goal difficulty shows a small but meaningful improvement: the agent has started, albeit marginally, to reach the medium difficulty goal. While overall performance is still limited, this indicates a first step toward handling more complex tasks.</a:t>
            </a:r>
            <a:endParaRPr lang="it-IT" sz="22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0" name="CasellaDiTesto 9">
            <a:extLst>
              <a:ext uri="{FF2B5EF4-FFF2-40B4-BE49-F238E27FC236}">
                <a16:creationId xmlns:a16="http://schemas.microsoft.com/office/drawing/2014/main" id="{7026576D-D4C8-4447-FB9F-A9894069C3C0}"/>
              </a:ext>
            </a:extLst>
          </p:cNvPr>
          <p:cNvSpPr txBox="1"/>
          <p:nvPr/>
        </p:nvSpPr>
        <p:spPr>
          <a:xfrm>
            <a:off x="5530271" y="313422"/>
            <a:ext cx="6108700" cy="646331"/>
          </a:xfrm>
          <a:prstGeom prst="rect">
            <a:avLst/>
          </a:prstGeom>
          <a:noFill/>
        </p:spPr>
        <p:txBody>
          <a:bodyPr wrap="square">
            <a:spAutoFit/>
          </a:bodyPr>
          <a:lstStyle/>
          <a:p>
            <a:r>
              <a:rPr lang="it-IT" sz="3600" dirty="0">
                <a:latin typeface="+mj-lt"/>
              </a:rPr>
              <a:t>RESULTS B</a:t>
            </a:r>
            <a:endParaRPr lang="it-IT" sz="3600" dirty="0"/>
          </a:p>
        </p:txBody>
      </p:sp>
    </p:spTree>
    <p:extLst>
      <p:ext uri="{BB962C8B-B14F-4D97-AF65-F5344CB8AC3E}">
        <p14:creationId xmlns:p14="http://schemas.microsoft.com/office/powerpoint/2010/main" val="16552494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4"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5"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6"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7E07ED33-9A9D-588D-D853-2287E0FBA485}"/>
              </a:ext>
            </a:extLst>
          </p:cNvPr>
          <p:cNvSpPr>
            <a:spLocks noGrp="1"/>
          </p:cNvSpPr>
          <p:nvPr>
            <p:ph type="title"/>
          </p:nvPr>
        </p:nvSpPr>
        <p:spPr>
          <a:xfrm>
            <a:off x="1019015" y="1093787"/>
            <a:ext cx="3059969" cy="4697413"/>
          </a:xfrm>
        </p:spPr>
        <p:txBody>
          <a:bodyPr>
            <a:normAutofit/>
          </a:bodyPr>
          <a:lstStyle/>
          <a:p>
            <a:r>
              <a:rPr lang="it-IT" dirty="0" err="1"/>
              <a:t>Proposed</a:t>
            </a:r>
            <a:r>
              <a:rPr lang="it-IT" dirty="0"/>
              <a:t> Future work</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510F8DCD-CD80-C39F-7E23-736E65B592A0}"/>
              </a:ext>
            </a:extLst>
          </p:cNvPr>
          <p:cNvSpPr>
            <a:spLocks noGrp="1"/>
          </p:cNvSpPr>
          <p:nvPr>
            <p:ph idx="1"/>
          </p:nvPr>
        </p:nvSpPr>
        <p:spPr>
          <a:xfrm>
            <a:off x="4855112" y="1093788"/>
            <a:ext cx="7027325" cy="4697413"/>
          </a:xfrm>
        </p:spPr>
        <p:txBody>
          <a:bodyPr>
            <a:normAutofit fontScale="92500" lnSpcReduction="20000"/>
          </a:bodyPr>
          <a:lstStyle/>
          <a:p>
            <a:pPr marL="0" indent="0">
              <a:buNone/>
            </a:pPr>
            <a:r>
              <a:rPr lang="it-IT" dirty="0">
                <a:latin typeface="Calibri Light" panose="020F0302020204030204" pitchFamily="34" charset="0"/>
                <a:ea typeface="Calibri Light" panose="020F0302020204030204" pitchFamily="34" charset="0"/>
                <a:cs typeface="Calibri Light" panose="020F0302020204030204" pitchFamily="34" charset="0"/>
              </a:rPr>
              <a:t>As the training wasn’t successfull the proposed objective for the future is to fix the problems, mainly the goal navigation one: this can be made by totally chaning the factorize reward structure (as we did in some of the final tests where it proved to be somewhat useful) or modifying the DRL alghoritm by using, for example, the Actor Critic method: this was originally proposed as an alternative but due to time constraint we weren’t able to implement and test it.</a:t>
            </a:r>
          </a:p>
          <a:p>
            <a:pPr marL="0" indent="0">
              <a:buNone/>
            </a:pPr>
            <a:r>
              <a:rPr lang="it-IT" dirty="0" err="1">
                <a:latin typeface="Calibri Light" panose="020F0302020204030204" pitchFamily="34" charset="0"/>
                <a:ea typeface="Calibri Light" panose="020F0302020204030204" pitchFamily="34" charset="0"/>
                <a:cs typeface="Calibri Light" panose="020F0302020204030204" pitchFamily="34" charset="0"/>
              </a:rPr>
              <a:t>While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researching</a:t>
            </a:r>
            <a:r>
              <a:rPr lang="it-IT" dirty="0">
                <a:latin typeface="Calibri Light" panose="020F0302020204030204" pitchFamily="34" charset="0"/>
                <a:ea typeface="Calibri Light" panose="020F0302020204030204" pitchFamily="34" charset="0"/>
                <a:cs typeface="Calibri Light" panose="020F0302020204030204" pitchFamily="34" charset="0"/>
              </a:rPr>
              <a:t> online </a:t>
            </a:r>
            <a:r>
              <a:rPr lang="it-IT" dirty="0" err="1">
                <a:latin typeface="Calibri Light" panose="020F0302020204030204" pitchFamily="34" charset="0"/>
                <a:ea typeface="Calibri Light" panose="020F0302020204030204" pitchFamily="34" charset="0"/>
                <a:cs typeface="Calibri Light" panose="020F0302020204030204" pitchFamily="34" charset="0"/>
              </a:rPr>
              <a:t>we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also</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found</a:t>
            </a:r>
            <a:r>
              <a:rPr lang="it-IT" dirty="0">
                <a:latin typeface="Calibri Light" panose="020F0302020204030204" pitchFamily="34" charset="0"/>
                <a:ea typeface="Calibri Light" panose="020F0302020204030204" pitchFamily="34" charset="0"/>
                <a:cs typeface="Calibri Light" panose="020F0302020204030204" pitchFamily="34" charset="0"/>
              </a:rPr>
              <a:t> some papers </a:t>
            </a:r>
            <a:r>
              <a:rPr lang="it-IT" dirty="0" err="1">
                <a:latin typeface="Calibri Light" panose="020F0302020204030204" pitchFamily="34" charset="0"/>
                <a:ea typeface="Calibri Light" panose="020F0302020204030204" pitchFamily="34" charset="0"/>
                <a:cs typeface="Calibri Light" panose="020F0302020204030204" pitchFamily="34" charset="0"/>
              </a:rPr>
              <a:t>that</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proposed</a:t>
            </a:r>
            <a:r>
              <a:rPr lang="it-IT" dirty="0">
                <a:latin typeface="Calibri Light" panose="020F0302020204030204" pitchFamily="34" charset="0"/>
                <a:ea typeface="Calibri Light" panose="020F0302020204030204" pitchFamily="34" charset="0"/>
                <a:cs typeface="Calibri Light" panose="020F0302020204030204" pitchFamily="34" charset="0"/>
              </a:rPr>
              <a:t> the use of more </a:t>
            </a:r>
            <a:r>
              <a:rPr lang="it-IT" dirty="0" err="1">
                <a:latin typeface="Calibri Light" panose="020F0302020204030204" pitchFamily="34" charset="0"/>
                <a:ea typeface="Calibri Light" panose="020F0302020204030204" pitchFamily="34" charset="0"/>
                <a:cs typeface="Calibri Light" panose="020F0302020204030204" pitchFamily="34" charset="0"/>
              </a:rPr>
              <a:t>movement</a:t>
            </a:r>
            <a:r>
              <a:rPr lang="it-IT" dirty="0">
                <a:latin typeface="Calibri Light" panose="020F0302020204030204" pitchFamily="34" charset="0"/>
                <a:ea typeface="Calibri Light" panose="020F0302020204030204" pitchFamily="34" charset="0"/>
                <a:cs typeface="Calibri Light" panose="020F0302020204030204" pitchFamily="34" charset="0"/>
              </a:rPr>
              <a:t> options, </a:t>
            </a:r>
            <a:r>
              <a:rPr lang="it-IT" dirty="0" err="1">
                <a:latin typeface="Calibri Light" panose="020F0302020204030204" pitchFamily="34" charset="0"/>
                <a:ea typeface="Calibri Light" panose="020F0302020204030204" pitchFamily="34" charset="0"/>
                <a:cs typeface="Calibri Light" panose="020F0302020204030204" pitchFamily="34" charset="0"/>
              </a:rPr>
              <a:t>namely</a:t>
            </a:r>
            <a:r>
              <a:rPr lang="it-IT" dirty="0">
                <a:latin typeface="Calibri Light" panose="020F0302020204030204" pitchFamily="34" charset="0"/>
                <a:ea typeface="Calibri Light" panose="020F0302020204030204" pitchFamily="34" charset="0"/>
                <a:cs typeface="Calibri Light" panose="020F0302020204030204" pitchFamily="34" charset="0"/>
              </a:rPr>
              <a:t> the Turn «</a:t>
            </a:r>
            <a:r>
              <a:rPr lang="it-IT" dirty="0" err="1">
                <a:latin typeface="Calibri Light" panose="020F0302020204030204" pitchFamily="34" charset="0"/>
                <a:ea typeface="Calibri Light" panose="020F0302020204030204" pitchFamily="34" charset="0"/>
                <a:cs typeface="Calibri Light" panose="020F0302020204030204" pitchFamily="34" charset="0"/>
              </a:rPr>
              <a:t>strongly</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left</a:t>
            </a:r>
            <a:r>
              <a:rPr lang="it-IT" dirty="0">
                <a:latin typeface="Calibri Light" panose="020F0302020204030204" pitchFamily="34" charset="0"/>
                <a:ea typeface="Calibri Light" panose="020F0302020204030204" pitchFamily="34" charset="0"/>
                <a:cs typeface="Calibri Light" panose="020F0302020204030204" pitchFamily="34" charset="0"/>
              </a:rPr>
              <a:t>/</a:t>
            </a:r>
            <a:r>
              <a:rPr lang="it-IT" dirty="0" err="1">
                <a:latin typeface="Calibri Light" panose="020F0302020204030204" pitchFamily="34" charset="0"/>
                <a:ea typeface="Calibri Light" panose="020F0302020204030204" pitchFamily="34" charset="0"/>
                <a:cs typeface="Calibri Light" panose="020F0302020204030204" pitchFamily="34" charset="0"/>
              </a:rPr>
              <a:t>right</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they</a:t>
            </a:r>
            <a:r>
              <a:rPr lang="it-IT" dirty="0">
                <a:latin typeface="Calibri Light" panose="020F0302020204030204" pitchFamily="34" charset="0"/>
                <a:ea typeface="Calibri Light" panose="020F0302020204030204" pitchFamily="34" charset="0"/>
                <a:cs typeface="Calibri Light" panose="020F0302020204030204" pitchFamily="34" charset="0"/>
              </a:rPr>
              <a:t> support the idea </a:t>
            </a:r>
            <a:r>
              <a:rPr lang="it-IT" dirty="0" err="1">
                <a:latin typeface="Calibri Light" panose="020F0302020204030204" pitchFamily="34" charset="0"/>
                <a:ea typeface="Calibri Light" panose="020F0302020204030204" pitchFamily="34" charset="0"/>
                <a:cs typeface="Calibri Light" panose="020F0302020204030204" pitchFamily="34" charset="0"/>
              </a:rPr>
              <a:t>that</a:t>
            </a:r>
            <a:r>
              <a:rPr lang="it-IT" dirty="0">
                <a:latin typeface="Calibri Light" panose="020F0302020204030204" pitchFamily="34" charset="0"/>
                <a:ea typeface="Calibri Light" panose="020F0302020204030204" pitchFamily="34" charset="0"/>
                <a:cs typeface="Calibri Light" panose="020F0302020204030204" pitchFamily="34" charset="0"/>
              </a:rPr>
              <a:t> by </a:t>
            </a:r>
            <a:r>
              <a:rPr lang="it-IT" dirty="0" err="1">
                <a:latin typeface="Calibri Light" panose="020F0302020204030204" pitchFamily="34" charset="0"/>
                <a:ea typeface="Calibri Light" panose="020F0302020204030204" pitchFamily="34" charset="0"/>
                <a:cs typeface="Calibri Light" panose="020F0302020204030204" pitchFamily="34" charset="0"/>
              </a:rPr>
              <a:t>adding</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these</a:t>
            </a:r>
            <a:r>
              <a:rPr lang="it-IT" dirty="0">
                <a:latin typeface="Calibri Light" panose="020F0302020204030204" pitchFamily="34" charset="0"/>
                <a:ea typeface="Calibri Light" panose="020F0302020204030204" pitchFamily="34" charset="0"/>
                <a:cs typeface="Calibri Light" panose="020F0302020204030204" pitchFamily="34" charset="0"/>
              </a:rPr>
              <a:t> options the robot </a:t>
            </a:r>
            <a:r>
              <a:rPr lang="it-IT" dirty="0" err="1">
                <a:latin typeface="Calibri Light" panose="020F0302020204030204" pitchFamily="34" charset="0"/>
                <a:ea typeface="Calibri Light" panose="020F0302020204030204" pitchFamily="34" charset="0"/>
                <a:cs typeface="Calibri Light" panose="020F0302020204030204" pitchFamily="34" charset="0"/>
              </a:rPr>
              <a:t>could</a:t>
            </a:r>
            <a:r>
              <a:rPr lang="it-IT" dirty="0">
                <a:latin typeface="Calibri Light" panose="020F0302020204030204" pitchFamily="34" charset="0"/>
                <a:ea typeface="Calibri Light" panose="020F0302020204030204" pitchFamily="34" charset="0"/>
                <a:cs typeface="Calibri Light" panose="020F0302020204030204" pitchFamily="34" charset="0"/>
              </a:rPr>
              <a:t> navigate the </a:t>
            </a:r>
            <a:r>
              <a:rPr lang="it-IT" dirty="0" err="1">
                <a:latin typeface="Calibri Light" panose="020F0302020204030204" pitchFamily="34" charset="0"/>
                <a:ea typeface="Calibri Light" panose="020F0302020204030204" pitchFamily="34" charset="0"/>
                <a:cs typeface="Calibri Light" panose="020F0302020204030204" pitchFamily="34" charset="0"/>
              </a:rPr>
              <a:t>environment</a:t>
            </a:r>
            <a:r>
              <a:rPr lang="it-IT" dirty="0">
                <a:latin typeface="Calibri Light" panose="020F0302020204030204" pitchFamily="34" charset="0"/>
                <a:ea typeface="Calibri Light" panose="020F0302020204030204" pitchFamily="34" charset="0"/>
                <a:cs typeface="Calibri Light" panose="020F0302020204030204" pitchFamily="34" charset="0"/>
              </a:rPr>
              <a:t> with more </a:t>
            </a:r>
            <a:r>
              <a:rPr lang="it-IT" dirty="0" err="1">
                <a:latin typeface="Calibri Light" panose="020F0302020204030204" pitchFamily="34" charset="0"/>
                <a:ea typeface="Calibri Light" panose="020F0302020204030204" pitchFamily="34" charset="0"/>
                <a:cs typeface="Calibri Light" panose="020F0302020204030204" pitchFamily="34" charset="0"/>
              </a:rPr>
              <a:t>precision</a:t>
            </a:r>
            <a:r>
              <a:rPr lang="it-IT" dirty="0">
                <a:latin typeface="Calibri Light" panose="020F0302020204030204" pitchFamily="34" charset="0"/>
                <a:ea typeface="Calibri Light" panose="020F0302020204030204" pitchFamily="34" charset="0"/>
                <a:cs typeface="Calibri Light" panose="020F0302020204030204" pitchFamily="34" charset="0"/>
              </a:rPr>
              <a:t> </a:t>
            </a:r>
          </a:p>
        </p:txBody>
      </p:sp>
    </p:spTree>
    <p:extLst>
      <p:ext uri="{BB962C8B-B14F-4D97-AF65-F5344CB8AC3E}">
        <p14:creationId xmlns:p14="http://schemas.microsoft.com/office/powerpoint/2010/main" val="22522391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o">
  <a:themeElements>
    <a:clrScheme name="Circuito">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o">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o">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
  <TotalTime>561</TotalTime>
  <Words>1810</Words>
  <Application>Microsoft Office PowerPoint</Application>
  <PresentationFormat>Widescreen</PresentationFormat>
  <Paragraphs>67</Paragraphs>
  <Slides>23</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23</vt:i4>
      </vt:variant>
    </vt:vector>
  </HeadingPairs>
  <TitlesOfParts>
    <vt:vector size="28" baseType="lpstr">
      <vt:lpstr>Arial</vt:lpstr>
      <vt:lpstr>Calibri Light</vt:lpstr>
      <vt:lpstr>Cambria Math</vt:lpstr>
      <vt:lpstr>Tw Cen MT</vt:lpstr>
      <vt:lpstr>Circuito</vt:lpstr>
      <vt:lpstr>project proposal Group K</vt:lpstr>
      <vt:lpstr>enviROnment</vt:lpstr>
      <vt:lpstr>tASK</vt:lpstr>
      <vt:lpstr>Input and sensor</vt:lpstr>
      <vt:lpstr>Drl algorithm</vt:lpstr>
      <vt:lpstr>Reward structure and curriculum</vt:lpstr>
      <vt:lpstr>Training strategy</vt:lpstr>
      <vt:lpstr>Evaluation metrics</vt:lpstr>
      <vt:lpstr>Actual implementation and achieved goals</vt:lpstr>
      <vt:lpstr>Environment</vt:lpstr>
      <vt:lpstr>tASK</vt:lpstr>
      <vt:lpstr>INPUT AND SENSOR</vt:lpstr>
      <vt:lpstr>Drl algorithm</vt:lpstr>
      <vt:lpstr>Reward structure and curriculum</vt:lpstr>
      <vt:lpstr>Training strategy</vt:lpstr>
      <vt:lpstr>Evaluation metrics</vt:lpstr>
      <vt:lpstr>Results A</vt:lpstr>
      <vt:lpstr>Results A</vt:lpstr>
      <vt:lpstr>Presentazione standard di PowerPoint</vt:lpstr>
      <vt:lpstr>Results B</vt:lpstr>
      <vt:lpstr>Presentazione standard di PowerPoint</vt:lpstr>
      <vt:lpstr>Presentazione standard di PowerPoint</vt:lpstr>
      <vt:lpstr>Proposed Future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Alessandro Fioritto</dc:creator>
  <cp:lastModifiedBy>Filippo Pilutti</cp:lastModifiedBy>
  <cp:revision>22</cp:revision>
  <dcterms:created xsi:type="dcterms:W3CDTF">2025-12-23T10:16:16Z</dcterms:created>
  <dcterms:modified xsi:type="dcterms:W3CDTF">2026-02-19T13:36:20Z</dcterms:modified>
</cp:coreProperties>
</file>