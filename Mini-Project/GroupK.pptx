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modernComment_101_DBD6A9B6.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DACC5F-7525-39CA-BE44-7F818D23E369}" name="Alessandro Fioritto" initials="AF" userId="S::152205@spes.uniud.it::badbab9d-d3e2-4602-91f9-125c1da0bedd"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08" autoAdjust="0"/>
    <p:restoredTop sz="94660"/>
  </p:normalViewPr>
  <p:slideViewPr>
    <p:cSldViewPr snapToGrid="0">
      <p:cViewPr varScale="1">
        <p:scale>
          <a:sx n="90" d="100"/>
          <a:sy n="90" d="100"/>
        </p:scale>
        <p:origin x="333"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8/10/relationships/authors" Target="authors.xml"/></Relationships>
</file>

<file path=ppt/comments/modernComment_101_DBD6A9B6.xml><?xml version="1.0" encoding="utf-8"?>
<p188:cmLst xmlns:a="http://schemas.openxmlformats.org/drawingml/2006/main" xmlns:r="http://schemas.openxmlformats.org/officeDocument/2006/relationships" xmlns:p188="http://schemas.microsoft.com/office/powerpoint/2018/8/main">
  <p188:cm id="{9C6E84F6-8127-4DE9-A904-7A1BB53958BE}" authorId="{8EDACC5F-7525-39CA-BE44-7F818D23E369}" created="2025-12-23T10:32:10.227">
    <ac:deMkLst xmlns:ac="http://schemas.microsoft.com/office/drawing/2013/main/command">
      <pc:docMk xmlns:pc="http://schemas.microsoft.com/office/powerpoint/2013/main/command"/>
      <pc:sldMk xmlns:pc="http://schemas.microsoft.com/office/powerpoint/2013/main/command" cId="3688278454" sldId="257"/>
      <ac:picMk id="5" creationId="{B76CB909-7CE4-6670-9602-DA515957F5E0}"/>
    </ac:deMkLst>
    <p188:txBody>
      <a:bodyPr/>
      <a:lstStyle/>
      <a:p>
        <a:r>
          <a:rPr lang="it-IT"/>
          <a:t>TEMP</a:t>
        </a:r>
      </a:p>
    </p188:txBody>
  </p188:cm>
</p188:cmLst>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it-IT"/>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it-IT"/>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it-IT"/>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it-IT"/>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C7CC04FB-86A9-4518-B68C-513A8C480987}" type="datetimeFigureOut">
              <a:rPr lang="it-IT" smtClean="0"/>
              <a:t>13/01/2026</a:t>
            </a:fld>
            <a:endParaRPr lang="it-IT"/>
          </a:p>
        </p:txBody>
      </p:sp>
      <p:sp>
        <p:nvSpPr>
          <p:cNvPr id="5" name="Footer Placeholder 4"/>
          <p:cNvSpPr>
            <a:spLocks noGrp="1"/>
          </p:cNvSpPr>
          <p:nvPr>
            <p:ph type="ftr" sz="quarter" idx="11"/>
          </p:nvPr>
        </p:nvSpPr>
        <p:spPr>
          <a:xfrm>
            <a:off x="1876424" y="5410201"/>
            <a:ext cx="5124886" cy="365125"/>
          </a:xfrm>
        </p:spPr>
        <p:txBody>
          <a:bodyPr/>
          <a:lstStyle/>
          <a:p>
            <a:endParaRPr lang="it-IT"/>
          </a:p>
        </p:txBody>
      </p:sp>
      <p:sp>
        <p:nvSpPr>
          <p:cNvPr id="6" name="Slide Number Placeholder 5"/>
          <p:cNvSpPr>
            <a:spLocks noGrp="1"/>
          </p:cNvSpPr>
          <p:nvPr>
            <p:ph type="sldNum" sz="quarter" idx="12"/>
          </p:nvPr>
        </p:nvSpPr>
        <p:spPr>
          <a:xfrm>
            <a:off x="9896911" y="5410199"/>
            <a:ext cx="771089" cy="365125"/>
          </a:xfrm>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3483856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7CC04FB-86A9-4518-B68C-513A8C480987}" type="datetimeFigureOut">
              <a:rPr lang="it-IT" smtClean="0"/>
              <a:t>13/01/2026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1859572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C7CC04FB-86A9-4518-B68C-513A8C480987}" type="datetimeFigureOut">
              <a:rPr lang="it-IT" smtClean="0"/>
              <a:t>13/01/2026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710139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C7CC04FB-86A9-4518-B68C-513A8C480987}" type="datetimeFigureOut">
              <a:rPr lang="it-IT" smtClean="0"/>
              <a:t>13/01/2026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3580662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41410" y="3073397"/>
            <a:ext cx="4878391"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172200" y="3073397"/>
            <a:ext cx="4875210"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C7CC04FB-86A9-4518-B68C-513A8C480987}" type="datetimeFigureOut">
              <a:rPr lang="it-IT" smtClean="0"/>
              <a:t>13/01/2026</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3952841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C7CC04FB-86A9-4518-B68C-513A8C480987}" type="datetimeFigureOut">
              <a:rPr lang="it-IT" smtClean="0"/>
              <a:t>13/01/2026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177147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CC04FB-86A9-4518-B68C-513A8C480987}" type="datetimeFigureOut">
              <a:rPr lang="it-IT" smtClean="0"/>
              <a:t>13/01/2026</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2595450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13/01/2026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2773917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13/01/2026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2012496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it-IT"/>
              <a:t>Fare clic sull'icona per inserire un'immagine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13/01/2026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575195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13/01/2026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32613968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it-IT"/>
              <a:t>Fare clic per modificare lo stile del titolo dello schema</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13/01/2026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a:t>
            </a:fld>
            <a:endParaRPr lang="it-IT"/>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096055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13/01/2026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3630100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it-IT"/>
              <a:t>Fare clic per modificare lo stile del titolo dello schema</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C7CC04FB-86A9-4518-B68C-513A8C480987}" type="datetimeFigureOut">
              <a:rPr lang="it-IT" smtClean="0"/>
              <a:t>13/01/2026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2308747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it-IT"/>
              <a:t>Fare clic per modificare lo stile del titolo dello schema</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C7CC04FB-86A9-4518-B68C-513A8C480987}" type="datetimeFigureOut">
              <a:rPr lang="it-IT" smtClean="0"/>
              <a:t>13/01/2026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1983281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7CC04FB-86A9-4518-B68C-513A8C480987}" type="datetimeFigureOut">
              <a:rPr lang="it-IT" smtClean="0"/>
              <a:t>13/01/2026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2641789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7CC04FB-86A9-4518-B68C-513A8C480987}" type="datetimeFigureOut">
              <a:rPr lang="it-IT" smtClean="0"/>
              <a:t>13/01/2026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a:t>
            </a:fld>
            <a:endParaRPr lang="it-IT"/>
          </a:p>
        </p:txBody>
      </p:sp>
    </p:spTree>
    <p:extLst>
      <p:ext uri="{BB962C8B-B14F-4D97-AF65-F5344CB8AC3E}">
        <p14:creationId xmlns:p14="http://schemas.microsoft.com/office/powerpoint/2010/main" val="3021485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it-IT"/>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it-IT"/>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it-IT"/>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7CC04FB-86A9-4518-B68C-513A8C480987}" type="datetimeFigureOut">
              <a:rPr lang="it-IT" smtClean="0"/>
              <a:t>13/01/2026</a:t>
            </a:fld>
            <a:endParaRPr lang="it-IT"/>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it-IT"/>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3989CFC-89DE-4F17-B3B6-DFC80C736B18}" type="slidenum">
              <a:rPr lang="it-IT" smtClean="0"/>
              <a:t>‹#›</a:t>
            </a:fld>
            <a:endParaRPr lang="it-IT"/>
          </a:p>
        </p:txBody>
      </p:sp>
    </p:spTree>
    <p:extLst>
      <p:ext uri="{BB962C8B-B14F-4D97-AF65-F5344CB8AC3E}">
        <p14:creationId xmlns:p14="http://schemas.microsoft.com/office/powerpoint/2010/main" val="241628012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microsoft.com/office/2018/10/relationships/comments" Target="../comments/modernComment_101_DBD6A9B6.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1C6D790-69F0-40CA-813A-84D724D1C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8476"/>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ound Diagonal Corner Rectangle 7">
            <a:extLst>
              <a:ext uri="{FF2B5EF4-FFF2-40B4-BE49-F238E27FC236}">
                <a16:creationId xmlns:a16="http://schemas.microsoft.com/office/drawing/2014/main" id="{F5A78137-DBB7-4A93-98AC-5606814E2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0673" y="806450"/>
            <a:ext cx="9319476" cy="4502149"/>
          </a:xfrm>
          <a:prstGeom prst="round2DiagRect">
            <a:avLst>
              <a:gd name="adj1" fmla="val 7929"/>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srgbClr val="092338">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7BBB9D27-EADC-CFED-EFF4-13620AF79305}"/>
              </a:ext>
            </a:extLst>
          </p:cNvPr>
          <p:cNvSpPr>
            <a:spLocks noGrp="1"/>
          </p:cNvSpPr>
          <p:nvPr>
            <p:ph type="ctrTitle"/>
          </p:nvPr>
        </p:nvSpPr>
        <p:spPr>
          <a:xfrm>
            <a:off x="2685145" y="1125511"/>
            <a:ext cx="7135566" cy="2656971"/>
          </a:xfrm>
        </p:spPr>
        <p:txBody>
          <a:bodyPr>
            <a:normAutofit/>
          </a:bodyPr>
          <a:lstStyle/>
          <a:p>
            <a:r>
              <a:rPr lang="it-IT" sz="5400" dirty="0">
                <a:solidFill>
                  <a:srgbClr val="FFFFFF"/>
                </a:solidFill>
              </a:rPr>
              <a:t>project proposal</a:t>
            </a:r>
            <a:br>
              <a:rPr lang="it-IT" sz="5400" dirty="0">
                <a:solidFill>
                  <a:srgbClr val="FFFFFF"/>
                </a:solidFill>
              </a:rPr>
            </a:br>
            <a:r>
              <a:rPr lang="it-IT" sz="5400" dirty="0">
                <a:solidFill>
                  <a:srgbClr val="FFFFFF"/>
                </a:solidFill>
              </a:rPr>
              <a:t>Group K</a:t>
            </a:r>
          </a:p>
        </p:txBody>
      </p:sp>
      <p:sp>
        <p:nvSpPr>
          <p:cNvPr id="3" name="Sottotitolo 2">
            <a:extLst>
              <a:ext uri="{FF2B5EF4-FFF2-40B4-BE49-F238E27FC236}">
                <a16:creationId xmlns:a16="http://schemas.microsoft.com/office/drawing/2014/main" id="{6FEC3CB3-2302-7D30-3AA8-FD7B12691B25}"/>
              </a:ext>
            </a:extLst>
          </p:cNvPr>
          <p:cNvSpPr>
            <a:spLocks noGrp="1"/>
          </p:cNvSpPr>
          <p:nvPr>
            <p:ph type="subTitle" idx="1"/>
          </p:nvPr>
        </p:nvSpPr>
        <p:spPr>
          <a:xfrm>
            <a:off x="2684139" y="3782482"/>
            <a:ext cx="7136760" cy="1204383"/>
          </a:xfrm>
        </p:spPr>
        <p:txBody>
          <a:bodyPr>
            <a:normAutofit/>
          </a:bodyPr>
          <a:lstStyle/>
          <a:p>
            <a:r>
              <a:rPr lang="it-IT" sz="1800" dirty="0">
                <a:solidFill>
                  <a:srgbClr val="FFFFFF"/>
                </a:solidFill>
              </a:rPr>
              <a:t>Pilutti filippo Simonitti Samuele Alessandro Fioritto</a:t>
            </a:r>
          </a:p>
        </p:txBody>
      </p:sp>
    </p:spTree>
    <p:extLst>
      <p:ext uri="{BB962C8B-B14F-4D97-AF65-F5344CB8AC3E}">
        <p14:creationId xmlns:p14="http://schemas.microsoft.com/office/powerpoint/2010/main" val="283789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89B6C04D-E0D5-17DC-AB1A-3FEDF3A79413}"/>
              </a:ext>
            </a:extLst>
          </p:cNvPr>
          <p:cNvSpPr>
            <a:spLocks noGrp="1"/>
          </p:cNvSpPr>
          <p:nvPr>
            <p:ph type="title"/>
          </p:nvPr>
        </p:nvSpPr>
        <p:spPr>
          <a:xfrm>
            <a:off x="1198811" y="1066800"/>
            <a:ext cx="3059969" cy="4697413"/>
          </a:xfrm>
        </p:spPr>
        <p:txBody>
          <a:bodyPr>
            <a:normAutofit/>
          </a:bodyPr>
          <a:lstStyle/>
          <a:p>
            <a:r>
              <a:rPr lang="it-IT" dirty="0"/>
              <a:t>enviROnment</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86EFCE9A-1145-8265-0A44-4F6FC8E3A51A}"/>
              </a:ext>
            </a:extLst>
          </p:cNvPr>
          <p:cNvSpPr>
            <a:spLocks noGrp="1"/>
          </p:cNvSpPr>
          <p:nvPr>
            <p:ph idx="1"/>
          </p:nvPr>
        </p:nvSpPr>
        <p:spPr>
          <a:xfrm>
            <a:off x="4782246" y="456406"/>
            <a:ext cx="7438329" cy="469741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We decided to use the normal turtlebot 3 arena with some changes: we added 3 pairs of walls to form a simple maze that the robot should navigate without hitting said walls or any other solid object</a:t>
            </a:r>
          </a:p>
        </p:txBody>
      </p:sp>
      <p:pic>
        <p:nvPicPr>
          <p:cNvPr id="5" name="Immagine 4" descr="Immagine che contiene Policromia, pixel&#10;&#10;Il contenuto generato dall'IA potrebbe non essere corretto.">
            <a:extLst>
              <a:ext uri="{FF2B5EF4-FFF2-40B4-BE49-F238E27FC236}">
                <a16:creationId xmlns:a16="http://schemas.microsoft.com/office/drawing/2014/main" id="{B76CB909-7CE4-6670-9602-DA515957F5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7591" y="3099595"/>
            <a:ext cx="2998196" cy="3308349"/>
          </a:xfrm>
          <a:prstGeom prst="rect">
            <a:avLst/>
          </a:prstGeom>
        </p:spPr>
      </p:pic>
    </p:spTree>
    <p:extLst>
      <p:ext uri="{BB962C8B-B14F-4D97-AF65-F5344CB8AC3E}">
        <p14:creationId xmlns:p14="http://schemas.microsoft.com/office/powerpoint/2010/main" val="3688278454"/>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9A7FF5C4-5DB8-1649-345B-29A90A41BAE1}"/>
              </a:ext>
            </a:extLst>
          </p:cNvPr>
          <p:cNvSpPr>
            <a:spLocks noGrp="1"/>
          </p:cNvSpPr>
          <p:nvPr>
            <p:ph type="title"/>
          </p:nvPr>
        </p:nvSpPr>
        <p:spPr>
          <a:xfrm>
            <a:off x="1891425" y="1162050"/>
            <a:ext cx="1142270" cy="4697413"/>
          </a:xfrm>
        </p:spPr>
        <p:txBody>
          <a:bodyPr>
            <a:normAutofit/>
          </a:bodyPr>
          <a:lstStyle/>
          <a:p>
            <a:r>
              <a:rPr lang="it-IT" dirty="0" err="1"/>
              <a:t>tASK</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813CABC3-E6F0-C3C2-DB64-3E5459B3AFAF}"/>
              </a:ext>
            </a:extLst>
          </p:cNvPr>
          <p:cNvSpPr>
            <a:spLocks noGrp="1"/>
          </p:cNvSpPr>
          <p:nvPr>
            <p:ph idx="1"/>
          </p:nvPr>
        </p:nvSpPr>
        <p:spPr>
          <a:xfrm>
            <a:off x="4701283" y="891382"/>
            <a:ext cx="7395467" cy="5051424"/>
          </a:xfrm>
        </p:spPr>
        <p:txBody>
          <a:bodyPr>
            <a:normAutofit/>
          </a:bodyPr>
          <a:lstStyle/>
          <a:p>
            <a:pPr marL="0" indent="0">
              <a:buNone/>
            </a:pPr>
            <a:r>
              <a:rPr lang="it-IT" sz="2200" b="1" dirty="0">
                <a:latin typeface="Calibri Light" panose="020F0302020204030204" pitchFamily="34" charset="0"/>
                <a:ea typeface="Calibri Light" panose="020F0302020204030204" pitchFamily="34" charset="0"/>
                <a:cs typeface="Calibri Light" panose="020F0302020204030204" pitchFamily="34" charset="0"/>
              </a:rPr>
              <a:t>Primary task: </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The chosen task is for the robot to navigate the maze without hitting the walls, the columns or the perimeter of the arena and after that, at the end of the arena, there is a specific position the robot should go towards until it reaches it.</a:t>
            </a:r>
          </a:p>
          <a:p>
            <a:pPr marL="0" indent="0">
              <a:buNone/>
            </a:pP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it-IT" sz="2200" b="1" dirty="0">
                <a:latin typeface="Calibri Light" panose="020F0302020204030204" pitchFamily="34" charset="0"/>
                <a:ea typeface="Calibri Light" panose="020F0302020204030204" pitchFamily="34" charset="0"/>
                <a:cs typeface="Calibri Light" panose="020F0302020204030204" pitchFamily="34" charset="0"/>
              </a:rPr>
              <a:t>Optional task:</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After reaching the first given position, the turtlebot should navigate the maze backwards, back to the starting position.</a:t>
            </a:r>
          </a:p>
        </p:txBody>
      </p:sp>
    </p:spTree>
    <p:extLst>
      <p:ext uri="{BB962C8B-B14F-4D97-AF65-F5344CB8AC3E}">
        <p14:creationId xmlns:p14="http://schemas.microsoft.com/office/powerpoint/2010/main" val="106152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94D5E1D8-08D7-0639-5C29-61B5F621E4C1}"/>
              </a:ext>
            </a:extLst>
          </p:cNvPr>
          <p:cNvSpPr>
            <a:spLocks noGrp="1"/>
          </p:cNvSpPr>
          <p:nvPr>
            <p:ph type="title"/>
          </p:nvPr>
        </p:nvSpPr>
        <p:spPr>
          <a:xfrm>
            <a:off x="1274595" y="1093788"/>
            <a:ext cx="3059969" cy="4697413"/>
          </a:xfrm>
        </p:spPr>
        <p:txBody>
          <a:bodyPr>
            <a:normAutofit/>
          </a:bodyPr>
          <a:lstStyle/>
          <a:p>
            <a:r>
              <a:rPr lang="it-IT" dirty="0"/>
              <a:t>Input and </a:t>
            </a:r>
            <a:r>
              <a:rPr lang="it-IT" dirty="0" err="1"/>
              <a:t>sensor</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479A80B3-ADB6-D479-7FFE-44E59E949341}"/>
              </a:ext>
            </a:extLst>
          </p:cNvPr>
          <p:cNvSpPr>
            <a:spLocks noGrp="1"/>
          </p:cNvSpPr>
          <p:nvPr>
            <p:ph idx="1"/>
          </p:nvPr>
        </p:nvSpPr>
        <p:spPr>
          <a:xfrm>
            <a:off x="4860989" y="1089406"/>
            <a:ext cx="7197661" cy="4697413"/>
          </a:xfrm>
        </p:spPr>
        <p:txBody>
          <a:bodyPr>
            <a:normAutofit/>
          </a:bodyPr>
          <a:lstStyle/>
          <a:p>
            <a:pPr marL="0" indent="0">
              <a:buNone/>
            </a:pPr>
            <a:r>
              <a:rPr lang="it-IT" sz="2200" dirty="0">
                <a:highlight>
                  <a:srgbClr val="FF00FF"/>
                </a:highlight>
                <a:latin typeface="Calibri Light" panose="020F0302020204030204" pitchFamily="34" charset="0"/>
                <a:ea typeface="Calibri Light" panose="020F0302020204030204" pitchFamily="34" charset="0"/>
                <a:cs typeface="Calibri Light" panose="020F0302020204030204" pitchFamily="34" charset="0"/>
              </a:rPr>
              <a:t>For the visual input of the robot we want to scrap the camera and use exclusively a laser sensor</a:t>
            </a:r>
            <a:r>
              <a:rPr lang="it-IT" sz="2200" dirty="0">
                <a:latin typeface="Calibri Light" panose="020F0302020204030204" pitchFamily="34" charset="0"/>
                <a:ea typeface="Calibri Light" panose="020F0302020204030204" pitchFamily="34" charset="0"/>
                <a:cs typeface="Calibri Light" panose="020F0302020204030204" pitchFamily="34" charset="0"/>
              </a:rPr>
              <a:t>: this is because we figured that the laser would be less burdensome than image processing.</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We also changed the number of scannings, from 5 scans (one every 72°) to 24 scans (one every 15°) to hopefully solve some problems with the original model, mainly the tendency to crash on the columns.</a:t>
            </a:r>
          </a:p>
        </p:txBody>
      </p:sp>
    </p:spTree>
    <p:extLst>
      <p:ext uri="{BB962C8B-B14F-4D97-AF65-F5344CB8AC3E}">
        <p14:creationId xmlns:p14="http://schemas.microsoft.com/office/powerpoint/2010/main" val="90146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3C392B05-7D13-08FC-8B70-DD18B549C159}"/>
              </a:ext>
            </a:extLst>
          </p:cNvPr>
          <p:cNvSpPr>
            <a:spLocks noGrp="1"/>
          </p:cNvSpPr>
          <p:nvPr>
            <p:ph type="title"/>
          </p:nvPr>
        </p:nvSpPr>
        <p:spPr>
          <a:xfrm>
            <a:off x="1019015" y="1093787"/>
            <a:ext cx="3059969" cy="4697413"/>
          </a:xfrm>
        </p:spPr>
        <p:txBody>
          <a:bodyPr>
            <a:normAutofit/>
          </a:bodyPr>
          <a:lstStyle/>
          <a:p>
            <a:r>
              <a:rPr lang="it-IT" dirty="0" err="1"/>
              <a:t>Drl</a:t>
            </a:r>
            <a:r>
              <a:rPr lang="it-IT" dirty="0"/>
              <a:t> </a:t>
            </a:r>
            <a:r>
              <a:rPr lang="it-IT" dirty="0" err="1"/>
              <a:t>algorithm</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7491F4A8-ED4C-CC79-0822-BBA51610FEEB}"/>
              </a:ext>
            </a:extLst>
          </p:cNvPr>
          <p:cNvSpPr>
            <a:spLocks noGrp="1"/>
          </p:cNvSpPr>
          <p:nvPr>
            <p:ph idx="1"/>
          </p:nvPr>
        </p:nvSpPr>
        <p:spPr>
          <a:xfrm>
            <a:off x="4852016" y="1604094"/>
            <a:ext cx="7113051" cy="3753645"/>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We intend to use DQN algorithm as its fast training time could allows us to try different combination of weights and parameter values in a relatively short amount of time.</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If we are not able to obtain good results, we plan to try Policy Optimization Algorithms (Reinforce or Actor Critic) which would require much more training time.</a:t>
            </a:r>
          </a:p>
        </p:txBody>
      </p:sp>
    </p:spTree>
    <p:extLst>
      <p:ext uri="{BB962C8B-B14F-4D97-AF65-F5344CB8AC3E}">
        <p14:creationId xmlns:p14="http://schemas.microsoft.com/office/powerpoint/2010/main" val="3435778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C5CDE8B4-FB85-7EB4-6460-A6DC6877A495}"/>
              </a:ext>
            </a:extLst>
          </p:cNvPr>
          <p:cNvSpPr>
            <a:spLocks noGrp="1"/>
          </p:cNvSpPr>
          <p:nvPr>
            <p:ph type="title"/>
          </p:nvPr>
        </p:nvSpPr>
        <p:spPr>
          <a:xfrm>
            <a:off x="1019015" y="1093787"/>
            <a:ext cx="3059969" cy="4697413"/>
          </a:xfrm>
        </p:spPr>
        <p:txBody>
          <a:bodyPr>
            <a:normAutofit/>
          </a:bodyPr>
          <a:lstStyle/>
          <a:p>
            <a:r>
              <a:rPr lang="it-IT" dirty="0" err="1"/>
              <a:t>Reward</a:t>
            </a:r>
            <a:r>
              <a:rPr lang="it-IT" dirty="0"/>
              <a:t> </a:t>
            </a:r>
            <a:r>
              <a:rPr lang="it-IT" dirty="0" err="1"/>
              <a:t>structure</a:t>
            </a:r>
            <a:r>
              <a:rPr lang="it-IT" dirty="0"/>
              <a:t> and curriculum</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4FE48175-44D0-64B3-A504-4925663E7AB8}"/>
              </a:ext>
            </a:extLst>
          </p:cNvPr>
          <p:cNvSpPr>
            <a:spLocks noGrp="1"/>
          </p:cNvSpPr>
          <p:nvPr>
            <p:ph idx="1"/>
          </p:nvPr>
        </p:nvSpPr>
        <p:spPr>
          <a:xfrm>
            <a:off x="4940836" y="1075531"/>
            <a:ext cx="7094001" cy="4697413"/>
          </a:xfrm>
        </p:spPr>
        <p:txBody>
          <a:bodyPr>
            <a:normAutofit fontScale="92500"/>
          </a:bodyPr>
          <a:lstStyle/>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We aim to use a more sparse reward scheme, specifically want to use curriculum based rewards, meaning that we start from a simple objective (e.g. pass the first line of walls) and build up to a more complex one (reach the coordinates on the other side of the arena) and balance this with an exploration bonus; to optimize the maze navigation time and smoothness we also plan to implement factorized rewards (collision avoidance, time to target).</a:t>
            </a:r>
          </a:p>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We want the robot to perform the maze navigation precisely and, with limited outside information, the exploration bonus could provides adaptability to different types of mazes.</a:t>
            </a:r>
          </a:p>
        </p:txBody>
      </p:sp>
    </p:spTree>
    <p:extLst>
      <p:ext uri="{BB962C8B-B14F-4D97-AF65-F5344CB8AC3E}">
        <p14:creationId xmlns:p14="http://schemas.microsoft.com/office/powerpoint/2010/main" val="816351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30DD7379-43FC-9C9D-5AC3-4EE8442067C2}"/>
              </a:ext>
            </a:extLst>
          </p:cNvPr>
          <p:cNvSpPr>
            <a:spLocks noGrp="1"/>
          </p:cNvSpPr>
          <p:nvPr>
            <p:ph type="title"/>
          </p:nvPr>
        </p:nvSpPr>
        <p:spPr>
          <a:xfrm>
            <a:off x="1019015" y="1093787"/>
            <a:ext cx="3059969" cy="4697413"/>
          </a:xfrm>
        </p:spPr>
        <p:txBody>
          <a:bodyPr>
            <a:normAutofit/>
          </a:bodyPr>
          <a:lstStyle/>
          <a:p>
            <a:r>
              <a:rPr lang="it-IT" dirty="0"/>
              <a:t>Training strategy</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6021F035-15C3-AAA5-AB38-D8E738AAC3FB}"/>
              </a:ext>
            </a:extLst>
          </p:cNvPr>
          <p:cNvSpPr>
            <a:spLocks noGrp="1"/>
          </p:cNvSpPr>
          <p:nvPr>
            <p:ph idx="1"/>
          </p:nvPr>
        </p:nvSpPr>
        <p:spPr>
          <a:xfrm>
            <a:off x="4940836" y="930275"/>
            <a:ext cx="7082729" cy="4697413"/>
          </a:xfrm>
        </p:spPr>
        <p:txBody>
          <a:bodyPr>
            <a:normAutofit fontScale="92500"/>
          </a:bodyPr>
          <a:lstStyle/>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In the past months, as we made some trainings on the different models provided we understood that a good choice of parameters and reward weights is crucial if we want to have good results: we want to train different models with less episodes to infer on what’s the best combination of parameters for these specific objectives (mainly the decay rate, the batch size, learning rate and the reward function).</a:t>
            </a:r>
          </a:p>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Also, choosing a good network architecture is pivital in ensuring the best outcome for the training so we plan to explore </a:t>
            </a:r>
            <a:r>
              <a:rPr lang="it-IT">
                <a:latin typeface="Calibri Light" panose="020F0302020204030204" pitchFamily="34" charset="0"/>
                <a:ea typeface="Calibri Light" panose="020F0302020204030204" pitchFamily="34" charset="0"/>
                <a:cs typeface="Calibri Light" panose="020F0302020204030204" pitchFamily="34" charset="0"/>
              </a:rPr>
              <a:t>different types (</a:t>
            </a:r>
            <a:r>
              <a:rPr lang="it-IT" dirty="0">
                <a:latin typeface="Calibri Light" panose="020F0302020204030204" pitchFamily="34" charset="0"/>
                <a:ea typeface="Calibri Light" panose="020F0302020204030204" pitchFamily="34" charset="0"/>
                <a:cs typeface="Calibri Light" panose="020F0302020204030204" pitchFamily="34" charset="0"/>
              </a:rPr>
              <a:t>e.g. Fully connected, Residual, RNN) to find the best suited one for our goals.</a:t>
            </a:r>
          </a:p>
        </p:txBody>
      </p:sp>
    </p:spTree>
    <p:extLst>
      <p:ext uri="{BB962C8B-B14F-4D97-AF65-F5344CB8AC3E}">
        <p14:creationId xmlns:p14="http://schemas.microsoft.com/office/powerpoint/2010/main" val="2915681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C4A7F217-EBD1-F279-9024-651A000AF3A7}"/>
              </a:ext>
            </a:extLst>
          </p:cNvPr>
          <p:cNvSpPr>
            <a:spLocks noGrp="1"/>
          </p:cNvSpPr>
          <p:nvPr>
            <p:ph type="title"/>
          </p:nvPr>
        </p:nvSpPr>
        <p:spPr>
          <a:xfrm>
            <a:off x="1019015" y="1093787"/>
            <a:ext cx="3059969" cy="4697413"/>
          </a:xfrm>
        </p:spPr>
        <p:txBody>
          <a:bodyPr>
            <a:normAutofit/>
          </a:bodyPr>
          <a:lstStyle/>
          <a:p>
            <a:r>
              <a:rPr lang="it-IT" dirty="0"/>
              <a:t>Evaluation </a:t>
            </a:r>
            <a:r>
              <a:rPr lang="it-IT" dirty="0" err="1"/>
              <a:t>metrics</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B5A3A62C-9F20-EC47-7378-4B63560DDD1B}"/>
              </a:ext>
            </a:extLst>
          </p:cNvPr>
          <p:cNvSpPr>
            <a:spLocks noGrp="1"/>
          </p:cNvSpPr>
          <p:nvPr>
            <p:ph idx="1"/>
          </p:nvPr>
        </p:nvSpPr>
        <p:spPr>
          <a:xfrm>
            <a:off x="4874162" y="998538"/>
            <a:ext cx="6997003" cy="469741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Having a number of clear objectives makes it easy to evaluate the success of the overall training process and, in addition to avoiding obstacles and reaching the final coordinates, we want to use the number of steps, meaning the time needed, to reach the final objective as another evalution metric.</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This has also the purpose of helping us troubleshooting, as a slower time helps us to evaluate if we need to change our trainig strategy.</a:t>
            </a:r>
          </a:p>
        </p:txBody>
      </p:sp>
    </p:spTree>
    <p:extLst>
      <p:ext uri="{BB962C8B-B14F-4D97-AF65-F5344CB8AC3E}">
        <p14:creationId xmlns:p14="http://schemas.microsoft.com/office/powerpoint/2010/main" val="286075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TM04033919[[fn=Circuito]]</Template>
  <TotalTime>315</TotalTime>
  <Words>603</Words>
  <Application>Microsoft Office PowerPoint</Application>
  <PresentationFormat>Widescreen</PresentationFormat>
  <Paragraphs>25</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 Light</vt:lpstr>
      <vt:lpstr>Tw Cen MT</vt:lpstr>
      <vt:lpstr>Circuito</vt:lpstr>
      <vt:lpstr>project proposal Group K</vt:lpstr>
      <vt:lpstr>enviROnment</vt:lpstr>
      <vt:lpstr>tASK</vt:lpstr>
      <vt:lpstr>Input and sensor</vt:lpstr>
      <vt:lpstr>Drl algorithm</vt:lpstr>
      <vt:lpstr>Reward structure and curriculum</vt:lpstr>
      <vt:lpstr>Training strategy</vt:lpstr>
      <vt:lpstr>Evaluation metrics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Alessandro Fioritto</dc:creator>
  <cp:lastModifiedBy>Samuele Simonitti</cp:lastModifiedBy>
  <cp:revision>9</cp:revision>
  <dcterms:created xsi:type="dcterms:W3CDTF">2025-12-23T10:16:16Z</dcterms:created>
  <dcterms:modified xsi:type="dcterms:W3CDTF">2026-01-13T12:31:27Z</dcterms:modified>
</cp:coreProperties>
</file>