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omments/modernComment_101_DBD6A9B6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EDACC5F-7525-39CA-BE44-7F818D23E369}" name="Alessandro Fioritto" initials="AF" userId="S::152205@spes.uniud.it::badbab9d-d3e2-4602-91f9-125c1da0bed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8/10/relationships/authors" Target="authors.xml"/></Relationships>
</file>

<file path=ppt/comments/modernComment_101_DBD6A9B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C6E84F6-8127-4DE9-A904-7A1BB53958BE}" authorId="{8EDACC5F-7525-39CA-BE44-7F818D23E369}" created="2025-12-23T10:32:10.22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688278454" sldId="257"/>
      <ac:picMk id="5" creationId="{B76CB909-7CE4-6670-9602-DA515957F5E0}"/>
    </ac:deMkLst>
    <p188:txBody>
      <a:bodyPr/>
      <a:lstStyle/>
      <a:p>
        <a:r>
          <a:rPr lang="it-IT"/>
          <a:t>TEMP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C7CC04FB-86A9-4518-B68C-513A8C480987}" type="datetimeFigureOut">
              <a:rPr lang="it-IT" smtClean="0"/>
              <a:t>23/12/2025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53989CFC-89DE-4F17-B3B6-DFC80C736B1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838560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23/12/2025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595726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23/12/2025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139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23/12/2025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0662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23/12/2025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528418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23/12/2025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7147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23/12/2025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95450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23/12/2025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73917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23/12/2025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24967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23/12/2025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5195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23/12/2025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613968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23/12/2025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‹N›</a:t>
            </a:fld>
            <a:endParaRPr lang="it-IT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096055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23/12/2025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301001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23/12/2025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087470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23/12/2025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832813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23/12/2025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417896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23/12/2025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214856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CC04FB-86A9-4518-B68C-513A8C480987}" type="datetimeFigureOut">
              <a:rPr lang="it-IT" smtClean="0"/>
              <a:t>23/12/2025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989CFC-89DE-4F17-B3B6-DFC80C736B1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1628012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microsoft.com/office/2018/10/relationships/comments" Target="../comments/modernComment_101_DBD6A9B6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1C6D790-69F0-40CA-813A-84D724D1C6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48476"/>
          </a:xfrm>
          <a:prstGeom prst="rect">
            <a:avLst/>
          </a:prstGeom>
          <a:solidFill>
            <a:schemeClr val="bg2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ound Diagonal Corner Rectangle 7">
            <a:extLst>
              <a:ext uri="{FF2B5EF4-FFF2-40B4-BE49-F238E27FC236}">
                <a16:creationId xmlns:a16="http://schemas.microsoft.com/office/drawing/2014/main" id="{F5A78137-DBB7-4A93-98AC-5606814E2D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040673" y="806450"/>
            <a:ext cx="9319476" cy="4502149"/>
          </a:xfrm>
          <a:prstGeom prst="round2DiagRect">
            <a:avLst>
              <a:gd name="adj1" fmla="val 7929"/>
              <a:gd name="adj2" fmla="val 0"/>
            </a:avLst>
          </a:prstGeom>
          <a:solidFill>
            <a:schemeClr val="bg2">
              <a:lumMod val="50000"/>
              <a:alpha val="80000"/>
            </a:schemeClr>
          </a:solidFill>
          <a:ln w="19050" cap="sq">
            <a:solidFill>
              <a:srgbClr val="FFFFFF"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srgbClr val="092338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BBB9D27-EADC-CFED-EFF4-13620AF793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85145" y="1125511"/>
            <a:ext cx="7135566" cy="2656971"/>
          </a:xfrm>
        </p:spPr>
        <p:txBody>
          <a:bodyPr>
            <a:normAutofit/>
          </a:bodyPr>
          <a:lstStyle/>
          <a:p>
            <a:r>
              <a:rPr lang="it-IT" sz="5400">
                <a:solidFill>
                  <a:srgbClr val="FFFFFF"/>
                </a:solidFill>
              </a:rPr>
              <a:t>Group K project proposal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6FEC3CB3-2302-7D30-3AA8-FD7B12691B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4139" y="3782482"/>
            <a:ext cx="7136760" cy="1204383"/>
          </a:xfrm>
        </p:spPr>
        <p:txBody>
          <a:bodyPr>
            <a:normAutofit/>
          </a:bodyPr>
          <a:lstStyle/>
          <a:p>
            <a:r>
              <a:rPr lang="it-IT" sz="1800" dirty="0">
                <a:solidFill>
                  <a:srgbClr val="FFFFFF"/>
                </a:solidFill>
              </a:rPr>
              <a:t>Pilutti filippo Simonitti Samuele Alessandro Fioritto</a:t>
            </a:r>
          </a:p>
        </p:txBody>
      </p:sp>
    </p:spTree>
    <p:extLst>
      <p:ext uri="{BB962C8B-B14F-4D97-AF65-F5344CB8AC3E}">
        <p14:creationId xmlns:p14="http://schemas.microsoft.com/office/powerpoint/2010/main" val="2837898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BFC9644-673A-459F-B3C5-9310A4E50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ADB9295-9645-4BF2-ADFD-75800B7FA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20788" cy="6858001"/>
            <a:chOff x="-14288" y="0"/>
            <a:chExt cx="1220788" cy="6858001"/>
          </a:xfrm>
          <a:solidFill>
            <a:schemeClr val="bg2">
              <a:lumMod val="60000"/>
              <a:lumOff val="40000"/>
              <a:alpha val="60000"/>
            </a:schemeClr>
          </a:solidFill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95B061E9-E435-4E1B-B160-96584A116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3CD7972E-7D38-40EE-A80B-E2A848811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524A3B55-746F-419F-8CFF-5F3A4BE14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9C63219B-AD72-4494-935E-F5C70DB54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15B41FD2-05E2-44E7-8760-09E65D1C6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FE6D63D0-3347-4EE2-8F65-F1C32168F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538A46A3-DB16-45D5-B636-03EFE39FE9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0B8A2B0E-823F-4BE8-9359-45143BB12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44516B3C-A8BE-46FC-B643-3DFEB7F28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59FD699C-3920-4E57-BE27-165A3F036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0FB0C02E-3F53-4889-8ADF-80DBC43F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2" name="Line 16">
              <a:extLst>
                <a:ext uri="{FF2B5EF4-FFF2-40B4-BE49-F238E27FC236}">
                  <a16:creationId xmlns:a16="http://schemas.microsoft.com/office/drawing/2014/main" id="{F8A0C89C-946F-4BCD-8A27-BB73E37FE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70C83EAF-4E92-4849-A240-B257871D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320FD164-4D7A-469C-B3F4-B926BFACF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F6E14D9A-4E63-48FF-95C5-9E8DDFF86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F3DCD24F-3CA8-4404-B22C-E4C928995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7" name="Rectangle 21">
              <a:extLst>
                <a:ext uri="{FF2B5EF4-FFF2-40B4-BE49-F238E27FC236}">
                  <a16:creationId xmlns:a16="http://schemas.microsoft.com/office/drawing/2014/main" id="{8AD2E827-32A3-4BE4-9CC6-831562917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47FB2CCC-1230-494F-B2D1-F05E5B8ED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A5F44514-9274-47E3-9243-CA9356C16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0" name="Freeform 24">
              <a:extLst>
                <a:ext uri="{FF2B5EF4-FFF2-40B4-BE49-F238E27FC236}">
                  <a16:creationId xmlns:a16="http://schemas.microsoft.com/office/drawing/2014/main" id="{D06192CD-AD86-4DCA-8B53-4ACCA4658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1" name="Freeform 25">
              <a:extLst>
                <a:ext uri="{FF2B5EF4-FFF2-40B4-BE49-F238E27FC236}">
                  <a16:creationId xmlns:a16="http://schemas.microsoft.com/office/drawing/2014/main" id="{99E9203A-21E4-46D8-981A-4B28CA320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2FCE9B6-FB52-4045-8DCC-E5959B9A4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Freeform 27">
              <a:extLst>
                <a:ext uri="{FF2B5EF4-FFF2-40B4-BE49-F238E27FC236}">
                  <a16:creationId xmlns:a16="http://schemas.microsoft.com/office/drawing/2014/main" id="{E4A7025C-CDE8-429A-BBB9-E7380C962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4" name="Freeform 28">
              <a:extLst>
                <a:ext uri="{FF2B5EF4-FFF2-40B4-BE49-F238E27FC236}">
                  <a16:creationId xmlns:a16="http://schemas.microsoft.com/office/drawing/2014/main" id="{A4EA0256-5DF5-437A-98A7-B79F3E6B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5" name="Freeform 29">
              <a:extLst>
                <a:ext uri="{FF2B5EF4-FFF2-40B4-BE49-F238E27FC236}">
                  <a16:creationId xmlns:a16="http://schemas.microsoft.com/office/drawing/2014/main" id="{90C9433D-9E1C-493B-BEBD-C3081FFA3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6" name="Freeform 30">
              <a:extLst>
                <a:ext uri="{FF2B5EF4-FFF2-40B4-BE49-F238E27FC236}">
                  <a16:creationId xmlns:a16="http://schemas.microsoft.com/office/drawing/2014/main" id="{352B39BB-F298-4285-A709-1FBA0CB72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31CAF2A0-CBA0-4E86-AA87-8750EC1AF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89B6C04D-E0D5-17DC-AB1A-3FEDF3A79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811" y="1066800"/>
            <a:ext cx="3059969" cy="4697413"/>
          </a:xfrm>
        </p:spPr>
        <p:txBody>
          <a:bodyPr>
            <a:normAutofit/>
          </a:bodyPr>
          <a:lstStyle/>
          <a:p>
            <a:r>
              <a:rPr lang="it-IT" dirty="0" err="1"/>
              <a:t>enviorment</a:t>
            </a:r>
            <a:endParaRPr lang="it-IT" dirty="0"/>
          </a:p>
        </p:txBody>
      </p:sp>
      <p:sp useBgFill="1">
        <p:nvSpPr>
          <p:cNvPr id="39" name="Round Diagonal Corner Rectangle 7">
            <a:extLst>
              <a:ext uri="{FF2B5EF4-FFF2-40B4-BE49-F238E27FC236}">
                <a16:creationId xmlns:a16="http://schemas.microsoft.com/office/drawing/2014/main" id="{7D1C411D-0818-4640-8657-2AF78250C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084" y="0"/>
            <a:ext cx="7566916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6EFCE9A-1145-8265-0A44-4F6FC8E3A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82246" y="456406"/>
            <a:ext cx="7438329" cy="46974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decided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to use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normal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turtlebot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3 arena with some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changes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: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added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3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pairs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of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walls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to form a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simple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maze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that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 robot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should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navigate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without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hitting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said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walls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or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any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other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solid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object</a:t>
            </a:r>
            <a:endParaRPr lang="it-IT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5" name="Immagine 4" descr="Immagine che contiene Policromia, pixel&#10;&#10;Il contenuto generato dall'IA potrebbe non essere corretto.">
            <a:extLst>
              <a:ext uri="{FF2B5EF4-FFF2-40B4-BE49-F238E27FC236}">
                <a16:creationId xmlns:a16="http://schemas.microsoft.com/office/drawing/2014/main" id="{B76CB909-7CE4-6670-9602-DA515957F5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591" y="3093245"/>
            <a:ext cx="2998196" cy="3308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27845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BFC9644-673A-459F-B3C5-9310A4E50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ADB9295-9645-4BF2-ADFD-75800B7FA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20788" cy="6858001"/>
            <a:chOff x="-14288" y="0"/>
            <a:chExt cx="1220788" cy="6858001"/>
          </a:xfrm>
          <a:solidFill>
            <a:schemeClr val="bg2">
              <a:lumMod val="60000"/>
              <a:lumOff val="40000"/>
              <a:alpha val="60000"/>
            </a:schemeClr>
          </a:solidFill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95B061E9-E435-4E1B-B160-96584A116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3CD7972E-7D38-40EE-A80B-E2A848811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524A3B55-746F-419F-8CFF-5F3A4BE14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9C63219B-AD72-4494-935E-F5C70DB54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15B41FD2-05E2-44E7-8760-09E65D1C6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FE6D63D0-3347-4EE2-8F65-F1C32168F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538A46A3-DB16-45D5-B636-03EFE39FE9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0B8A2B0E-823F-4BE8-9359-45143BB12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44516B3C-A8BE-46FC-B643-3DFEB7F28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59FD699C-3920-4E57-BE27-165A3F036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0FB0C02E-3F53-4889-8ADF-80DBC43F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2" name="Line 16">
              <a:extLst>
                <a:ext uri="{FF2B5EF4-FFF2-40B4-BE49-F238E27FC236}">
                  <a16:creationId xmlns:a16="http://schemas.microsoft.com/office/drawing/2014/main" id="{F8A0C89C-946F-4BCD-8A27-BB73E37FE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70C83EAF-4E92-4849-A240-B257871D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320FD164-4D7A-469C-B3F4-B926BFACF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F6E14D9A-4E63-48FF-95C5-9E8DDFF86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F3DCD24F-3CA8-4404-B22C-E4C928995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7" name="Rectangle 21">
              <a:extLst>
                <a:ext uri="{FF2B5EF4-FFF2-40B4-BE49-F238E27FC236}">
                  <a16:creationId xmlns:a16="http://schemas.microsoft.com/office/drawing/2014/main" id="{8AD2E827-32A3-4BE4-9CC6-831562917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47FB2CCC-1230-494F-B2D1-F05E5B8ED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A5F44514-9274-47E3-9243-CA9356C16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0" name="Freeform 24">
              <a:extLst>
                <a:ext uri="{FF2B5EF4-FFF2-40B4-BE49-F238E27FC236}">
                  <a16:creationId xmlns:a16="http://schemas.microsoft.com/office/drawing/2014/main" id="{D06192CD-AD86-4DCA-8B53-4ACCA4658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1" name="Freeform 25">
              <a:extLst>
                <a:ext uri="{FF2B5EF4-FFF2-40B4-BE49-F238E27FC236}">
                  <a16:creationId xmlns:a16="http://schemas.microsoft.com/office/drawing/2014/main" id="{99E9203A-21E4-46D8-981A-4B28CA320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2FCE9B6-FB52-4045-8DCC-E5959B9A4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Freeform 27">
              <a:extLst>
                <a:ext uri="{FF2B5EF4-FFF2-40B4-BE49-F238E27FC236}">
                  <a16:creationId xmlns:a16="http://schemas.microsoft.com/office/drawing/2014/main" id="{E4A7025C-CDE8-429A-BBB9-E7380C962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4" name="Freeform 28">
              <a:extLst>
                <a:ext uri="{FF2B5EF4-FFF2-40B4-BE49-F238E27FC236}">
                  <a16:creationId xmlns:a16="http://schemas.microsoft.com/office/drawing/2014/main" id="{A4EA0256-5DF5-437A-98A7-B79F3E6B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5" name="Freeform 29">
              <a:extLst>
                <a:ext uri="{FF2B5EF4-FFF2-40B4-BE49-F238E27FC236}">
                  <a16:creationId xmlns:a16="http://schemas.microsoft.com/office/drawing/2014/main" id="{90C9433D-9E1C-493B-BEBD-C3081FFA3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6" name="Freeform 30">
              <a:extLst>
                <a:ext uri="{FF2B5EF4-FFF2-40B4-BE49-F238E27FC236}">
                  <a16:creationId xmlns:a16="http://schemas.microsoft.com/office/drawing/2014/main" id="{352B39BB-F298-4285-A709-1FBA0CB72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31CAF2A0-CBA0-4E86-AA87-8750EC1AF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9A7FF5C4-5DB8-1649-345B-29A90A41B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1425" y="1162050"/>
            <a:ext cx="1142270" cy="4697413"/>
          </a:xfrm>
        </p:spPr>
        <p:txBody>
          <a:bodyPr>
            <a:normAutofit/>
          </a:bodyPr>
          <a:lstStyle/>
          <a:p>
            <a:r>
              <a:rPr lang="it-IT" dirty="0" err="1"/>
              <a:t>tASK</a:t>
            </a:r>
            <a:endParaRPr lang="it-IT" dirty="0"/>
          </a:p>
        </p:txBody>
      </p:sp>
      <p:sp useBgFill="1">
        <p:nvSpPr>
          <p:cNvPr id="39" name="Round Diagonal Corner Rectangle 7">
            <a:extLst>
              <a:ext uri="{FF2B5EF4-FFF2-40B4-BE49-F238E27FC236}">
                <a16:creationId xmlns:a16="http://schemas.microsoft.com/office/drawing/2014/main" id="{7D1C411D-0818-4640-8657-2AF78250C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084" y="0"/>
            <a:ext cx="7566916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13CABC3-E6F0-C3C2-DB64-3E5459B3AF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4146" y="1892299"/>
            <a:ext cx="7395467" cy="46974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chosen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task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for the robot to navigate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maze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without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hitting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walls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columns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or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perimeter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of the arena and after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that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 end of the arena,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there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a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specific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position the robot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should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go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towards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until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reaches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61524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BFC9644-673A-459F-B3C5-9310A4E50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ADB9295-9645-4BF2-ADFD-75800B7FA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20788" cy="6858001"/>
            <a:chOff x="-14288" y="0"/>
            <a:chExt cx="1220788" cy="6858001"/>
          </a:xfrm>
          <a:solidFill>
            <a:schemeClr val="bg2">
              <a:lumMod val="60000"/>
              <a:lumOff val="40000"/>
              <a:alpha val="60000"/>
            </a:schemeClr>
          </a:solidFill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95B061E9-E435-4E1B-B160-96584A116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3CD7972E-7D38-40EE-A80B-E2A848811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524A3B55-746F-419F-8CFF-5F3A4BE14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9C63219B-AD72-4494-935E-F5C70DB54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15B41FD2-05E2-44E7-8760-09E65D1C6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FE6D63D0-3347-4EE2-8F65-F1C32168F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538A46A3-DB16-45D5-B636-03EFE39FE9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0B8A2B0E-823F-4BE8-9359-45143BB12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44516B3C-A8BE-46FC-B643-3DFEB7F28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59FD699C-3920-4E57-BE27-165A3F036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0FB0C02E-3F53-4889-8ADF-80DBC43F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2" name="Line 16">
              <a:extLst>
                <a:ext uri="{FF2B5EF4-FFF2-40B4-BE49-F238E27FC236}">
                  <a16:creationId xmlns:a16="http://schemas.microsoft.com/office/drawing/2014/main" id="{F8A0C89C-946F-4BCD-8A27-BB73E37FE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70C83EAF-4E92-4849-A240-B257871D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320FD164-4D7A-469C-B3F4-B926BFACF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F6E14D9A-4E63-48FF-95C5-9E8DDFF86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F3DCD24F-3CA8-4404-B22C-E4C928995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7" name="Rectangle 21">
              <a:extLst>
                <a:ext uri="{FF2B5EF4-FFF2-40B4-BE49-F238E27FC236}">
                  <a16:creationId xmlns:a16="http://schemas.microsoft.com/office/drawing/2014/main" id="{8AD2E827-32A3-4BE4-9CC6-831562917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47FB2CCC-1230-494F-B2D1-F05E5B8ED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A5F44514-9274-47E3-9243-CA9356C16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0" name="Freeform 24">
              <a:extLst>
                <a:ext uri="{FF2B5EF4-FFF2-40B4-BE49-F238E27FC236}">
                  <a16:creationId xmlns:a16="http://schemas.microsoft.com/office/drawing/2014/main" id="{D06192CD-AD86-4DCA-8B53-4ACCA4658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1" name="Freeform 25">
              <a:extLst>
                <a:ext uri="{FF2B5EF4-FFF2-40B4-BE49-F238E27FC236}">
                  <a16:creationId xmlns:a16="http://schemas.microsoft.com/office/drawing/2014/main" id="{99E9203A-21E4-46D8-981A-4B28CA320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2FCE9B6-FB52-4045-8DCC-E5959B9A4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Freeform 27">
              <a:extLst>
                <a:ext uri="{FF2B5EF4-FFF2-40B4-BE49-F238E27FC236}">
                  <a16:creationId xmlns:a16="http://schemas.microsoft.com/office/drawing/2014/main" id="{E4A7025C-CDE8-429A-BBB9-E7380C962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4" name="Freeform 28">
              <a:extLst>
                <a:ext uri="{FF2B5EF4-FFF2-40B4-BE49-F238E27FC236}">
                  <a16:creationId xmlns:a16="http://schemas.microsoft.com/office/drawing/2014/main" id="{A4EA0256-5DF5-437A-98A7-B79F3E6B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5" name="Freeform 29">
              <a:extLst>
                <a:ext uri="{FF2B5EF4-FFF2-40B4-BE49-F238E27FC236}">
                  <a16:creationId xmlns:a16="http://schemas.microsoft.com/office/drawing/2014/main" id="{90C9433D-9E1C-493B-BEBD-C3081FFA3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6" name="Freeform 30">
              <a:extLst>
                <a:ext uri="{FF2B5EF4-FFF2-40B4-BE49-F238E27FC236}">
                  <a16:creationId xmlns:a16="http://schemas.microsoft.com/office/drawing/2014/main" id="{352B39BB-F298-4285-A709-1FBA0CB72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31CAF2A0-CBA0-4E86-AA87-8750EC1AF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94D5E1D8-08D7-0639-5C29-61B5F621E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4595" y="1093788"/>
            <a:ext cx="3059969" cy="4697413"/>
          </a:xfrm>
        </p:spPr>
        <p:txBody>
          <a:bodyPr>
            <a:normAutofit/>
          </a:bodyPr>
          <a:lstStyle/>
          <a:p>
            <a:r>
              <a:rPr lang="it-IT" dirty="0"/>
              <a:t>Input and </a:t>
            </a:r>
            <a:r>
              <a:rPr lang="it-IT" dirty="0" err="1"/>
              <a:t>sensor</a:t>
            </a:r>
            <a:endParaRPr lang="it-IT" dirty="0"/>
          </a:p>
        </p:txBody>
      </p:sp>
      <p:sp useBgFill="1">
        <p:nvSpPr>
          <p:cNvPr id="39" name="Round Diagonal Corner Rectangle 7">
            <a:extLst>
              <a:ext uri="{FF2B5EF4-FFF2-40B4-BE49-F238E27FC236}">
                <a16:creationId xmlns:a16="http://schemas.microsoft.com/office/drawing/2014/main" id="{7D1C411D-0818-4640-8657-2AF78250C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084" y="0"/>
            <a:ext cx="7566916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79A80B3-ADB6-D479-7FFE-44E59E9493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0989" y="1089406"/>
            <a:ext cx="7197661" cy="46974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For the visual input of the robot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want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to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scrap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 camera and use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exclusively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a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LiDAR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sensor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: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this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because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figured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CCCCCCCCC.</a:t>
            </a:r>
          </a:p>
          <a:p>
            <a:pPr marL="0" indent="0">
              <a:buNone/>
            </a:pP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also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changed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number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of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scannings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from 5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scans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(one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every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72°) to CCCC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scans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(one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every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CCCC°) to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hopefully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solve some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problems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with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original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model,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mainly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tendency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to crash on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columns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90146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BFC9644-673A-459F-B3C5-9310A4E50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ADB9295-9645-4BF2-ADFD-75800B7FA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20788" cy="6858001"/>
            <a:chOff x="-14288" y="0"/>
            <a:chExt cx="1220788" cy="6858001"/>
          </a:xfrm>
          <a:solidFill>
            <a:schemeClr val="bg2">
              <a:lumMod val="60000"/>
              <a:lumOff val="40000"/>
              <a:alpha val="60000"/>
            </a:schemeClr>
          </a:solidFill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95B061E9-E435-4E1B-B160-96584A116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3CD7972E-7D38-40EE-A80B-E2A848811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524A3B55-746F-419F-8CFF-5F3A4BE14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9C63219B-AD72-4494-935E-F5C70DB54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15B41FD2-05E2-44E7-8760-09E65D1C6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FE6D63D0-3347-4EE2-8F65-F1C32168F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538A46A3-DB16-45D5-B636-03EFE39FE9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0B8A2B0E-823F-4BE8-9359-45143BB12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44516B3C-A8BE-46FC-B643-3DFEB7F28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59FD699C-3920-4E57-BE27-165A3F036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0FB0C02E-3F53-4889-8ADF-80DBC43F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2" name="Line 16">
              <a:extLst>
                <a:ext uri="{FF2B5EF4-FFF2-40B4-BE49-F238E27FC236}">
                  <a16:creationId xmlns:a16="http://schemas.microsoft.com/office/drawing/2014/main" id="{F8A0C89C-946F-4BCD-8A27-BB73E37FE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70C83EAF-4E92-4849-A240-B257871D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320FD164-4D7A-469C-B3F4-B926BFACF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F6E14D9A-4E63-48FF-95C5-9E8DDFF86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F3DCD24F-3CA8-4404-B22C-E4C928995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7" name="Rectangle 21">
              <a:extLst>
                <a:ext uri="{FF2B5EF4-FFF2-40B4-BE49-F238E27FC236}">
                  <a16:creationId xmlns:a16="http://schemas.microsoft.com/office/drawing/2014/main" id="{8AD2E827-32A3-4BE4-9CC6-831562917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47FB2CCC-1230-494F-B2D1-F05E5B8ED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A5F44514-9274-47E3-9243-CA9356C16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0" name="Freeform 24">
              <a:extLst>
                <a:ext uri="{FF2B5EF4-FFF2-40B4-BE49-F238E27FC236}">
                  <a16:creationId xmlns:a16="http://schemas.microsoft.com/office/drawing/2014/main" id="{D06192CD-AD86-4DCA-8B53-4ACCA4658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1" name="Freeform 25">
              <a:extLst>
                <a:ext uri="{FF2B5EF4-FFF2-40B4-BE49-F238E27FC236}">
                  <a16:creationId xmlns:a16="http://schemas.microsoft.com/office/drawing/2014/main" id="{99E9203A-21E4-46D8-981A-4B28CA320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2FCE9B6-FB52-4045-8DCC-E5959B9A4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Freeform 27">
              <a:extLst>
                <a:ext uri="{FF2B5EF4-FFF2-40B4-BE49-F238E27FC236}">
                  <a16:creationId xmlns:a16="http://schemas.microsoft.com/office/drawing/2014/main" id="{E4A7025C-CDE8-429A-BBB9-E7380C962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4" name="Freeform 28">
              <a:extLst>
                <a:ext uri="{FF2B5EF4-FFF2-40B4-BE49-F238E27FC236}">
                  <a16:creationId xmlns:a16="http://schemas.microsoft.com/office/drawing/2014/main" id="{A4EA0256-5DF5-437A-98A7-B79F3E6B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5" name="Freeform 29">
              <a:extLst>
                <a:ext uri="{FF2B5EF4-FFF2-40B4-BE49-F238E27FC236}">
                  <a16:creationId xmlns:a16="http://schemas.microsoft.com/office/drawing/2014/main" id="{90C9433D-9E1C-493B-BEBD-C3081FFA3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6" name="Freeform 30">
              <a:extLst>
                <a:ext uri="{FF2B5EF4-FFF2-40B4-BE49-F238E27FC236}">
                  <a16:creationId xmlns:a16="http://schemas.microsoft.com/office/drawing/2014/main" id="{352B39BB-F298-4285-A709-1FBA0CB72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31CAF2A0-CBA0-4E86-AA87-8750EC1AF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3C392B05-7D13-08FC-8B70-DD18B549C1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015" y="1093787"/>
            <a:ext cx="3059969" cy="4697413"/>
          </a:xfrm>
        </p:spPr>
        <p:txBody>
          <a:bodyPr>
            <a:normAutofit/>
          </a:bodyPr>
          <a:lstStyle/>
          <a:p>
            <a:r>
              <a:rPr lang="it-IT" dirty="0" err="1"/>
              <a:t>Drl</a:t>
            </a:r>
            <a:r>
              <a:rPr lang="it-IT" dirty="0"/>
              <a:t> </a:t>
            </a:r>
            <a:r>
              <a:rPr lang="it-IT" dirty="0" err="1"/>
              <a:t>algorithm</a:t>
            </a:r>
            <a:endParaRPr lang="it-IT" dirty="0"/>
          </a:p>
        </p:txBody>
      </p:sp>
      <p:sp useBgFill="1">
        <p:nvSpPr>
          <p:cNvPr id="39" name="Round Diagonal Corner Rectangle 7">
            <a:extLst>
              <a:ext uri="{FF2B5EF4-FFF2-40B4-BE49-F238E27FC236}">
                <a16:creationId xmlns:a16="http://schemas.microsoft.com/office/drawing/2014/main" id="{7D1C411D-0818-4640-8657-2AF78250C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084" y="0"/>
            <a:ext cx="7566916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491F4A8-ED4C-CC79-0822-BBA51610F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55111" y="456406"/>
            <a:ext cx="7113051" cy="46974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CCCCCCCCC</a:t>
            </a:r>
          </a:p>
          <a:p>
            <a:pPr marL="0" indent="0">
              <a:buNone/>
            </a:pP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Chat dice di non usare algoritmi avanzati, tenersi su DQN? (Abbiamo parlato di PPO?)</a:t>
            </a:r>
          </a:p>
        </p:txBody>
      </p:sp>
    </p:spTree>
    <p:extLst>
      <p:ext uri="{BB962C8B-B14F-4D97-AF65-F5344CB8AC3E}">
        <p14:creationId xmlns:p14="http://schemas.microsoft.com/office/powerpoint/2010/main" val="34357789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BFC9644-673A-459F-B3C5-9310A4E50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ADB9295-9645-4BF2-ADFD-75800B7FA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20788" cy="6858001"/>
            <a:chOff x="-14288" y="0"/>
            <a:chExt cx="1220788" cy="6858001"/>
          </a:xfrm>
          <a:solidFill>
            <a:schemeClr val="bg2">
              <a:lumMod val="60000"/>
              <a:lumOff val="40000"/>
              <a:alpha val="60000"/>
            </a:schemeClr>
          </a:solidFill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95B061E9-E435-4E1B-B160-96584A116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3CD7972E-7D38-40EE-A80B-E2A848811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524A3B55-746F-419F-8CFF-5F3A4BE14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9C63219B-AD72-4494-935E-F5C70DB54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15B41FD2-05E2-44E7-8760-09E65D1C6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FE6D63D0-3347-4EE2-8F65-F1C32168F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538A46A3-DB16-45D5-B636-03EFE39FE9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0B8A2B0E-823F-4BE8-9359-45143BB12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44516B3C-A8BE-46FC-B643-3DFEB7F28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59FD699C-3920-4E57-BE27-165A3F036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0FB0C02E-3F53-4889-8ADF-80DBC43F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2" name="Line 16">
              <a:extLst>
                <a:ext uri="{FF2B5EF4-FFF2-40B4-BE49-F238E27FC236}">
                  <a16:creationId xmlns:a16="http://schemas.microsoft.com/office/drawing/2014/main" id="{F8A0C89C-946F-4BCD-8A27-BB73E37FE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70C83EAF-4E92-4849-A240-B257871D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320FD164-4D7A-469C-B3F4-B926BFACF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F6E14D9A-4E63-48FF-95C5-9E8DDFF86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F3DCD24F-3CA8-4404-B22C-E4C928995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7" name="Rectangle 21">
              <a:extLst>
                <a:ext uri="{FF2B5EF4-FFF2-40B4-BE49-F238E27FC236}">
                  <a16:creationId xmlns:a16="http://schemas.microsoft.com/office/drawing/2014/main" id="{8AD2E827-32A3-4BE4-9CC6-831562917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47FB2CCC-1230-494F-B2D1-F05E5B8ED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A5F44514-9274-47E3-9243-CA9356C16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0" name="Freeform 24">
              <a:extLst>
                <a:ext uri="{FF2B5EF4-FFF2-40B4-BE49-F238E27FC236}">
                  <a16:creationId xmlns:a16="http://schemas.microsoft.com/office/drawing/2014/main" id="{D06192CD-AD86-4DCA-8B53-4ACCA4658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1" name="Freeform 25">
              <a:extLst>
                <a:ext uri="{FF2B5EF4-FFF2-40B4-BE49-F238E27FC236}">
                  <a16:creationId xmlns:a16="http://schemas.microsoft.com/office/drawing/2014/main" id="{99E9203A-21E4-46D8-981A-4B28CA320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2FCE9B6-FB52-4045-8DCC-E5959B9A4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Freeform 27">
              <a:extLst>
                <a:ext uri="{FF2B5EF4-FFF2-40B4-BE49-F238E27FC236}">
                  <a16:creationId xmlns:a16="http://schemas.microsoft.com/office/drawing/2014/main" id="{E4A7025C-CDE8-429A-BBB9-E7380C962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4" name="Freeform 28">
              <a:extLst>
                <a:ext uri="{FF2B5EF4-FFF2-40B4-BE49-F238E27FC236}">
                  <a16:creationId xmlns:a16="http://schemas.microsoft.com/office/drawing/2014/main" id="{A4EA0256-5DF5-437A-98A7-B79F3E6B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5" name="Freeform 29">
              <a:extLst>
                <a:ext uri="{FF2B5EF4-FFF2-40B4-BE49-F238E27FC236}">
                  <a16:creationId xmlns:a16="http://schemas.microsoft.com/office/drawing/2014/main" id="{90C9433D-9E1C-493B-BEBD-C3081FFA3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6" name="Freeform 30">
              <a:extLst>
                <a:ext uri="{FF2B5EF4-FFF2-40B4-BE49-F238E27FC236}">
                  <a16:creationId xmlns:a16="http://schemas.microsoft.com/office/drawing/2014/main" id="{352B39BB-F298-4285-A709-1FBA0CB72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31CAF2A0-CBA0-4E86-AA87-8750EC1AF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C5CDE8B4-FB85-7EB4-6460-A6DC6877A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015" y="1093787"/>
            <a:ext cx="3059969" cy="4697413"/>
          </a:xfrm>
        </p:spPr>
        <p:txBody>
          <a:bodyPr>
            <a:normAutofit/>
          </a:bodyPr>
          <a:lstStyle/>
          <a:p>
            <a:r>
              <a:rPr lang="it-IT" dirty="0" err="1"/>
              <a:t>Reward</a:t>
            </a:r>
            <a:r>
              <a:rPr lang="it-IT" dirty="0"/>
              <a:t> </a:t>
            </a:r>
            <a:r>
              <a:rPr lang="it-IT" dirty="0" err="1"/>
              <a:t>structure</a:t>
            </a:r>
            <a:r>
              <a:rPr lang="it-IT" dirty="0"/>
              <a:t> and curriculum</a:t>
            </a:r>
          </a:p>
        </p:txBody>
      </p:sp>
      <p:sp useBgFill="1">
        <p:nvSpPr>
          <p:cNvPr id="39" name="Round Diagonal Corner Rectangle 7">
            <a:extLst>
              <a:ext uri="{FF2B5EF4-FFF2-40B4-BE49-F238E27FC236}">
                <a16:creationId xmlns:a16="http://schemas.microsoft.com/office/drawing/2014/main" id="{7D1C411D-0818-4640-8657-2AF78250C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084" y="0"/>
            <a:ext cx="7566916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FE48175-44D0-64B3-A504-4925663E7A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0836" y="1075531"/>
            <a:ext cx="7094001" cy="46974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aim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to use a more sparse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reward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scheme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specifically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want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to use curriculum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based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rewards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meaning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that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start from a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simple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objective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(pass the first line of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walls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) and build up to a more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complex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one (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reach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coordinates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on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other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side of the arena) and balance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this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with an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exploration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bonus. </a:t>
            </a:r>
          </a:p>
          <a:p>
            <a:pPr marL="0" indent="0">
              <a:buNone/>
            </a:pP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want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 robot to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perform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maze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navigation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precisely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and,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without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outside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info,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exploration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bonus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could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provides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adaptability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to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different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types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of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mazes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163518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BFC9644-673A-459F-B3C5-9310A4E50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ADB9295-9645-4BF2-ADFD-75800B7FA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20788" cy="6858001"/>
            <a:chOff x="-14288" y="0"/>
            <a:chExt cx="1220788" cy="6858001"/>
          </a:xfrm>
          <a:solidFill>
            <a:schemeClr val="bg2">
              <a:lumMod val="60000"/>
              <a:lumOff val="40000"/>
              <a:alpha val="60000"/>
            </a:schemeClr>
          </a:solidFill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95B061E9-E435-4E1B-B160-96584A116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3CD7972E-7D38-40EE-A80B-E2A848811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524A3B55-746F-419F-8CFF-5F3A4BE14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9C63219B-AD72-4494-935E-F5C70DB54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15B41FD2-05E2-44E7-8760-09E65D1C6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FE6D63D0-3347-4EE2-8F65-F1C32168F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538A46A3-DB16-45D5-B636-03EFE39FE9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0B8A2B0E-823F-4BE8-9359-45143BB12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44516B3C-A8BE-46FC-B643-3DFEB7F28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59FD699C-3920-4E57-BE27-165A3F036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0FB0C02E-3F53-4889-8ADF-80DBC43F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2" name="Line 16">
              <a:extLst>
                <a:ext uri="{FF2B5EF4-FFF2-40B4-BE49-F238E27FC236}">
                  <a16:creationId xmlns:a16="http://schemas.microsoft.com/office/drawing/2014/main" id="{F8A0C89C-946F-4BCD-8A27-BB73E37FE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70C83EAF-4E92-4849-A240-B257871D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320FD164-4D7A-469C-B3F4-B926BFACF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F6E14D9A-4E63-48FF-95C5-9E8DDFF86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F3DCD24F-3CA8-4404-B22C-E4C928995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7" name="Rectangle 21">
              <a:extLst>
                <a:ext uri="{FF2B5EF4-FFF2-40B4-BE49-F238E27FC236}">
                  <a16:creationId xmlns:a16="http://schemas.microsoft.com/office/drawing/2014/main" id="{8AD2E827-32A3-4BE4-9CC6-831562917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47FB2CCC-1230-494F-B2D1-F05E5B8ED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A5F44514-9274-47E3-9243-CA9356C16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0" name="Freeform 24">
              <a:extLst>
                <a:ext uri="{FF2B5EF4-FFF2-40B4-BE49-F238E27FC236}">
                  <a16:creationId xmlns:a16="http://schemas.microsoft.com/office/drawing/2014/main" id="{D06192CD-AD86-4DCA-8B53-4ACCA4658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1" name="Freeform 25">
              <a:extLst>
                <a:ext uri="{FF2B5EF4-FFF2-40B4-BE49-F238E27FC236}">
                  <a16:creationId xmlns:a16="http://schemas.microsoft.com/office/drawing/2014/main" id="{99E9203A-21E4-46D8-981A-4B28CA320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2FCE9B6-FB52-4045-8DCC-E5959B9A4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Freeform 27">
              <a:extLst>
                <a:ext uri="{FF2B5EF4-FFF2-40B4-BE49-F238E27FC236}">
                  <a16:creationId xmlns:a16="http://schemas.microsoft.com/office/drawing/2014/main" id="{E4A7025C-CDE8-429A-BBB9-E7380C962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4" name="Freeform 28">
              <a:extLst>
                <a:ext uri="{FF2B5EF4-FFF2-40B4-BE49-F238E27FC236}">
                  <a16:creationId xmlns:a16="http://schemas.microsoft.com/office/drawing/2014/main" id="{A4EA0256-5DF5-437A-98A7-B79F3E6B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5" name="Freeform 29">
              <a:extLst>
                <a:ext uri="{FF2B5EF4-FFF2-40B4-BE49-F238E27FC236}">
                  <a16:creationId xmlns:a16="http://schemas.microsoft.com/office/drawing/2014/main" id="{90C9433D-9E1C-493B-BEBD-C3081FFA3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6" name="Freeform 30">
              <a:extLst>
                <a:ext uri="{FF2B5EF4-FFF2-40B4-BE49-F238E27FC236}">
                  <a16:creationId xmlns:a16="http://schemas.microsoft.com/office/drawing/2014/main" id="{352B39BB-F298-4285-A709-1FBA0CB72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31CAF2A0-CBA0-4E86-AA87-8750EC1AF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30DD7379-43FC-9C9D-5AC3-4EE844206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015" y="1093787"/>
            <a:ext cx="3059969" cy="4697413"/>
          </a:xfrm>
        </p:spPr>
        <p:txBody>
          <a:bodyPr>
            <a:normAutofit/>
          </a:bodyPr>
          <a:lstStyle/>
          <a:p>
            <a:r>
              <a:rPr lang="it-IT" dirty="0"/>
              <a:t>Training strategy</a:t>
            </a:r>
          </a:p>
        </p:txBody>
      </p:sp>
      <p:sp useBgFill="1">
        <p:nvSpPr>
          <p:cNvPr id="39" name="Round Diagonal Corner Rectangle 7">
            <a:extLst>
              <a:ext uri="{FF2B5EF4-FFF2-40B4-BE49-F238E27FC236}">
                <a16:creationId xmlns:a16="http://schemas.microsoft.com/office/drawing/2014/main" id="{7D1C411D-0818-4640-8657-2AF78250C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084" y="0"/>
            <a:ext cx="7566916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021F035-15C3-AAA5-AB38-D8E738AAC3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0836" y="930275"/>
            <a:ext cx="7082729" cy="469741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past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months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made some trainings on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different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models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provided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understood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that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a good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choice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of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parameters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crucial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if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want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to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have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good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results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: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want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to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train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different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models with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less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episodes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to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infer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on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what’s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 best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combination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of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parameters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for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these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specific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objectives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(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mainly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decay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rate, the epsilon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values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and the batch size).</a:t>
            </a:r>
          </a:p>
          <a:p>
            <a:pPr marL="0" indent="0">
              <a:buNone/>
            </a:pP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Also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choosing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a good network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architecture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pivital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in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ensuring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 best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outcome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for the training so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opted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for a RESIDUAL NETWORK: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this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way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results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should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CCCCCCC</a:t>
            </a:r>
          </a:p>
        </p:txBody>
      </p:sp>
    </p:spTree>
    <p:extLst>
      <p:ext uri="{BB962C8B-B14F-4D97-AF65-F5344CB8AC3E}">
        <p14:creationId xmlns:p14="http://schemas.microsoft.com/office/powerpoint/2010/main" val="29156819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BFC9644-673A-459F-B3C5-9310A4E50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ADB9295-9645-4BF2-ADFD-75800B7FA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20788" cy="6858001"/>
            <a:chOff x="-14288" y="0"/>
            <a:chExt cx="1220788" cy="6858001"/>
          </a:xfrm>
          <a:solidFill>
            <a:schemeClr val="bg2">
              <a:lumMod val="60000"/>
              <a:lumOff val="40000"/>
              <a:alpha val="60000"/>
            </a:schemeClr>
          </a:solidFill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95B061E9-E435-4E1B-B160-96584A116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3CD7972E-7D38-40EE-A80B-E2A848811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524A3B55-746F-419F-8CFF-5F3A4BE14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9C63219B-AD72-4494-935E-F5C70DB54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15B41FD2-05E2-44E7-8760-09E65D1C6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FE6D63D0-3347-4EE2-8F65-F1C32168F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538A46A3-DB16-45D5-B636-03EFE39FE9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0B8A2B0E-823F-4BE8-9359-45143BB12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44516B3C-A8BE-46FC-B643-3DFEB7F28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59FD699C-3920-4E57-BE27-165A3F036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0FB0C02E-3F53-4889-8ADF-80DBC43F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2" name="Line 16">
              <a:extLst>
                <a:ext uri="{FF2B5EF4-FFF2-40B4-BE49-F238E27FC236}">
                  <a16:creationId xmlns:a16="http://schemas.microsoft.com/office/drawing/2014/main" id="{F8A0C89C-946F-4BCD-8A27-BB73E37FE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70C83EAF-4E92-4849-A240-B257871D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320FD164-4D7A-469C-B3F4-B926BFACF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F6E14D9A-4E63-48FF-95C5-9E8DDFF86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F3DCD24F-3CA8-4404-B22C-E4C928995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7" name="Rectangle 21">
              <a:extLst>
                <a:ext uri="{FF2B5EF4-FFF2-40B4-BE49-F238E27FC236}">
                  <a16:creationId xmlns:a16="http://schemas.microsoft.com/office/drawing/2014/main" id="{8AD2E827-32A3-4BE4-9CC6-831562917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47FB2CCC-1230-494F-B2D1-F05E5B8ED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A5F44514-9274-47E3-9243-CA9356C16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0" name="Freeform 24">
              <a:extLst>
                <a:ext uri="{FF2B5EF4-FFF2-40B4-BE49-F238E27FC236}">
                  <a16:creationId xmlns:a16="http://schemas.microsoft.com/office/drawing/2014/main" id="{D06192CD-AD86-4DCA-8B53-4ACCA4658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1" name="Freeform 25">
              <a:extLst>
                <a:ext uri="{FF2B5EF4-FFF2-40B4-BE49-F238E27FC236}">
                  <a16:creationId xmlns:a16="http://schemas.microsoft.com/office/drawing/2014/main" id="{99E9203A-21E4-46D8-981A-4B28CA320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2FCE9B6-FB52-4045-8DCC-E5959B9A4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Freeform 27">
              <a:extLst>
                <a:ext uri="{FF2B5EF4-FFF2-40B4-BE49-F238E27FC236}">
                  <a16:creationId xmlns:a16="http://schemas.microsoft.com/office/drawing/2014/main" id="{E4A7025C-CDE8-429A-BBB9-E7380C962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4" name="Freeform 28">
              <a:extLst>
                <a:ext uri="{FF2B5EF4-FFF2-40B4-BE49-F238E27FC236}">
                  <a16:creationId xmlns:a16="http://schemas.microsoft.com/office/drawing/2014/main" id="{A4EA0256-5DF5-437A-98A7-B79F3E6B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5" name="Freeform 29">
              <a:extLst>
                <a:ext uri="{FF2B5EF4-FFF2-40B4-BE49-F238E27FC236}">
                  <a16:creationId xmlns:a16="http://schemas.microsoft.com/office/drawing/2014/main" id="{90C9433D-9E1C-493B-BEBD-C3081FFA3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6" name="Freeform 30">
              <a:extLst>
                <a:ext uri="{FF2B5EF4-FFF2-40B4-BE49-F238E27FC236}">
                  <a16:creationId xmlns:a16="http://schemas.microsoft.com/office/drawing/2014/main" id="{352B39BB-F298-4285-A709-1FBA0CB72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31CAF2A0-CBA0-4E86-AA87-8750EC1AF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C4A7F217-EBD1-F279-9024-651A000AF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015" y="1093787"/>
            <a:ext cx="3059969" cy="4697413"/>
          </a:xfrm>
        </p:spPr>
        <p:txBody>
          <a:bodyPr>
            <a:normAutofit/>
          </a:bodyPr>
          <a:lstStyle/>
          <a:p>
            <a:r>
              <a:rPr lang="it-IT" dirty="0"/>
              <a:t>Evaluation </a:t>
            </a:r>
            <a:r>
              <a:rPr lang="it-IT" dirty="0" err="1"/>
              <a:t>metrics</a:t>
            </a:r>
            <a:endParaRPr lang="it-IT" dirty="0"/>
          </a:p>
        </p:txBody>
      </p:sp>
      <p:sp useBgFill="1">
        <p:nvSpPr>
          <p:cNvPr id="39" name="Round Diagonal Corner Rectangle 7">
            <a:extLst>
              <a:ext uri="{FF2B5EF4-FFF2-40B4-BE49-F238E27FC236}">
                <a16:creationId xmlns:a16="http://schemas.microsoft.com/office/drawing/2014/main" id="{7D1C411D-0818-4640-8657-2AF78250C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084" y="0"/>
            <a:ext cx="7566916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5A3A62C-9F20-EC47-7378-4B63560DDD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4162" y="998538"/>
            <a:ext cx="6997003" cy="46974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 err="1"/>
              <a:t>Having</a:t>
            </a:r>
            <a:r>
              <a:rPr lang="it-IT" dirty="0"/>
              <a:t> a </a:t>
            </a:r>
            <a:r>
              <a:rPr lang="it-IT" dirty="0" err="1"/>
              <a:t>number</a:t>
            </a:r>
            <a:r>
              <a:rPr lang="it-IT" dirty="0"/>
              <a:t> of clear </a:t>
            </a:r>
            <a:r>
              <a:rPr lang="it-IT" dirty="0" err="1"/>
              <a:t>objectives</a:t>
            </a:r>
            <a:r>
              <a:rPr lang="it-IT" dirty="0"/>
              <a:t> makes </a:t>
            </a:r>
            <a:r>
              <a:rPr lang="it-IT" dirty="0" err="1"/>
              <a:t>it</a:t>
            </a:r>
            <a:r>
              <a:rPr lang="it-IT" dirty="0"/>
              <a:t> easy to </a:t>
            </a:r>
            <a:r>
              <a:rPr lang="it-IT" dirty="0" err="1"/>
              <a:t>evaluate</a:t>
            </a:r>
            <a:r>
              <a:rPr lang="it-IT" dirty="0"/>
              <a:t> the success of the overall training </a:t>
            </a:r>
            <a:r>
              <a:rPr lang="it-IT" dirty="0" err="1"/>
              <a:t>process</a:t>
            </a:r>
            <a:r>
              <a:rPr lang="it-IT" dirty="0"/>
              <a:t> </a:t>
            </a:r>
            <a:r>
              <a:rPr lang="it-IT" dirty="0" err="1"/>
              <a:t>but</a:t>
            </a:r>
            <a:r>
              <a:rPr lang="it-IT" dirty="0"/>
              <a:t>, in </a:t>
            </a:r>
            <a:r>
              <a:rPr lang="it-IT" dirty="0" err="1"/>
              <a:t>addition</a:t>
            </a:r>
            <a:r>
              <a:rPr lang="it-IT" dirty="0"/>
              <a:t> to </a:t>
            </a:r>
            <a:r>
              <a:rPr lang="it-IT" dirty="0" err="1"/>
              <a:t>avoiding</a:t>
            </a:r>
            <a:r>
              <a:rPr lang="it-IT" dirty="0"/>
              <a:t> </a:t>
            </a:r>
            <a:r>
              <a:rPr lang="it-IT" dirty="0" err="1"/>
              <a:t>obstacles</a:t>
            </a:r>
            <a:r>
              <a:rPr lang="it-IT" dirty="0"/>
              <a:t> and </a:t>
            </a:r>
            <a:r>
              <a:rPr lang="it-IT" dirty="0" err="1"/>
              <a:t>reaching</a:t>
            </a:r>
            <a:r>
              <a:rPr lang="it-IT" dirty="0"/>
              <a:t> the </a:t>
            </a:r>
            <a:r>
              <a:rPr lang="it-IT" dirty="0" err="1"/>
              <a:t>final</a:t>
            </a:r>
            <a:r>
              <a:rPr lang="it-IT" dirty="0"/>
              <a:t> </a:t>
            </a:r>
            <a:r>
              <a:rPr lang="it-IT" dirty="0" err="1"/>
              <a:t>coordinates</a:t>
            </a:r>
            <a:r>
              <a:rPr lang="it-IT" dirty="0"/>
              <a:t>,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want</a:t>
            </a:r>
            <a:r>
              <a:rPr lang="it-IT" dirty="0"/>
              <a:t> to use the </a:t>
            </a:r>
            <a:r>
              <a:rPr lang="it-IT" dirty="0" err="1"/>
              <a:t>number</a:t>
            </a:r>
            <a:r>
              <a:rPr lang="it-IT" dirty="0"/>
              <a:t> of steps, </a:t>
            </a:r>
            <a:r>
              <a:rPr lang="it-IT" dirty="0" err="1"/>
              <a:t>meaning</a:t>
            </a:r>
            <a:r>
              <a:rPr lang="it-IT" dirty="0"/>
              <a:t> the time </a:t>
            </a:r>
            <a:r>
              <a:rPr lang="it-IT" dirty="0" err="1"/>
              <a:t>needed</a:t>
            </a:r>
            <a:r>
              <a:rPr lang="it-IT" dirty="0"/>
              <a:t>, to </a:t>
            </a:r>
            <a:r>
              <a:rPr lang="it-IT" dirty="0" err="1"/>
              <a:t>reach</a:t>
            </a:r>
            <a:r>
              <a:rPr lang="it-IT" dirty="0"/>
              <a:t> the </a:t>
            </a:r>
            <a:r>
              <a:rPr lang="it-IT" dirty="0" err="1"/>
              <a:t>final</a:t>
            </a:r>
            <a:r>
              <a:rPr lang="it-IT" dirty="0"/>
              <a:t> </a:t>
            </a:r>
            <a:r>
              <a:rPr lang="it-IT" dirty="0" err="1"/>
              <a:t>objective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another</a:t>
            </a:r>
            <a:r>
              <a:rPr lang="it-IT" dirty="0"/>
              <a:t> </a:t>
            </a:r>
            <a:r>
              <a:rPr lang="it-IT" dirty="0" err="1"/>
              <a:t>evalution</a:t>
            </a:r>
            <a:r>
              <a:rPr lang="it-IT" dirty="0"/>
              <a:t> </a:t>
            </a:r>
            <a:r>
              <a:rPr lang="it-IT" dirty="0" err="1"/>
              <a:t>metric</a:t>
            </a:r>
            <a:r>
              <a:rPr lang="it-IT" dirty="0"/>
              <a:t>.</a:t>
            </a:r>
          </a:p>
          <a:p>
            <a:pPr marL="0" indent="0">
              <a:buNone/>
            </a:pPr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has</a:t>
            </a:r>
            <a:r>
              <a:rPr lang="it-IT" dirty="0"/>
              <a:t> </a:t>
            </a:r>
            <a:r>
              <a:rPr lang="it-IT" dirty="0" err="1"/>
              <a:t>also</a:t>
            </a:r>
            <a:r>
              <a:rPr lang="it-IT" dirty="0"/>
              <a:t> the </a:t>
            </a:r>
            <a:r>
              <a:rPr lang="it-IT" dirty="0" err="1"/>
              <a:t>purpose</a:t>
            </a:r>
            <a:r>
              <a:rPr lang="it-IT" dirty="0"/>
              <a:t> of </a:t>
            </a:r>
            <a:r>
              <a:rPr lang="it-IT" dirty="0" err="1"/>
              <a:t>helping</a:t>
            </a:r>
            <a:r>
              <a:rPr lang="it-IT" dirty="0"/>
              <a:t> </a:t>
            </a:r>
            <a:r>
              <a:rPr lang="it-IT" dirty="0" err="1"/>
              <a:t>us</a:t>
            </a:r>
            <a:r>
              <a:rPr lang="it-IT" dirty="0"/>
              <a:t> </a:t>
            </a:r>
            <a:r>
              <a:rPr lang="it-IT" dirty="0" err="1"/>
              <a:t>troubleshooting</a:t>
            </a:r>
            <a:r>
              <a:rPr lang="it-IT" dirty="0"/>
              <a:t>, </a:t>
            </a:r>
            <a:r>
              <a:rPr lang="it-IT" dirty="0" err="1"/>
              <a:t>as</a:t>
            </a:r>
            <a:r>
              <a:rPr lang="it-IT" dirty="0"/>
              <a:t> a </a:t>
            </a:r>
            <a:r>
              <a:rPr lang="it-IT" dirty="0" err="1"/>
              <a:t>slower</a:t>
            </a:r>
            <a:r>
              <a:rPr lang="it-IT" dirty="0"/>
              <a:t> time helps </a:t>
            </a:r>
            <a:r>
              <a:rPr lang="it-IT" dirty="0" err="1"/>
              <a:t>us</a:t>
            </a:r>
            <a:r>
              <a:rPr lang="it-IT" dirty="0"/>
              <a:t> to </a:t>
            </a:r>
            <a:r>
              <a:rPr lang="it-IT" dirty="0" err="1"/>
              <a:t>evaluate</a:t>
            </a:r>
            <a:r>
              <a:rPr lang="it-IT" dirty="0"/>
              <a:t> </a:t>
            </a:r>
            <a:r>
              <a:rPr lang="it-IT" dirty="0" err="1"/>
              <a:t>if</a:t>
            </a:r>
            <a:r>
              <a:rPr lang="it-IT" dirty="0"/>
              <a:t>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need</a:t>
            </a:r>
            <a:r>
              <a:rPr lang="it-IT" dirty="0"/>
              <a:t> to </a:t>
            </a:r>
            <a:r>
              <a:rPr lang="it-IT" dirty="0" err="1"/>
              <a:t>change</a:t>
            </a:r>
            <a:r>
              <a:rPr lang="it-IT" dirty="0"/>
              <a:t> </a:t>
            </a:r>
            <a:r>
              <a:rPr lang="it-IT" dirty="0" err="1"/>
              <a:t>our</a:t>
            </a:r>
            <a:r>
              <a:rPr lang="it-IT" dirty="0"/>
              <a:t> </a:t>
            </a:r>
            <a:r>
              <a:rPr lang="it-IT" dirty="0" err="1"/>
              <a:t>trainig</a:t>
            </a:r>
            <a:r>
              <a:rPr lang="it-IT" dirty="0"/>
              <a:t> strategy</a:t>
            </a:r>
          </a:p>
        </p:txBody>
      </p:sp>
    </p:spTree>
    <p:extLst>
      <p:ext uri="{BB962C8B-B14F-4D97-AF65-F5344CB8AC3E}">
        <p14:creationId xmlns:p14="http://schemas.microsoft.com/office/powerpoint/2010/main" val="2860758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o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o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o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178</TotalTime>
  <Words>471</Words>
  <Application>Microsoft Office PowerPoint</Application>
  <PresentationFormat>Widescreen</PresentationFormat>
  <Paragraphs>21</Paragraphs>
  <Slides>8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8</vt:i4>
      </vt:variant>
    </vt:vector>
  </HeadingPairs>
  <TitlesOfParts>
    <vt:vector size="12" baseType="lpstr">
      <vt:lpstr>Arial</vt:lpstr>
      <vt:lpstr>Calibri Light</vt:lpstr>
      <vt:lpstr>Tw Cen MT</vt:lpstr>
      <vt:lpstr>Circuito</vt:lpstr>
      <vt:lpstr>Group K project proposal</vt:lpstr>
      <vt:lpstr>enviorment</vt:lpstr>
      <vt:lpstr>tASK</vt:lpstr>
      <vt:lpstr>Input and sensor</vt:lpstr>
      <vt:lpstr>Drl algorithm</vt:lpstr>
      <vt:lpstr>Reward structure and curriculum</vt:lpstr>
      <vt:lpstr>Training strategy</vt:lpstr>
      <vt:lpstr>Evaluation metrics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Alessandro Fioritto</dc:creator>
  <cp:lastModifiedBy>Alessandro Fioritto</cp:lastModifiedBy>
  <cp:revision>1</cp:revision>
  <dcterms:created xsi:type="dcterms:W3CDTF">2025-12-23T10:16:16Z</dcterms:created>
  <dcterms:modified xsi:type="dcterms:W3CDTF">2025-12-23T13:15:11Z</dcterms:modified>
</cp:coreProperties>
</file>