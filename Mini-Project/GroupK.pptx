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 id="260" r:id="rId6"/>
    <p:sldId id="261" r:id="rId7"/>
    <p:sldId id="262" r:id="rId8"/>
    <p:sldId id="263"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EDACC5F-7525-39CA-BE44-7F818D23E369}" name="Alessandro Fioritto" initials="AF" userId="S::152205@spes.uniud.it::badbab9d-d3e2-4602-91f9-125c1da0bedd"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308" autoAdjust="0"/>
    <p:restoredTop sz="94660"/>
  </p:normalViewPr>
  <p:slideViewPr>
    <p:cSldViewPr snapToGrid="0">
      <p:cViewPr varScale="1">
        <p:scale>
          <a:sx n="105" d="100"/>
          <a:sy n="105" d="100"/>
        </p:scale>
        <p:origin x="1044"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microsoft.com/office/2018/10/relationships/authors" Target="authors.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a titolo">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bg2">
                  <a:lumMod val="60000"/>
                  <a:lumOff val="4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txBody>
            <a:bodyPr/>
            <a:lstStyle/>
            <a:p>
              <a:endParaRPr lang="it-IT"/>
            </a:p>
          </p:txBody>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txBody>
            <a:bodyPr/>
            <a:lstStyle/>
            <a:p>
              <a:endParaRPr lang="it-IT"/>
            </a:p>
          </p:txBody>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txBody>
            <a:bodyPr/>
            <a:lstStyle/>
            <a:p>
              <a:endParaRPr lang="it-IT"/>
            </a:p>
          </p:txBody>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txBody>
            <a:bodyPr/>
            <a:lstStyle/>
            <a:p>
              <a:endParaRPr lang="it-IT"/>
            </a:p>
          </p:txBody>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it-IT"/>
              <a:t>Fare clic per modificare lo stile del titolo dello schema</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it-IT"/>
              <a:t>Fare clic per modificare lo stile del sottotitolo dello schema</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C7CC04FB-86A9-4518-B68C-513A8C480987}" type="datetimeFigureOut">
              <a:rPr lang="it-IT" smtClean="0"/>
              <a:t>18/01/2026</a:t>
            </a:fld>
            <a:endParaRPr lang="it-IT"/>
          </a:p>
        </p:txBody>
      </p:sp>
      <p:sp>
        <p:nvSpPr>
          <p:cNvPr id="5" name="Footer Placeholder 4"/>
          <p:cNvSpPr>
            <a:spLocks noGrp="1"/>
          </p:cNvSpPr>
          <p:nvPr>
            <p:ph type="ftr" sz="quarter" idx="11"/>
          </p:nvPr>
        </p:nvSpPr>
        <p:spPr>
          <a:xfrm>
            <a:off x="1876424" y="5410201"/>
            <a:ext cx="5124886" cy="365125"/>
          </a:xfrm>
        </p:spPr>
        <p:txBody>
          <a:bodyPr/>
          <a:lstStyle/>
          <a:p>
            <a:endParaRPr lang="it-IT"/>
          </a:p>
        </p:txBody>
      </p:sp>
      <p:sp>
        <p:nvSpPr>
          <p:cNvPr id="6" name="Slide Number Placeholder 5"/>
          <p:cNvSpPr>
            <a:spLocks noGrp="1"/>
          </p:cNvSpPr>
          <p:nvPr>
            <p:ph type="sldNum" sz="quarter" idx="12"/>
          </p:nvPr>
        </p:nvSpPr>
        <p:spPr>
          <a:xfrm>
            <a:off x="9896911" y="5410199"/>
            <a:ext cx="771089" cy="365125"/>
          </a:xfrm>
        </p:spPr>
        <p:txBody>
          <a:bodyPr/>
          <a:lstStyle/>
          <a:p>
            <a:fld id="{53989CFC-89DE-4F17-B3B6-DFC80C736B18}" type="slidenum">
              <a:rPr lang="it-IT" smtClean="0"/>
              <a:t>‹N›</a:t>
            </a:fld>
            <a:endParaRPr lang="it-IT"/>
          </a:p>
        </p:txBody>
      </p:sp>
    </p:spTree>
    <p:extLst>
      <p:ext uri="{BB962C8B-B14F-4D97-AF65-F5344CB8AC3E}">
        <p14:creationId xmlns:p14="http://schemas.microsoft.com/office/powerpoint/2010/main" val="34838560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Content Placeholder 2"/>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C7CC04FB-86A9-4518-B68C-513A8C480987}" type="datetimeFigureOut">
              <a:rPr lang="it-IT" smtClean="0"/>
              <a:t>18/01/2026</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53989CFC-89DE-4F17-B3B6-DFC80C736B18}" type="slidenum">
              <a:rPr lang="it-IT" smtClean="0"/>
              <a:t>‹N›</a:t>
            </a:fld>
            <a:endParaRPr lang="it-IT"/>
          </a:p>
        </p:txBody>
      </p:sp>
    </p:spTree>
    <p:extLst>
      <p:ext uri="{BB962C8B-B14F-4D97-AF65-F5344CB8AC3E}">
        <p14:creationId xmlns:p14="http://schemas.microsoft.com/office/powerpoint/2010/main" val="18595726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fld id="{C7CC04FB-86A9-4518-B68C-513A8C480987}" type="datetimeFigureOut">
              <a:rPr lang="it-IT" smtClean="0"/>
              <a:t>18/01/2026</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53989CFC-89DE-4F17-B3B6-DFC80C736B18}" type="slidenum">
              <a:rPr lang="it-IT" smtClean="0"/>
              <a:t>‹N›</a:t>
            </a:fld>
            <a:endParaRPr lang="it-IT"/>
          </a:p>
        </p:txBody>
      </p:sp>
    </p:spTree>
    <p:extLst>
      <p:ext uri="{BB962C8B-B14F-4D97-AF65-F5344CB8AC3E}">
        <p14:creationId xmlns:p14="http://schemas.microsoft.com/office/powerpoint/2010/main" val="7101397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Date Placeholder 4"/>
          <p:cNvSpPr>
            <a:spLocks noGrp="1"/>
          </p:cNvSpPr>
          <p:nvPr>
            <p:ph type="dt" sz="half" idx="10"/>
          </p:nvPr>
        </p:nvSpPr>
        <p:spPr/>
        <p:txBody>
          <a:bodyPr/>
          <a:lstStyle/>
          <a:p>
            <a:fld id="{C7CC04FB-86A9-4518-B68C-513A8C480987}" type="datetimeFigureOut">
              <a:rPr lang="it-IT" smtClean="0"/>
              <a:t>18/01/2026</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53989CFC-89DE-4F17-B3B6-DFC80C736B18}" type="slidenum">
              <a:rPr lang="it-IT" smtClean="0"/>
              <a:t>‹N›</a:t>
            </a:fld>
            <a:endParaRPr lang="it-IT"/>
          </a:p>
        </p:txBody>
      </p:sp>
    </p:spTree>
    <p:extLst>
      <p:ext uri="{BB962C8B-B14F-4D97-AF65-F5344CB8AC3E}">
        <p14:creationId xmlns:p14="http://schemas.microsoft.com/office/powerpoint/2010/main" val="35806628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it-IT"/>
              <a:t>Fare clic per modificare lo stile del titolo dello schema</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4" name="Content Placeholder 3"/>
          <p:cNvSpPr>
            <a:spLocks noGrp="1"/>
          </p:cNvSpPr>
          <p:nvPr>
            <p:ph sz="half" idx="2"/>
          </p:nvPr>
        </p:nvSpPr>
        <p:spPr>
          <a:xfrm>
            <a:off x="1141410" y="3073397"/>
            <a:ext cx="4878391" cy="2717801"/>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6" name="Content Placeholder 5"/>
          <p:cNvSpPr>
            <a:spLocks noGrp="1"/>
          </p:cNvSpPr>
          <p:nvPr>
            <p:ph sz="quarter" idx="4"/>
          </p:nvPr>
        </p:nvSpPr>
        <p:spPr>
          <a:xfrm>
            <a:off x="6172200" y="3073397"/>
            <a:ext cx="4875210" cy="2717801"/>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7" name="Date Placeholder 6"/>
          <p:cNvSpPr>
            <a:spLocks noGrp="1"/>
          </p:cNvSpPr>
          <p:nvPr>
            <p:ph type="dt" sz="half" idx="10"/>
          </p:nvPr>
        </p:nvSpPr>
        <p:spPr/>
        <p:txBody>
          <a:bodyPr/>
          <a:lstStyle/>
          <a:p>
            <a:fld id="{C7CC04FB-86A9-4518-B68C-513A8C480987}" type="datetimeFigureOut">
              <a:rPr lang="it-IT" smtClean="0"/>
              <a:t>18/01/2026</a:t>
            </a:fld>
            <a:endParaRPr lang="it-IT"/>
          </a:p>
        </p:txBody>
      </p:sp>
      <p:sp>
        <p:nvSpPr>
          <p:cNvPr id="8" name="Footer Placeholder 7"/>
          <p:cNvSpPr>
            <a:spLocks noGrp="1"/>
          </p:cNvSpPr>
          <p:nvPr>
            <p:ph type="ftr" sz="quarter" idx="11"/>
          </p:nvPr>
        </p:nvSpPr>
        <p:spPr/>
        <p:txBody>
          <a:bodyPr/>
          <a:lstStyle/>
          <a:p>
            <a:endParaRPr lang="it-IT"/>
          </a:p>
        </p:txBody>
      </p:sp>
      <p:sp>
        <p:nvSpPr>
          <p:cNvPr id="9" name="Slide Number Placeholder 8"/>
          <p:cNvSpPr>
            <a:spLocks noGrp="1"/>
          </p:cNvSpPr>
          <p:nvPr>
            <p:ph type="sldNum" sz="quarter" idx="12"/>
          </p:nvPr>
        </p:nvSpPr>
        <p:spPr/>
        <p:txBody>
          <a:bodyPr/>
          <a:lstStyle/>
          <a:p>
            <a:fld id="{53989CFC-89DE-4F17-B3B6-DFC80C736B18}" type="slidenum">
              <a:rPr lang="it-IT" smtClean="0"/>
              <a:t>‹N›</a:t>
            </a:fld>
            <a:endParaRPr lang="it-IT"/>
          </a:p>
        </p:txBody>
      </p:sp>
    </p:spTree>
    <p:extLst>
      <p:ext uri="{BB962C8B-B14F-4D97-AF65-F5344CB8AC3E}">
        <p14:creationId xmlns:p14="http://schemas.microsoft.com/office/powerpoint/2010/main" val="39528418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Date Placeholder 2"/>
          <p:cNvSpPr>
            <a:spLocks noGrp="1"/>
          </p:cNvSpPr>
          <p:nvPr>
            <p:ph type="dt" sz="half" idx="10"/>
          </p:nvPr>
        </p:nvSpPr>
        <p:spPr/>
        <p:txBody>
          <a:bodyPr/>
          <a:lstStyle/>
          <a:p>
            <a:fld id="{C7CC04FB-86A9-4518-B68C-513A8C480987}" type="datetimeFigureOut">
              <a:rPr lang="it-IT" smtClean="0"/>
              <a:t>18/01/2026</a:t>
            </a:fld>
            <a:endParaRPr lang="it-IT"/>
          </a:p>
        </p:txBody>
      </p:sp>
      <p:sp>
        <p:nvSpPr>
          <p:cNvPr id="4" name="Footer Placeholder 3"/>
          <p:cNvSpPr>
            <a:spLocks noGrp="1"/>
          </p:cNvSpPr>
          <p:nvPr>
            <p:ph type="ftr" sz="quarter" idx="11"/>
          </p:nvPr>
        </p:nvSpPr>
        <p:spPr/>
        <p:txBody>
          <a:bodyPr/>
          <a:lstStyle/>
          <a:p>
            <a:endParaRPr lang="it-IT"/>
          </a:p>
        </p:txBody>
      </p:sp>
      <p:sp>
        <p:nvSpPr>
          <p:cNvPr id="5" name="Slide Number Placeholder 4"/>
          <p:cNvSpPr>
            <a:spLocks noGrp="1"/>
          </p:cNvSpPr>
          <p:nvPr>
            <p:ph type="sldNum" sz="quarter" idx="12"/>
          </p:nvPr>
        </p:nvSpPr>
        <p:spPr/>
        <p:txBody>
          <a:bodyPr/>
          <a:lstStyle/>
          <a:p>
            <a:fld id="{53989CFC-89DE-4F17-B3B6-DFC80C736B18}" type="slidenum">
              <a:rPr lang="it-IT" smtClean="0"/>
              <a:t>‹N›</a:t>
            </a:fld>
            <a:endParaRPr lang="it-IT"/>
          </a:p>
        </p:txBody>
      </p:sp>
    </p:spTree>
    <p:extLst>
      <p:ext uri="{BB962C8B-B14F-4D97-AF65-F5344CB8AC3E}">
        <p14:creationId xmlns:p14="http://schemas.microsoft.com/office/powerpoint/2010/main" val="1771475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CC04FB-86A9-4518-B68C-513A8C480987}" type="datetimeFigureOut">
              <a:rPr lang="it-IT" smtClean="0"/>
              <a:t>18/01/2026</a:t>
            </a:fld>
            <a:endParaRPr lang="it-IT"/>
          </a:p>
        </p:txBody>
      </p:sp>
      <p:sp>
        <p:nvSpPr>
          <p:cNvPr id="3" name="Footer Placeholder 2"/>
          <p:cNvSpPr>
            <a:spLocks noGrp="1"/>
          </p:cNvSpPr>
          <p:nvPr>
            <p:ph type="ftr" sz="quarter" idx="11"/>
          </p:nvPr>
        </p:nvSpPr>
        <p:spPr/>
        <p:txBody>
          <a:bodyPr/>
          <a:lstStyle/>
          <a:p>
            <a:endParaRPr lang="it-IT"/>
          </a:p>
        </p:txBody>
      </p:sp>
      <p:sp>
        <p:nvSpPr>
          <p:cNvPr id="4" name="Slide Number Placeholder 3"/>
          <p:cNvSpPr>
            <a:spLocks noGrp="1"/>
          </p:cNvSpPr>
          <p:nvPr>
            <p:ph type="sldNum" sz="quarter" idx="12"/>
          </p:nvPr>
        </p:nvSpPr>
        <p:spPr/>
        <p:txBody>
          <a:bodyPr/>
          <a:lstStyle/>
          <a:p>
            <a:fld id="{53989CFC-89DE-4F17-B3B6-DFC80C736B18}" type="slidenum">
              <a:rPr lang="it-IT" smtClean="0"/>
              <a:t>‹N›</a:t>
            </a:fld>
            <a:endParaRPr lang="it-IT"/>
          </a:p>
        </p:txBody>
      </p:sp>
    </p:spTree>
    <p:extLst>
      <p:ext uri="{BB962C8B-B14F-4D97-AF65-F5344CB8AC3E}">
        <p14:creationId xmlns:p14="http://schemas.microsoft.com/office/powerpoint/2010/main" val="25954500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it-IT"/>
              <a:t>Fare clic per modificare lo stile del titolo dello schema</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C7CC04FB-86A9-4518-B68C-513A8C480987}" type="datetimeFigureOut">
              <a:rPr lang="it-IT" smtClean="0"/>
              <a:t>18/01/2026</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53989CFC-89DE-4F17-B3B6-DFC80C736B18}" type="slidenum">
              <a:rPr lang="it-IT" smtClean="0"/>
              <a:t>‹N›</a:t>
            </a:fld>
            <a:endParaRPr lang="it-IT"/>
          </a:p>
        </p:txBody>
      </p:sp>
    </p:spTree>
    <p:extLst>
      <p:ext uri="{BB962C8B-B14F-4D97-AF65-F5344CB8AC3E}">
        <p14:creationId xmlns:p14="http://schemas.microsoft.com/office/powerpoint/2010/main" val="27739174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it-IT"/>
              <a:t>Fare clic per modificare lo stile del titolo dello schema</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it-IT"/>
              <a:t>Fare clic sull'icona per inserire un'immagine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C7CC04FB-86A9-4518-B68C-513A8C480987}" type="datetimeFigureOut">
              <a:rPr lang="it-IT" smtClean="0"/>
              <a:t>18/01/2026</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53989CFC-89DE-4F17-B3B6-DFC80C736B18}" type="slidenum">
              <a:rPr lang="it-IT" smtClean="0"/>
              <a:t>‹N›</a:t>
            </a:fld>
            <a:endParaRPr lang="it-IT"/>
          </a:p>
        </p:txBody>
      </p:sp>
    </p:spTree>
    <p:extLst>
      <p:ext uri="{BB962C8B-B14F-4D97-AF65-F5344CB8AC3E}">
        <p14:creationId xmlns:p14="http://schemas.microsoft.com/office/powerpoint/2010/main" val="20124967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Immagine panoramica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it-IT"/>
              <a:t>Fare clic per modificare lo stile del titolo dello schema</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it-IT"/>
              <a:t>Fare clic sull'icona per inserire un'immagine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C7CC04FB-86A9-4518-B68C-513A8C480987}" type="datetimeFigureOut">
              <a:rPr lang="it-IT" smtClean="0"/>
              <a:t>18/01/2026</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53989CFC-89DE-4F17-B3B6-DFC80C736B18}" type="slidenum">
              <a:rPr lang="it-IT" smtClean="0"/>
              <a:t>‹N›</a:t>
            </a:fld>
            <a:endParaRPr lang="it-IT"/>
          </a:p>
        </p:txBody>
      </p:sp>
    </p:spTree>
    <p:extLst>
      <p:ext uri="{BB962C8B-B14F-4D97-AF65-F5344CB8AC3E}">
        <p14:creationId xmlns:p14="http://schemas.microsoft.com/office/powerpoint/2010/main" val="5751950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olo e sottotitolo">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it-IT"/>
              <a:t>Fare clic per modificare lo stile del titolo dello schema</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C7CC04FB-86A9-4518-B68C-513A8C480987}" type="datetimeFigureOut">
              <a:rPr lang="it-IT" smtClean="0"/>
              <a:t>18/01/2026</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53989CFC-89DE-4F17-B3B6-DFC80C736B18}" type="slidenum">
              <a:rPr lang="it-IT" smtClean="0"/>
              <a:t>‹N›</a:t>
            </a:fld>
            <a:endParaRPr lang="it-IT"/>
          </a:p>
        </p:txBody>
      </p:sp>
    </p:spTree>
    <p:extLst>
      <p:ext uri="{BB962C8B-B14F-4D97-AF65-F5344CB8AC3E}">
        <p14:creationId xmlns:p14="http://schemas.microsoft.com/office/powerpoint/2010/main" val="32613968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itazione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it-IT"/>
              <a:t>Fare clic per modificare lo stile del titolo dello schema</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C7CC04FB-86A9-4518-B68C-513A8C480987}" type="datetimeFigureOut">
              <a:rPr lang="it-IT" smtClean="0"/>
              <a:t>18/01/2026</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53989CFC-89DE-4F17-B3B6-DFC80C736B18}" type="slidenum">
              <a:rPr lang="it-IT" smtClean="0"/>
              <a:t>‹N›</a:t>
            </a:fld>
            <a:endParaRPr lang="it-IT"/>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390960557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cheda nome">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it-IT"/>
              <a:t>Fare clic per modificare lo stile del titolo dello schema</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C7CC04FB-86A9-4518-B68C-513A8C480987}" type="datetimeFigureOut">
              <a:rPr lang="it-IT" smtClean="0"/>
              <a:t>18/01/2026</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53989CFC-89DE-4F17-B3B6-DFC80C736B18}" type="slidenum">
              <a:rPr lang="it-IT" smtClean="0"/>
              <a:t>‹N›</a:t>
            </a:fld>
            <a:endParaRPr lang="it-IT"/>
          </a:p>
        </p:txBody>
      </p:sp>
    </p:spTree>
    <p:extLst>
      <p:ext uri="{BB962C8B-B14F-4D97-AF65-F5344CB8AC3E}">
        <p14:creationId xmlns:p14="http://schemas.microsoft.com/office/powerpoint/2010/main" val="363010010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onne">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it-IT"/>
              <a:t>Fare clic per modificare lo stile del titolo dello schema</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3" name="Date Placeholder 2"/>
          <p:cNvSpPr>
            <a:spLocks noGrp="1"/>
          </p:cNvSpPr>
          <p:nvPr>
            <p:ph type="dt" sz="half" idx="10"/>
          </p:nvPr>
        </p:nvSpPr>
        <p:spPr/>
        <p:txBody>
          <a:bodyPr/>
          <a:lstStyle/>
          <a:p>
            <a:fld id="{C7CC04FB-86A9-4518-B68C-513A8C480987}" type="datetimeFigureOut">
              <a:rPr lang="it-IT" smtClean="0"/>
              <a:t>18/01/2026</a:t>
            </a:fld>
            <a:endParaRPr lang="it-IT"/>
          </a:p>
        </p:txBody>
      </p:sp>
      <p:sp>
        <p:nvSpPr>
          <p:cNvPr id="4" name="Footer Placeholder 3"/>
          <p:cNvSpPr>
            <a:spLocks noGrp="1"/>
          </p:cNvSpPr>
          <p:nvPr>
            <p:ph type="ftr" sz="quarter" idx="11"/>
          </p:nvPr>
        </p:nvSpPr>
        <p:spPr/>
        <p:txBody>
          <a:bodyPr/>
          <a:lstStyle/>
          <a:p>
            <a:endParaRPr lang="it-IT"/>
          </a:p>
        </p:txBody>
      </p:sp>
      <p:sp>
        <p:nvSpPr>
          <p:cNvPr id="5" name="Slide Number Placeholder 4"/>
          <p:cNvSpPr>
            <a:spLocks noGrp="1"/>
          </p:cNvSpPr>
          <p:nvPr>
            <p:ph type="sldNum" sz="quarter" idx="12"/>
          </p:nvPr>
        </p:nvSpPr>
        <p:spPr/>
        <p:txBody>
          <a:bodyPr/>
          <a:lstStyle/>
          <a:p>
            <a:fld id="{53989CFC-89DE-4F17-B3B6-DFC80C736B18}" type="slidenum">
              <a:rPr lang="it-IT" smtClean="0"/>
              <a:t>‹N›</a:t>
            </a:fld>
            <a:endParaRPr lang="it-IT"/>
          </a:p>
        </p:txBody>
      </p:sp>
    </p:spTree>
    <p:extLst>
      <p:ext uri="{BB962C8B-B14F-4D97-AF65-F5344CB8AC3E}">
        <p14:creationId xmlns:p14="http://schemas.microsoft.com/office/powerpoint/2010/main" val="230874707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colonne immagine">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it-IT"/>
              <a:t>Fare clic per modificare lo stile del titolo dello schema</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it-IT"/>
              <a:t>Fare clic sull'icona per inserire un'immagine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it-IT"/>
              <a:t>Fare clic sull'icona per inserire un'immagine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it-IT"/>
              <a:t>Fare clic sull'icona per inserire un'immagine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3" name="Date Placeholder 2"/>
          <p:cNvSpPr>
            <a:spLocks noGrp="1"/>
          </p:cNvSpPr>
          <p:nvPr>
            <p:ph type="dt" sz="half" idx="10"/>
          </p:nvPr>
        </p:nvSpPr>
        <p:spPr/>
        <p:txBody>
          <a:bodyPr/>
          <a:lstStyle/>
          <a:p>
            <a:fld id="{C7CC04FB-86A9-4518-B68C-513A8C480987}" type="datetimeFigureOut">
              <a:rPr lang="it-IT" smtClean="0"/>
              <a:t>18/01/2026</a:t>
            </a:fld>
            <a:endParaRPr lang="it-IT"/>
          </a:p>
        </p:txBody>
      </p:sp>
      <p:sp>
        <p:nvSpPr>
          <p:cNvPr id="4" name="Footer Placeholder 3"/>
          <p:cNvSpPr>
            <a:spLocks noGrp="1"/>
          </p:cNvSpPr>
          <p:nvPr>
            <p:ph type="ftr" sz="quarter" idx="11"/>
          </p:nvPr>
        </p:nvSpPr>
        <p:spPr/>
        <p:txBody>
          <a:bodyPr/>
          <a:lstStyle/>
          <a:p>
            <a:endParaRPr lang="it-IT"/>
          </a:p>
        </p:txBody>
      </p:sp>
      <p:sp>
        <p:nvSpPr>
          <p:cNvPr id="5" name="Slide Number Placeholder 4"/>
          <p:cNvSpPr>
            <a:spLocks noGrp="1"/>
          </p:cNvSpPr>
          <p:nvPr>
            <p:ph type="sldNum" sz="quarter" idx="12"/>
          </p:nvPr>
        </p:nvSpPr>
        <p:spPr/>
        <p:txBody>
          <a:bodyPr/>
          <a:lstStyle/>
          <a:p>
            <a:fld id="{53989CFC-89DE-4F17-B3B6-DFC80C736B18}" type="slidenum">
              <a:rPr lang="it-IT" smtClean="0"/>
              <a:t>‹N›</a:t>
            </a:fld>
            <a:endParaRPr lang="it-IT"/>
          </a:p>
        </p:txBody>
      </p:sp>
    </p:spTree>
    <p:extLst>
      <p:ext uri="{BB962C8B-B14F-4D97-AF65-F5344CB8AC3E}">
        <p14:creationId xmlns:p14="http://schemas.microsoft.com/office/powerpoint/2010/main" val="198328135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p:txBody>
          <a:bodyPr vert="eaVert" ancho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C7CC04FB-86A9-4518-B68C-513A8C480987}" type="datetimeFigureOut">
              <a:rPr lang="it-IT" smtClean="0"/>
              <a:t>18/01/2026</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53989CFC-89DE-4F17-B3B6-DFC80C736B18}" type="slidenum">
              <a:rPr lang="it-IT" smtClean="0"/>
              <a:t>‹N›</a:t>
            </a:fld>
            <a:endParaRPr lang="it-IT"/>
          </a:p>
        </p:txBody>
      </p:sp>
    </p:spTree>
    <p:extLst>
      <p:ext uri="{BB962C8B-B14F-4D97-AF65-F5344CB8AC3E}">
        <p14:creationId xmlns:p14="http://schemas.microsoft.com/office/powerpoint/2010/main" val="264178967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C7CC04FB-86A9-4518-B68C-513A8C480987}" type="datetimeFigureOut">
              <a:rPr lang="it-IT" smtClean="0"/>
              <a:t>18/01/2026</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53989CFC-89DE-4F17-B3B6-DFC80C736B18}" type="slidenum">
              <a:rPr lang="it-IT" smtClean="0"/>
              <a:t>‹N›</a:t>
            </a:fld>
            <a:endParaRPr lang="it-IT"/>
          </a:p>
        </p:txBody>
      </p:sp>
    </p:spTree>
    <p:extLst>
      <p:ext uri="{BB962C8B-B14F-4D97-AF65-F5344CB8AC3E}">
        <p14:creationId xmlns:p14="http://schemas.microsoft.com/office/powerpoint/2010/main" val="302148564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8" name="Group 7"/>
          <p:cNvGrpSpPr/>
          <p:nvPr/>
        </p:nvGrpSpPr>
        <p:grpSpPr>
          <a:xfrm>
            <a:off x="-14288" y="0"/>
            <a:ext cx="12053888" cy="6858001"/>
            <a:chOff x="-14288" y="0"/>
            <a:chExt cx="12053888" cy="6858001"/>
          </a:xfrm>
        </p:grpSpPr>
        <p:grpSp>
          <p:nvGrpSpPr>
            <p:cNvPr id="9" name="Group 8"/>
            <p:cNvGrpSpPr/>
            <p:nvPr/>
          </p:nvGrpSpPr>
          <p:grpSpPr>
            <a:xfrm>
              <a:off x="-14288" y="0"/>
              <a:ext cx="1220788" cy="6858001"/>
              <a:chOff x="-14288" y="0"/>
              <a:chExt cx="1220788" cy="6858001"/>
            </a:xfrm>
            <a:gradFill flip="none" rotWithShape="1">
              <a:gsLst>
                <a:gs pos="0">
                  <a:schemeClr val="tx2"/>
                </a:gs>
                <a:gs pos="100000">
                  <a:schemeClr val="bg2">
                    <a:lumMod val="60000"/>
                    <a:lumOff val="40000"/>
                  </a:schemeClr>
                </a:gs>
              </a:gsLst>
              <a:lin ang="5400000" scaled="0"/>
              <a:tileRect/>
            </a:grad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txBody>
              <a:bodyPr/>
              <a:lstStyle/>
              <a:p>
                <a:endParaRPr lang="it-IT"/>
              </a:p>
            </p:txBody>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txBody>
              <a:bodyPr/>
              <a:lstStyle/>
              <a:p>
                <a:endParaRPr lang="it-IT"/>
              </a:p>
            </p:txBody>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grpSp>
        <p:grpSp>
          <p:nvGrpSpPr>
            <p:cNvPr id="10" name="Group 9"/>
            <p:cNvGrpSpPr/>
            <p:nvPr/>
          </p:nvGrpSpPr>
          <p:grpSpPr>
            <a:xfrm>
              <a:off x="11364912" y="0"/>
              <a:ext cx="674688" cy="6848476"/>
              <a:chOff x="11364912" y="0"/>
              <a:chExt cx="674688" cy="6848476"/>
            </a:xfrm>
            <a:gradFill flip="none" rotWithShape="1">
              <a:gsLst>
                <a:gs pos="0">
                  <a:schemeClr val="tx2">
                    <a:alpha val="80000"/>
                  </a:schemeClr>
                </a:gs>
                <a:gs pos="100000">
                  <a:schemeClr val="bg2">
                    <a:lumMod val="60000"/>
                    <a:lumOff val="40000"/>
                    <a:alpha val="60000"/>
                  </a:schemeClr>
                </a:gs>
              </a:gsLst>
              <a:lin ang="5400000" scaled="0"/>
              <a:tileRect/>
            </a:grad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txBody>
              <a:bodyPr/>
              <a:lstStyle/>
              <a:p>
                <a:endParaRPr lang="it-IT"/>
              </a:p>
            </p:txBody>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C7CC04FB-86A9-4518-B68C-513A8C480987}" type="datetimeFigureOut">
              <a:rPr lang="it-IT" smtClean="0"/>
              <a:t>18/01/2026</a:t>
            </a:fld>
            <a:endParaRPr lang="it-IT"/>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it-IT"/>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53989CFC-89DE-4F17-B3B6-DFC80C736B18}" type="slidenum">
              <a:rPr lang="it-IT" smtClean="0"/>
              <a:t>‹N›</a:t>
            </a:fld>
            <a:endParaRPr lang="it-IT"/>
          </a:p>
        </p:txBody>
      </p:sp>
    </p:spTree>
    <p:extLst>
      <p:ext uri="{BB962C8B-B14F-4D97-AF65-F5344CB8AC3E}">
        <p14:creationId xmlns:p14="http://schemas.microsoft.com/office/powerpoint/2010/main" val="2416280125"/>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2">
            <a:duotone>
              <a:schemeClr val="bg2">
                <a:shade val="88000"/>
                <a:hueMod val="106000"/>
                <a:satMod val="140000"/>
                <a:lumMod val="54000"/>
              </a:schemeClr>
              <a:schemeClr val="bg2">
                <a:tint val="98000"/>
                <a:hueMod val="90000"/>
                <a:satMod val="150000"/>
                <a:lumMod val="160000"/>
              </a:schemeClr>
            </a:duotone>
          </a:blip>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1C6D790-69F0-40CA-813A-84D724D1C6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48476"/>
          </a:xfrm>
          <a:prstGeom prst="rect">
            <a:avLst/>
          </a:prstGeom>
          <a:solidFill>
            <a:schemeClr val="bg2">
              <a:lumMod val="50000"/>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Round Diagonal Corner Rectangle 7">
            <a:extLst>
              <a:ext uri="{FF2B5EF4-FFF2-40B4-BE49-F238E27FC236}">
                <a16:creationId xmlns:a16="http://schemas.microsoft.com/office/drawing/2014/main" id="{F5A78137-DBB7-4A93-98AC-5606814E2D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040673" y="806450"/>
            <a:ext cx="9319476" cy="4502149"/>
          </a:xfrm>
          <a:prstGeom prst="round2DiagRect">
            <a:avLst>
              <a:gd name="adj1" fmla="val 7929"/>
              <a:gd name="adj2" fmla="val 0"/>
            </a:avLst>
          </a:prstGeom>
          <a:solidFill>
            <a:schemeClr val="bg2">
              <a:lumMod val="50000"/>
              <a:alpha val="80000"/>
            </a:schemeClr>
          </a:solidFill>
          <a:ln w="19050" cap="sq">
            <a:solidFill>
              <a:srgbClr val="FFFFFF">
                <a:alpha val="60000"/>
              </a:srgbClr>
            </a:solidFill>
            <a:miter lim="800000"/>
          </a:ln>
          <a:effectLst>
            <a:outerShdw blurRad="88900" dist="38100" dir="5400000" algn="t" rotWithShape="0">
              <a:srgbClr val="092338">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olo 1">
            <a:extLst>
              <a:ext uri="{FF2B5EF4-FFF2-40B4-BE49-F238E27FC236}">
                <a16:creationId xmlns:a16="http://schemas.microsoft.com/office/drawing/2014/main" id="{7BBB9D27-EADC-CFED-EFF4-13620AF79305}"/>
              </a:ext>
            </a:extLst>
          </p:cNvPr>
          <p:cNvSpPr>
            <a:spLocks noGrp="1"/>
          </p:cNvSpPr>
          <p:nvPr>
            <p:ph type="ctrTitle"/>
          </p:nvPr>
        </p:nvSpPr>
        <p:spPr>
          <a:xfrm>
            <a:off x="2685145" y="1125511"/>
            <a:ext cx="7135566" cy="2656971"/>
          </a:xfrm>
        </p:spPr>
        <p:txBody>
          <a:bodyPr>
            <a:normAutofit/>
          </a:bodyPr>
          <a:lstStyle/>
          <a:p>
            <a:r>
              <a:rPr lang="it-IT" sz="5400" dirty="0">
                <a:solidFill>
                  <a:srgbClr val="FFFFFF"/>
                </a:solidFill>
              </a:rPr>
              <a:t>project proposal</a:t>
            </a:r>
            <a:br>
              <a:rPr lang="it-IT" sz="5400" dirty="0">
                <a:solidFill>
                  <a:srgbClr val="FFFFFF"/>
                </a:solidFill>
              </a:rPr>
            </a:br>
            <a:r>
              <a:rPr lang="it-IT" sz="5400" dirty="0">
                <a:solidFill>
                  <a:srgbClr val="FFFFFF"/>
                </a:solidFill>
              </a:rPr>
              <a:t>Group K</a:t>
            </a:r>
          </a:p>
        </p:txBody>
      </p:sp>
      <p:sp>
        <p:nvSpPr>
          <p:cNvPr id="3" name="Sottotitolo 2">
            <a:extLst>
              <a:ext uri="{FF2B5EF4-FFF2-40B4-BE49-F238E27FC236}">
                <a16:creationId xmlns:a16="http://schemas.microsoft.com/office/drawing/2014/main" id="{6FEC3CB3-2302-7D30-3AA8-FD7B12691B25}"/>
              </a:ext>
            </a:extLst>
          </p:cNvPr>
          <p:cNvSpPr>
            <a:spLocks noGrp="1"/>
          </p:cNvSpPr>
          <p:nvPr>
            <p:ph type="subTitle" idx="1"/>
          </p:nvPr>
        </p:nvSpPr>
        <p:spPr>
          <a:xfrm>
            <a:off x="2684139" y="3782482"/>
            <a:ext cx="7136760" cy="1204383"/>
          </a:xfrm>
        </p:spPr>
        <p:txBody>
          <a:bodyPr>
            <a:normAutofit/>
          </a:bodyPr>
          <a:lstStyle/>
          <a:p>
            <a:r>
              <a:rPr lang="it-IT" sz="1800" dirty="0">
                <a:solidFill>
                  <a:srgbClr val="FFFFFF"/>
                </a:solidFill>
              </a:rPr>
              <a:t>Pilutti filippo Simonitti Samuele Alessandro Fioritto</a:t>
            </a:r>
          </a:p>
        </p:txBody>
      </p:sp>
    </p:spTree>
    <p:extLst>
      <p:ext uri="{BB962C8B-B14F-4D97-AF65-F5344CB8AC3E}">
        <p14:creationId xmlns:p14="http://schemas.microsoft.com/office/powerpoint/2010/main" val="28378983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BFC9644-673A-459F-B3C5-9310A4E50E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bg2">
              <a:lumMod val="60000"/>
              <a:lumOff val="40000"/>
              <a:alpha val="60000"/>
            </a:schemeClr>
          </a:solidFill>
        </p:grpSpPr>
        <p:sp>
          <p:nvSpPr>
            <p:cNvPr id="11"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12"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3"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4"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5"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6"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7"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8"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9"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0"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1"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2"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23"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4"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5"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6"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7"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28"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9"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0"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1"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2"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3"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4"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5"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6"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7"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grpSp>
      <p:sp>
        <p:nvSpPr>
          <p:cNvPr id="2" name="Titolo 1">
            <a:extLst>
              <a:ext uri="{FF2B5EF4-FFF2-40B4-BE49-F238E27FC236}">
                <a16:creationId xmlns:a16="http://schemas.microsoft.com/office/drawing/2014/main" id="{89B6C04D-E0D5-17DC-AB1A-3FEDF3A79413}"/>
              </a:ext>
            </a:extLst>
          </p:cNvPr>
          <p:cNvSpPr>
            <a:spLocks noGrp="1"/>
          </p:cNvSpPr>
          <p:nvPr>
            <p:ph type="title"/>
          </p:nvPr>
        </p:nvSpPr>
        <p:spPr>
          <a:xfrm>
            <a:off x="1198811" y="1066800"/>
            <a:ext cx="3059969" cy="4697413"/>
          </a:xfrm>
        </p:spPr>
        <p:txBody>
          <a:bodyPr>
            <a:normAutofit/>
          </a:bodyPr>
          <a:lstStyle/>
          <a:p>
            <a:r>
              <a:rPr lang="it-IT" dirty="0"/>
              <a:t>enviROnment</a:t>
            </a:r>
          </a:p>
        </p:txBody>
      </p:sp>
      <p:sp useBgFill="1">
        <p:nvSpPr>
          <p:cNvPr id="39" name="Round Diagonal Corner Rectangle 7">
            <a:extLst>
              <a:ext uri="{FF2B5EF4-FFF2-40B4-BE49-F238E27FC236}">
                <a16:creationId xmlns:a16="http://schemas.microsoft.com/office/drawing/2014/main" id="{7D1C411D-0818-4640-8657-2AF78250C8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5084" y="0"/>
            <a:ext cx="7566916" cy="6848476"/>
          </a:xfrm>
          <a:prstGeom prst="round2DiagRect">
            <a:avLst>
              <a:gd name="adj1" fmla="val 0"/>
              <a:gd name="adj2" fmla="val 0"/>
            </a:avLst>
          </a:prstGeom>
          <a:ln w="19050" cap="sq">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Segnaposto contenuto 2">
            <a:extLst>
              <a:ext uri="{FF2B5EF4-FFF2-40B4-BE49-F238E27FC236}">
                <a16:creationId xmlns:a16="http://schemas.microsoft.com/office/drawing/2014/main" id="{86EFCE9A-1145-8265-0A44-4F6FC8E3A51A}"/>
              </a:ext>
            </a:extLst>
          </p:cNvPr>
          <p:cNvSpPr>
            <a:spLocks noGrp="1"/>
          </p:cNvSpPr>
          <p:nvPr>
            <p:ph idx="1"/>
          </p:nvPr>
        </p:nvSpPr>
        <p:spPr>
          <a:xfrm>
            <a:off x="4782246" y="456406"/>
            <a:ext cx="7438329" cy="4697413"/>
          </a:xfrm>
        </p:spPr>
        <p:txBody>
          <a:bodyPr>
            <a:normAutofit/>
          </a:bodyPr>
          <a:lstStyle/>
          <a:p>
            <a:pPr marL="0" indent="0">
              <a:buNone/>
            </a:pPr>
            <a:r>
              <a:rPr lang="it-IT" sz="2200" dirty="0">
                <a:latin typeface="Calibri Light" panose="020F0302020204030204" pitchFamily="34" charset="0"/>
                <a:ea typeface="Calibri Light" panose="020F0302020204030204" pitchFamily="34" charset="0"/>
                <a:cs typeface="Calibri Light" panose="020F0302020204030204" pitchFamily="34" charset="0"/>
              </a:rPr>
              <a:t>We decided to use the normal turtlebot 3 arena with some changes: we added 3 pairs of walls to form a simple maze that the robot should navigate without hitting said walls or any other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solid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object</a:t>
            </a:r>
            <a:endParaRPr lang="it-IT" sz="2200" dirty="0">
              <a:latin typeface="Calibri Light" panose="020F0302020204030204" pitchFamily="34" charset="0"/>
              <a:ea typeface="Calibri Light" panose="020F0302020204030204" pitchFamily="34" charset="0"/>
              <a:cs typeface="Calibri Light" panose="020F0302020204030204" pitchFamily="34" charset="0"/>
            </a:endParaRPr>
          </a:p>
          <a:p>
            <a:pPr marL="0" indent="0">
              <a:buNone/>
            </a:pPr>
            <a:r>
              <a:rPr lang="it-IT" sz="2200" b="1" dirty="0">
                <a:latin typeface="Calibri Light" panose="020F0302020204030204" pitchFamily="34" charset="0"/>
                <a:ea typeface="Calibri Light" panose="020F0302020204030204" pitchFamily="34" charset="0"/>
                <a:cs typeface="Calibri Light" panose="020F0302020204030204" pitchFamily="34" charset="0"/>
              </a:rPr>
              <a:t>Optional: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If</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find</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robot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too</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efficient</a:t>
            </a:r>
            <a:r>
              <a:rPr lang="it-IT" sz="2200" dirty="0">
                <a:latin typeface="Calibri Light" panose="020F0302020204030204" pitchFamily="34" charset="0"/>
                <a:ea typeface="Calibri Light" panose="020F0302020204030204" pitchFamily="34" charset="0"/>
                <a:cs typeface="Calibri Light" panose="020F0302020204030204" pitchFamily="34" charset="0"/>
              </a:rPr>
              <a:t> in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navigating</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this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maze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we</a:t>
            </a:r>
            <a:r>
              <a:rPr lang="it-IT" sz="2200" dirty="0">
                <a:latin typeface="Calibri Light" panose="020F0302020204030204" pitchFamily="34" charset="0"/>
                <a:ea typeface="Calibri Light" panose="020F0302020204030204" pitchFamily="34" charset="0"/>
                <a:cs typeface="Calibri Light" panose="020F0302020204030204" pitchFamily="34" charset="0"/>
              </a:rPr>
              <a:t> plan to make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it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harder</a:t>
            </a:r>
            <a:r>
              <a:rPr lang="it-IT" sz="2200" dirty="0">
                <a:latin typeface="Calibri Light" panose="020F0302020204030204" pitchFamily="34" charset="0"/>
                <a:ea typeface="Calibri Light" panose="020F0302020204030204" pitchFamily="34" charset="0"/>
                <a:cs typeface="Calibri Light" panose="020F0302020204030204" pitchFamily="34" charset="0"/>
              </a:rPr>
              <a:t> (by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adding</a:t>
            </a:r>
            <a:r>
              <a:rPr lang="it-IT" sz="2200" dirty="0">
                <a:latin typeface="Calibri Light" panose="020F0302020204030204" pitchFamily="34" charset="0"/>
                <a:ea typeface="Calibri Light" panose="020F0302020204030204" pitchFamily="34" charset="0"/>
                <a:cs typeface="Calibri Light" panose="020F0302020204030204" pitchFamily="34" charset="0"/>
              </a:rPr>
              <a:t> more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obstacles</a:t>
            </a:r>
            <a:r>
              <a:rPr lang="it-IT" sz="2200" dirty="0">
                <a:latin typeface="Calibri Light" panose="020F0302020204030204" pitchFamily="34" charset="0"/>
                <a:ea typeface="Calibri Light" panose="020F0302020204030204" pitchFamily="34" charset="0"/>
                <a:cs typeface="Calibri Light" panose="020F0302020204030204" pitchFamily="34" charset="0"/>
              </a:rPr>
              <a:t> or a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longer</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route</a:t>
            </a:r>
            <a:r>
              <a:rPr lang="it-IT" sz="2200" dirty="0">
                <a:latin typeface="Calibri Light" panose="020F0302020204030204" pitchFamily="34" charset="0"/>
                <a:ea typeface="Calibri Light" panose="020F0302020204030204" pitchFamily="34" charset="0"/>
                <a:cs typeface="Calibri Light" panose="020F0302020204030204" pitchFamily="34" charset="0"/>
              </a:rPr>
              <a:t> to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objective</a:t>
            </a:r>
            <a:r>
              <a:rPr lang="it-IT" sz="2200" dirty="0">
                <a:latin typeface="Calibri Light" panose="020F0302020204030204" pitchFamily="34" charset="0"/>
                <a:ea typeface="Calibri Light" panose="020F0302020204030204" pitchFamily="34" charset="0"/>
                <a:cs typeface="Calibri Light" panose="020F0302020204030204" pitchFamily="34" charset="0"/>
              </a:rPr>
              <a:t>)</a:t>
            </a:r>
            <a:endParaRPr lang="it-IT" sz="2200" b="1" dirty="0">
              <a:latin typeface="Calibri Light" panose="020F0302020204030204" pitchFamily="34" charset="0"/>
              <a:ea typeface="Calibri Light" panose="020F0302020204030204" pitchFamily="34" charset="0"/>
              <a:cs typeface="Calibri Light" panose="020F0302020204030204" pitchFamily="34" charset="0"/>
            </a:endParaRPr>
          </a:p>
          <a:p>
            <a:pPr marL="0" indent="0">
              <a:buNone/>
            </a:pPr>
            <a:endParaRPr lang="it-IT" sz="2200" dirty="0">
              <a:latin typeface="Calibri Light" panose="020F0302020204030204" pitchFamily="34" charset="0"/>
              <a:ea typeface="Calibri Light" panose="020F0302020204030204" pitchFamily="34" charset="0"/>
              <a:cs typeface="Calibri Light" panose="020F0302020204030204" pitchFamily="34" charset="0"/>
            </a:endParaRPr>
          </a:p>
        </p:txBody>
      </p:sp>
      <p:pic>
        <p:nvPicPr>
          <p:cNvPr id="5" name="Immagine 4" descr="Immagine che contiene Policromia, pixel&#10;&#10;Il contenuto generato dall'IA potrebbe non essere corretto.">
            <a:extLst>
              <a:ext uri="{FF2B5EF4-FFF2-40B4-BE49-F238E27FC236}">
                <a16:creationId xmlns:a16="http://schemas.microsoft.com/office/drawing/2014/main" id="{B76CB909-7CE4-6670-9602-DA515957F5E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28309" y="3784568"/>
            <a:ext cx="2456626" cy="2710755"/>
          </a:xfrm>
          <a:prstGeom prst="rect">
            <a:avLst/>
          </a:prstGeom>
        </p:spPr>
      </p:pic>
      <p:pic>
        <p:nvPicPr>
          <p:cNvPr id="7" name="Immagine 6" descr="Immagine che contiene schermata, pixel, design&#10;&#10;Il contenuto generato dall'IA potrebbe non essere corretto.">
            <a:extLst>
              <a:ext uri="{FF2B5EF4-FFF2-40B4-BE49-F238E27FC236}">
                <a16:creationId xmlns:a16="http://schemas.microsoft.com/office/drawing/2014/main" id="{7D7F3170-4F44-A18A-2A8D-D1D3FAA0574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45408" y="3784567"/>
            <a:ext cx="3847132" cy="2710756"/>
          </a:xfrm>
          <a:prstGeom prst="rect">
            <a:avLst/>
          </a:prstGeom>
        </p:spPr>
      </p:pic>
    </p:spTree>
    <p:extLst>
      <p:ext uri="{BB962C8B-B14F-4D97-AF65-F5344CB8AC3E}">
        <p14:creationId xmlns:p14="http://schemas.microsoft.com/office/powerpoint/2010/main" val="36882784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BFC9644-673A-459F-B3C5-9310A4E50E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bg2">
              <a:lumMod val="60000"/>
              <a:lumOff val="40000"/>
              <a:alpha val="60000"/>
            </a:schemeClr>
          </a:solidFill>
        </p:grpSpPr>
        <p:sp>
          <p:nvSpPr>
            <p:cNvPr id="11"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12"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3"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4"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5"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6"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7"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8"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9"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0"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1"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2"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23"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4"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5"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6"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7"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28"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9"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0"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1"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2"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3"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4"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5"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6"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7"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grpSp>
      <p:sp>
        <p:nvSpPr>
          <p:cNvPr id="2" name="Titolo 1">
            <a:extLst>
              <a:ext uri="{FF2B5EF4-FFF2-40B4-BE49-F238E27FC236}">
                <a16:creationId xmlns:a16="http://schemas.microsoft.com/office/drawing/2014/main" id="{9A7FF5C4-5DB8-1649-345B-29A90A41BAE1}"/>
              </a:ext>
            </a:extLst>
          </p:cNvPr>
          <p:cNvSpPr>
            <a:spLocks noGrp="1"/>
          </p:cNvSpPr>
          <p:nvPr>
            <p:ph type="title"/>
          </p:nvPr>
        </p:nvSpPr>
        <p:spPr>
          <a:xfrm>
            <a:off x="1891425" y="1162050"/>
            <a:ext cx="1142270" cy="4697413"/>
          </a:xfrm>
        </p:spPr>
        <p:txBody>
          <a:bodyPr>
            <a:normAutofit/>
          </a:bodyPr>
          <a:lstStyle/>
          <a:p>
            <a:r>
              <a:rPr lang="it-IT" dirty="0" err="1"/>
              <a:t>tASK</a:t>
            </a:r>
            <a:endParaRPr lang="it-IT" dirty="0"/>
          </a:p>
        </p:txBody>
      </p:sp>
      <p:sp useBgFill="1">
        <p:nvSpPr>
          <p:cNvPr id="39" name="Round Diagonal Corner Rectangle 7">
            <a:extLst>
              <a:ext uri="{FF2B5EF4-FFF2-40B4-BE49-F238E27FC236}">
                <a16:creationId xmlns:a16="http://schemas.microsoft.com/office/drawing/2014/main" id="{7D1C411D-0818-4640-8657-2AF78250C8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5084" y="0"/>
            <a:ext cx="7566916" cy="6848476"/>
          </a:xfrm>
          <a:prstGeom prst="round2DiagRect">
            <a:avLst>
              <a:gd name="adj1" fmla="val 0"/>
              <a:gd name="adj2" fmla="val 0"/>
            </a:avLst>
          </a:prstGeom>
          <a:ln w="19050" cap="sq">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Segnaposto contenuto 2">
            <a:extLst>
              <a:ext uri="{FF2B5EF4-FFF2-40B4-BE49-F238E27FC236}">
                <a16:creationId xmlns:a16="http://schemas.microsoft.com/office/drawing/2014/main" id="{813CABC3-E6F0-C3C2-DB64-3E5459B3AFAF}"/>
              </a:ext>
            </a:extLst>
          </p:cNvPr>
          <p:cNvSpPr>
            <a:spLocks noGrp="1"/>
          </p:cNvSpPr>
          <p:nvPr>
            <p:ph idx="1"/>
          </p:nvPr>
        </p:nvSpPr>
        <p:spPr>
          <a:xfrm>
            <a:off x="4744146" y="1305037"/>
            <a:ext cx="7395467" cy="4238402"/>
          </a:xfrm>
        </p:spPr>
        <p:txBody>
          <a:bodyPr>
            <a:normAutofit/>
          </a:bodyPr>
          <a:lstStyle/>
          <a:p>
            <a:pPr marL="0" indent="0">
              <a:buNone/>
            </a:pPr>
            <a:r>
              <a:rPr lang="it-IT" sz="2200" b="1" dirty="0">
                <a:latin typeface="Calibri Light" panose="020F0302020204030204" pitchFamily="34" charset="0"/>
                <a:ea typeface="Calibri Light" panose="020F0302020204030204" pitchFamily="34" charset="0"/>
                <a:cs typeface="Calibri Light" panose="020F0302020204030204" pitchFamily="34" charset="0"/>
              </a:rPr>
              <a:t>Primary task: </a:t>
            </a:r>
          </a:p>
          <a:p>
            <a:pPr marL="0" indent="0">
              <a:buNone/>
            </a:pPr>
            <a:r>
              <a:rPr lang="it-IT" sz="2200" dirty="0">
                <a:latin typeface="Calibri Light" panose="020F0302020204030204" pitchFamily="34" charset="0"/>
                <a:ea typeface="Calibri Light" panose="020F0302020204030204" pitchFamily="34" charset="0"/>
                <a:cs typeface="Calibri Light" panose="020F0302020204030204" pitchFamily="34" charset="0"/>
              </a:rPr>
              <a:t>The chosen task is for the robot to navigate the maze without hitting the walls, the columns or the perimeter of the arena and after that, at the end of the arena, there is a specific position the robot should go towards until it reaches it.</a:t>
            </a:r>
          </a:p>
          <a:p>
            <a:pPr marL="0" indent="0">
              <a:buNone/>
            </a:pPr>
            <a:endParaRPr lang="it-IT" sz="2200" dirty="0">
              <a:latin typeface="Calibri Light" panose="020F0302020204030204" pitchFamily="34" charset="0"/>
              <a:ea typeface="Calibri Light" panose="020F0302020204030204" pitchFamily="34" charset="0"/>
              <a:cs typeface="Calibri Light" panose="020F0302020204030204" pitchFamily="34" charset="0"/>
            </a:endParaRPr>
          </a:p>
          <a:p>
            <a:pPr marL="0" indent="0">
              <a:buNone/>
            </a:pPr>
            <a:r>
              <a:rPr lang="it-IT" sz="2200" b="1" dirty="0">
                <a:latin typeface="Calibri Light" panose="020F0302020204030204" pitchFamily="34" charset="0"/>
                <a:ea typeface="Calibri Light" panose="020F0302020204030204" pitchFamily="34" charset="0"/>
                <a:cs typeface="Calibri Light" panose="020F0302020204030204" pitchFamily="34" charset="0"/>
              </a:rPr>
              <a:t>Optional task:</a:t>
            </a:r>
          </a:p>
          <a:p>
            <a:pPr marL="0" indent="0">
              <a:buNone/>
            </a:pPr>
            <a:r>
              <a:rPr lang="it-IT" sz="2200" dirty="0">
                <a:latin typeface="Calibri Light" panose="020F0302020204030204" pitchFamily="34" charset="0"/>
                <a:ea typeface="Calibri Light" panose="020F0302020204030204" pitchFamily="34" charset="0"/>
                <a:cs typeface="Calibri Light" panose="020F0302020204030204" pitchFamily="34" charset="0"/>
              </a:rPr>
              <a:t>After reaching the first given position, the turtlebot should navigate the maze backwards, back to the starting position.</a:t>
            </a:r>
          </a:p>
        </p:txBody>
      </p:sp>
    </p:spTree>
    <p:extLst>
      <p:ext uri="{BB962C8B-B14F-4D97-AF65-F5344CB8AC3E}">
        <p14:creationId xmlns:p14="http://schemas.microsoft.com/office/powerpoint/2010/main" val="10615247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BFC9644-673A-459F-B3C5-9310A4E50E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bg2">
              <a:lumMod val="60000"/>
              <a:lumOff val="40000"/>
              <a:alpha val="60000"/>
            </a:schemeClr>
          </a:solidFill>
        </p:grpSpPr>
        <p:sp>
          <p:nvSpPr>
            <p:cNvPr id="11"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12"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3"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4"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5"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6"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7"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8"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9"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0"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1"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2"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23"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4"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5"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6"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7"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28"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9"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0"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1"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2"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3"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4"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5"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6"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7"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grpSp>
      <p:sp>
        <p:nvSpPr>
          <p:cNvPr id="2" name="Titolo 1">
            <a:extLst>
              <a:ext uri="{FF2B5EF4-FFF2-40B4-BE49-F238E27FC236}">
                <a16:creationId xmlns:a16="http://schemas.microsoft.com/office/drawing/2014/main" id="{94D5E1D8-08D7-0639-5C29-61B5F621E4C1}"/>
              </a:ext>
            </a:extLst>
          </p:cNvPr>
          <p:cNvSpPr>
            <a:spLocks noGrp="1"/>
          </p:cNvSpPr>
          <p:nvPr>
            <p:ph type="title"/>
          </p:nvPr>
        </p:nvSpPr>
        <p:spPr>
          <a:xfrm>
            <a:off x="1274595" y="1093788"/>
            <a:ext cx="3059969" cy="4697413"/>
          </a:xfrm>
        </p:spPr>
        <p:txBody>
          <a:bodyPr>
            <a:normAutofit/>
          </a:bodyPr>
          <a:lstStyle/>
          <a:p>
            <a:r>
              <a:rPr lang="it-IT" dirty="0"/>
              <a:t>Input and </a:t>
            </a:r>
            <a:r>
              <a:rPr lang="it-IT" dirty="0" err="1"/>
              <a:t>sensor</a:t>
            </a:r>
            <a:endParaRPr lang="it-IT" dirty="0"/>
          </a:p>
        </p:txBody>
      </p:sp>
      <p:sp useBgFill="1">
        <p:nvSpPr>
          <p:cNvPr id="39" name="Round Diagonal Corner Rectangle 7">
            <a:extLst>
              <a:ext uri="{FF2B5EF4-FFF2-40B4-BE49-F238E27FC236}">
                <a16:creationId xmlns:a16="http://schemas.microsoft.com/office/drawing/2014/main" id="{7D1C411D-0818-4640-8657-2AF78250C8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5084" y="0"/>
            <a:ext cx="7566916" cy="6848476"/>
          </a:xfrm>
          <a:prstGeom prst="round2DiagRect">
            <a:avLst>
              <a:gd name="adj1" fmla="val 0"/>
              <a:gd name="adj2" fmla="val 0"/>
            </a:avLst>
          </a:prstGeom>
          <a:ln w="19050" cap="sq">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Segnaposto contenuto 2">
            <a:extLst>
              <a:ext uri="{FF2B5EF4-FFF2-40B4-BE49-F238E27FC236}">
                <a16:creationId xmlns:a16="http://schemas.microsoft.com/office/drawing/2014/main" id="{479A80B3-ADB6-D479-7FFE-44E59E949341}"/>
              </a:ext>
            </a:extLst>
          </p:cNvPr>
          <p:cNvSpPr>
            <a:spLocks noGrp="1"/>
          </p:cNvSpPr>
          <p:nvPr>
            <p:ph idx="1"/>
          </p:nvPr>
        </p:nvSpPr>
        <p:spPr>
          <a:xfrm>
            <a:off x="4891609" y="1858963"/>
            <a:ext cx="7014642" cy="3116263"/>
          </a:xfrm>
        </p:spPr>
        <p:txBody>
          <a:bodyPr>
            <a:normAutofit/>
          </a:bodyPr>
          <a:lstStyle/>
          <a:p>
            <a:pPr marL="0" indent="0">
              <a:buNone/>
            </a:pPr>
            <a:r>
              <a:rPr lang="it-IT" sz="2200" dirty="0">
                <a:latin typeface="Calibri Light" panose="020F0302020204030204" pitchFamily="34" charset="0"/>
                <a:ea typeface="Calibri Light" panose="020F0302020204030204" pitchFamily="34" charset="0"/>
                <a:cs typeface="Calibri Light" panose="020F0302020204030204" pitchFamily="34" charset="0"/>
              </a:rPr>
              <a:t>For the visual input of the robot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want</a:t>
            </a:r>
            <a:r>
              <a:rPr lang="it-IT" sz="2200" dirty="0">
                <a:latin typeface="Calibri Light" panose="020F0302020204030204" pitchFamily="34" charset="0"/>
                <a:ea typeface="Calibri Light" panose="020F0302020204030204" pitchFamily="34" charset="0"/>
                <a:cs typeface="Calibri Light" panose="020F0302020204030204" pitchFamily="34" charset="0"/>
              </a:rPr>
              <a:t> to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exclusively</a:t>
            </a:r>
            <a:r>
              <a:rPr lang="it-IT" sz="2200" dirty="0">
                <a:latin typeface="Calibri Light" panose="020F0302020204030204" pitchFamily="34" charset="0"/>
                <a:ea typeface="Calibri Light" panose="020F0302020204030204" pitchFamily="34" charset="0"/>
                <a:cs typeface="Calibri Light" panose="020F0302020204030204" pitchFamily="34" charset="0"/>
              </a:rPr>
              <a:t> use the laser sensor: this is because we figured that the laser would be less burdensome than image processing.</a:t>
            </a:r>
          </a:p>
          <a:p>
            <a:pPr marL="0" indent="0">
              <a:buNone/>
            </a:pPr>
            <a:r>
              <a:rPr lang="it-IT" sz="2200" dirty="0">
                <a:latin typeface="Calibri Light" panose="020F0302020204030204" pitchFamily="34" charset="0"/>
                <a:ea typeface="Calibri Light" panose="020F0302020204030204" pitchFamily="34" charset="0"/>
                <a:cs typeface="Calibri Light" panose="020F0302020204030204" pitchFamily="34" charset="0"/>
              </a:rPr>
              <a:t>We also changed the number of scannings, from 5 scans (one every 72°) to 24 scans (one every 15°) to hopefully solve some problems with the original model, mainly the tendency to crash on the columns.</a:t>
            </a:r>
          </a:p>
        </p:txBody>
      </p:sp>
    </p:spTree>
    <p:extLst>
      <p:ext uri="{BB962C8B-B14F-4D97-AF65-F5344CB8AC3E}">
        <p14:creationId xmlns:p14="http://schemas.microsoft.com/office/powerpoint/2010/main" val="901464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BFC9644-673A-459F-B3C5-9310A4E50E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bg2">
              <a:lumMod val="60000"/>
              <a:lumOff val="40000"/>
              <a:alpha val="60000"/>
            </a:schemeClr>
          </a:solidFill>
        </p:grpSpPr>
        <p:sp>
          <p:nvSpPr>
            <p:cNvPr id="11"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12"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3"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4"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5"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6"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7"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8"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9"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0"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1"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2"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23"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4"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5"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6"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7"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28"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9"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0"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1"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2"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3"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4"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5"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6"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7"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grpSp>
      <p:sp>
        <p:nvSpPr>
          <p:cNvPr id="2" name="Titolo 1">
            <a:extLst>
              <a:ext uri="{FF2B5EF4-FFF2-40B4-BE49-F238E27FC236}">
                <a16:creationId xmlns:a16="http://schemas.microsoft.com/office/drawing/2014/main" id="{3C392B05-7D13-08FC-8B70-DD18B549C159}"/>
              </a:ext>
            </a:extLst>
          </p:cNvPr>
          <p:cNvSpPr>
            <a:spLocks noGrp="1"/>
          </p:cNvSpPr>
          <p:nvPr>
            <p:ph type="title"/>
          </p:nvPr>
        </p:nvSpPr>
        <p:spPr>
          <a:xfrm>
            <a:off x="1019015" y="1093787"/>
            <a:ext cx="3059969" cy="4697413"/>
          </a:xfrm>
        </p:spPr>
        <p:txBody>
          <a:bodyPr>
            <a:normAutofit/>
          </a:bodyPr>
          <a:lstStyle/>
          <a:p>
            <a:r>
              <a:rPr lang="it-IT" dirty="0" err="1"/>
              <a:t>Drl</a:t>
            </a:r>
            <a:r>
              <a:rPr lang="it-IT" dirty="0"/>
              <a:t> </a:t>
            </a:r>
            <a:r>
              <a:rPr lang="it-IT" dirty="0" err="1"/>
              <a:t>algorithm</a:t>
            </a:r>
            <a:endParaRPr lang="it-IT" dirty="0"/>
          </a:p>
        </p:txBody>
      </p:sp>
      <p:sp useBgFill="1">
        <p:nvSpPr>
          <p:cNvPr id="39" name="Round Diagonal Corner Rectangle 7">
            <a:extLst>
              <a:ext uri="{FF2B5EF4-FFF2-40B4-BE49-F238E27FC236}">
                <a16:creationId xmlns:a16="http://schemas.microsoft.com/office/drawing/2014/main" id="{7D1C411D-0818-4640-8657-2AF78250C8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5084" y="0"/>
            <a:ext cx="7566916" cy="6848476"/>
          </a:xfrm>
          <a:prstGeom prst="round2DiagRect">
            <a:avLst>
              <a:gd name="adj1" fmla="val 0"/>
              <a:gd name="adj2" fmla="val 0"/>
            </a:avLst>
          </a:prstGeom>
          <a:ln w="19050" cap="sq">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Segnaposto contenuto 2">
            <a:extLst>
              <a:ext uri="{FF2B5EF4-FFF2-40B4-BE49-F238E27FC236}">
                <a16:creationId xmlns:a16="http://schemas.microsoft.com/office/drawing/2014/main" id="{7491F4A8-ED4C-CC79-0822-BBA51610FEEB}"/>
              </a:ext>
            </a:extLst>
          </p:cNvPr>
          <p:cNvSpPr>
            <a:spLocks noGrp="1"/>
          </p:cNvSpPr>
          <p:nvPr>
            <p:ph idx="1"/>
          </p:nvPr>
        </p:nvSpPr>
        <p:spPr>
          <a:xfrm>
            <a:off x="4852016" y="1975199"/>
            <a:ext cx="7113051" cy="2687289"/>
          </a:xfrm>
        </p:spPr>
        <p:txBody>
          <a:bodyPr>
            <a:normAutofit/>
          </a:bodyPr>
          <a:lstStyle/>
          <a:p>
            <a:pPr marL="0" indent="0">
              <a:buNone/>
            </a:pPr>
            <a:r>
              <a:rPr lang="it-IT" sz="2200" dirty="0">
                <a:latin typeface="Calibri Light" panose="020F0302020204030204" pitchFamily="34" charset="0"/>
                <a:ea typeface="Calibri Light" panose="020F0302020204030204" pitchFamily="34" charset="0"/>
                <a:cs typeface="Calibri Light" panose="020F0302020204030204" pitchFamily="34" charset="0"/>
              </a:rPr>
              <a:t>We intend to use DQN algorithm as its fast training time could allows us to try different combination of weights and parameter values in a relatively short amount of time.</a:t>
            </a:r>
          </a:p>
          <a:p>
            <a:pPr marL="0" indent="0">
              <a:buNone/>
            </a:pPr>
            <a:r>
              <a:rPr lang="it-IT" sz="2200" dirty="0">
                <a:latin typeface="Calibri Light" panose="020F0302020204030204" pitchFamily="34" charset="0"/>
                <a:ea typeface="Calibri Light" panose="020F0302020204030204" pitchFamily="34" charset="0"/>
                <a:cs typeface="Calibri Light" panose="020F0302020204030204" pitchFamily="34" charset="0"/>
              </a:rPr>
              <a:t>If we are not able to obtain good results, we plan to try Policy Optimization Algorithms (Reinforce or Actor Critic) which would require much more training time.</a:t>
            </a:r>
          </a:p>
        </p:txBody>
      </p:sp>
    </p:spTree>
    <p:extLst>
      <p:ext uri="{BB962C8B-B14F-4D97-AF65-F5344CB8AC3E}">
        <p14:creationId xmlns:p14="http://schemas.microsoft.com/office/powerpoint/2010/main" val="34357789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BFC9644-673A-459F-B3C5-9310A4E50E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bg2">
              <a:lumMod val="60000"/>
              <a:lumOff val="40000"/>
              <a:alpha val="60000"/>
            </a:schemeClr>
          </a:solidFill>
        </p:grpSpPr>
        <p:sp>
          <p:nvSpPr>
            <p:cNvPr id="11"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12"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3"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4"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5"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6"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7"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8"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9"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0"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1"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2"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23"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4"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5"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6"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7"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28"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9"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0"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1"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2"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3"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4"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5"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6"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7"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grpSp>
      <p:sp>
        <p:nvSpPr>
          <p:cNvPr id="2" name="Titolo 1">
            <a:extLst>
              <a:ext uri="{FF2B5EF4-FFF2-40B4-BE49-F238E27FC236}">
                <a16:creationId xmlns:a16="http://schemas.microsoft.com/office/drawing/2014/main" id="{C5CDE8B4-FB85-7EB4-6460-A6DC6877A495}"/>
              </a:ext>
            </a:extLst>
          </p:cNvPr>
          <p:cNvSpPr>
            <a:spLocks noGrp="1"/>
          </p:cNvSpPr>
          <p:nvPr>
            <p:ph type="title"/>
          </p:nvPr>
        </p:nvSpPr>
        <p:spPr>
          <a:xfrm>
            <a:off x="1019015" y="1093787"/>
            <a:ext cx="3059969" cy="4697413"/>
          </a:xfrm>
        </p:spPr>
        <p:txBody>
          <a:bodyPr>
            <a:normAutofit/>
          </a:bodyPr>
          <a:lstStyle/>
          <a:p>
            <a:r>
              <a:rPr lang="it-IT" dirty="0" err="1"/>
              <a:t>Reward</a:t>
            </a:r>
            <a:r>
              <a:rPr lang="it-IT" dirty="0"/>
              <a:t> </a:t>
            </a:r>
            <a:r>
              <a:rPr lang="it-IT" dirty="0" err="1"/>
              <a:t>structure</a:t>
            </a:r>
            <a:r>
              <a:rPr lang="it-IT" dirty="0"/>
              <a:t> and curriculum</a:t>
            </a:r>
          </a:p>
        </p:txBody>
      </p:sp>
      <p:sp useBgFill="1">
        <p:nvSpPr>
          <p:cNvPr id="39" name="Round Diagonal Corner Rectangle 7">
            <a:extLst>
              <a:ext uri="{FF2B5EF4-FFF2-40B4-BE49-F238E27FC236}">
                <a16:creationId xmlns:a16="http://schemas.microsoft.com/office/drawing/2014/main" id="{7D1C411D-0818-4640-8657-2AF78250C8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5084" y="0"/>
            <a:ext cx="7566916" cy="6848476"/>
          </a:xfrm>
          <a:prstGeom prst="round2DiagRect">
            <a:avLst>
              <a:gd name="adj1" fmla="val 0"/>
              <a:gd name="adj2" fmla="val 0"/>
            </a:avLst>
          </a:prstGeom>
          <a:ln w="19050" cap="sq">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Segnaposto contenuto 2">
            <a:extLst>
              <a:ext uri="{FF2B5EF4-FFF2-40B4-BE49-F238E27FC236}">
                <a16:creationId xmlns:a16="http://schemas.microsoft.com/office/drawing/2014/main" id="{4FE48175-44D0-64B3-A504-4925663E7AB8}"/>
              </a:ext>
            </a:extLst>
          </p:cNvPr>
          <p:cNvSpPr>
            <a:spLocks noGrp="1"/>
          </p:cNvSpPr>
          <p:nvPr>
            <p:ph idx="1"/>
          </p:nvPr>
        </p:nvSpPr>
        <p:spPr>
          <a:xfrm>
            <a:off x="4940836" y="1075531"/>
            <a:ext cx="7094001" cy="4697413"/>
          </a:xfrm>
        </p:spPr>
        <p:txBody>
          <a:bodyPr>
            <a:normAutofit fontScale="92500"/>
          </a:bodyPr>
          <a:lstStyle/>
          <a:p>
            <a:pPr marL="0" indent="0">
              <a:buNone/>
            </a:pPr>
            <a:r>
              <a:rPr lang="it-IT" dirty="0">
                <a:latin typeface="Calibri Light" panose="020F0302020204030204" pitchFamily="34" charset="0"/>
                <a:ea typeface="Calibri Light" panose="020F0302020204030204" pitchFamily="34" charset="0"/>
                <a:cs typeface="Calibri Light" panose="020F0302020204030204" pitchFamily="34" charset="0"/>
              </a:rPr>
              <a:t>We aim to use a more sparse reward scheme, specifically want to use goal sampling curriculum, meaning that we start from a simple objective (e.g. pass the first line of walls) and build up to a more complex one (reach the coordinates on the other side of the arena) and balance this with an exploration bonus; to optimize the maze navigation time and smoothness we also plan to implement factorized rewards (collision avoidance, time to target).</a:t>
            </a:r>
          </a:p>
          <a:p>
            <a:pPr marL="0" indent="0">
              <a:buNone/>
            </a:pPr>
            <a:r>
              <a:rPr lang="it-IT" dirty="0">
                <a:latin typeface="Calibri Light" panose="020F0302020204030204" pitchFamily="34" charset="0"/>
                <a:ea typeface="Calibri Light" panose="020F0302020204030204" pitchFamily="34" charset="0"/>
                <a:cs typeface="Calibri Light" panose="020F0302020204030204" pitchFamily="34" charset="0"/>
              </a:rPr>
              <a:t>We want the robot to perform the maze navigation precisely and, with limited outside information, the exploration bonus could provides adaptability to different types of mazes.</a:t>
            </a:r>
          </a:p>
        </p:txBody>
      </p:sp>
    </p:spTree>
    <p:extLst>
      <p:ext uri="{BB962C8B-B14F-4D97-AF65-F5344CB8AC3E}">
        <p14:creationId xmlns:p14="http://schemas.microsoft.com/office/powerpoint/2010/main" val="8163518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BFC9644-673A-459F-B3C5-9310A4E50E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bg2">
              <a:lumMod val="60000"/>
              <a:lumOff val="40000"/>
              <a:alpha val="60000"/>
            </a:schemeClr>
          </a:solidFill>
        </p:grpSpPr>
        <p:sp>
          <p:nvSpPr>
            <p:cNvPr id="11"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12"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3"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4"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5"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6"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7"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8"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9"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0"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1"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2"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23"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4"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5"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6"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7"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28"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9"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0"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1"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2"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3"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4"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5"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6"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7"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grpSp>
      <p:sp>
        <p:nvSpPr>
          <p:cNvPr id="2" name="Titolo 1">
            <a:extLst>
              <a:ext uri="{FF2B5EF4-FFF2-40B4-BE49-F238E27FC236}">
                <a16:creationId xmlns:a16="http://schemas.microsoft.com/office/drawing/2014/main" id="{30DD7379-43FC-9C9D-5AC3-4EE8442067C2}"/>
              </a:ext>
            </a:extLst>
          </p:cNvPr>
          <p:cNvSpPr>
            <a:spLocks noGrp="1"/>
          </p:cNvSpPr>
          <p:nvPr>
            <p:ph type="title"/>
          </p:nvPr>
        </p:nvSpPr>
        <p:spPr>
          <a:xfrm>
            <a:off x="1019015" y="1093787"/>
            <a:ext cx="3059969" cy="4697413"/>
          </a:xfrm>
        </p:spPr>
        <p:txBody>
          <a:bodyPr>
            <a:normAutofit/>
          </a:bodyPr>
          <a:lstStyle/>
          <a:p>
            <a:r>
              <a:rPr lang="it-IT" dirty="0"/>
              <a:t>Training strategy</a:t>
            </a:r>
          </a:p>
        </p:txBody>
      </p:sp>
      <p:sp useBgFill="1">
        <p:nvSpPr>
          <p:cNvPr id="39" name="Round Diagonal Corner Rectangle 7">
            <a:extLst>
              <a:ext uri="{FF2B5EF4-FFF2-40B4-BE49-F238E27FC236}">
                <a16:creationId xmlns:a16="http://schemas.microsoft.com/office/drawing/2014/main" id="{7D1C411D-0818-4640-8657-2AF78250C8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5084" y="0"/>
            <a:ext cx="7566916" cy="6848476"/>
          </a:xfrm>
          <a:prstGeom prst="round2DiagRect">
            <a:avLst>
              <a:gd name="adj1" fmla="val 0"/>
              <a:gd name="adj2" fmla="val 0"/>
            </a:avLst>
          </a:prstGeom>
          <a:ln w="19050" cap="sq">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Segnaposto contenuto 2">
            <a:extLst>
              <a:ext uri="{FF2B5EF4-FFF2-40B4-BE49-F238E27FC236}">
                <a16:creationId xmlns:a16="http://schemas.microsoft.com/office/drawing/2014/main" id="{6021F035-15C3-AAA5-AB38-D8E738AAC3FB}"/>
              </a:ext>
            </a:extLst>
          </p:cNvPr>
          <p:cNvSpPr>
            <a:spLocks noGrp="1"/>
          </p:cNvSpPr>
          <p:nvPr>
            <p:ph idx="1"/>
          </p:nvPr>
        </p:nvSpPr>
        <p:spPr>
          <a:xfrm>
            <a:off x="4940836" y="930275"/>
            <a:ext cx="7082729" cy="4697413"/>
          </a:xfrm>
        </p:spPr>
        <p:txBody>
          <a:bodyPr>
            <a:normAutofit fontScale="92500"/>
          </a:bodyPr>
          <a:lstStyle/>
          <a:p>
            <a:pPr marL="0" indent="0">
              <a:buNone/>
            </a:pPr>
            <a:r>
              <a:rPr lang="it-IT" dirty="0">
                <a:latin typeface="Calibri Light" panose="020F0302020204030204" pitchFamily="34" charset="0"/>
                <a:ea typeface="Calibri Light" panose="020F0302020204030204" pitchFamily="34" charset="0"/>
                <a:cs typeface="Calibri Light" panose="020F0302020204030204" pitchFamily="34" charset="0"/>
              </a:rPr>
              <a:t>In the past months, as we made some trainings on the different models provided we understood that a good choice of parameters and reward weights is crucial if we want to have good results: we want to train different models with less episodes to infer on what’s the best combination of parameters for these specific objectives (mainly the decay rate, the batch size, learning rate and the reward function).</a:t>
            </a:r>
          </a:p>
          <a:p>
            <a:pPr marL="0" indent="0">
              <a:buNone/>
            </a:pPr>
            <a:r>
              <a:rPr lang="it-IT" dirty="0">
                <a:latin typeface="Calibri Light" panose="020F0302020204030204" pitchFamily="34" charset="0"/>
                <a:ea typeface="Calibri Light" panose="020F0302020204030204" pitchFamily="34" charset="0"/>
                <a:cs typeface="Calibri Light" panose="020F0302020204030204" pitchFamily="34" charset="0"/>
              </a:rPr>
              <a:t>Also, choosing a good network architecture is pivital in ensuring the best outcome for the training so we plan to explore </a:t>
            </a:r>
            <a:r>
              <a:rPr lang="it-IT" dirty="0" err="1">
                <a:latin typeface="Calibri Light" panose="020F0302020204030204" pitchFamily="34" charset="0"/>
                <a:ea typeface="Calibri Light" panose="020F0302020204030204" pitchFamily="34" charset="0"/>
                <a:cs typeface="Calibri Light" panose="020F0302020204030204" pitchFamily="34" charset="0"/>
              </a:rPr>
              <a:t>different</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types</a:t>
            </a:r>
            <a:r>
              <a:rPr lang="it-IT" dirty="0">
                <a:latin typeface="Calibri Light" panose="020F0302020204030204" pitchFamily="34" charset="0"/>
                <a:ea typeface="Calibri Light" panose="020F0302020204030204" pitchFamily="34" charset="0"/>
                <a:cs typeface="Calibri Light" panose="020F0302020204030204" pitchFamily="34" charset="0"/>
              </a:rPr>
              <a:t> (e.g. Fully connected, Residual, RNN) to find the best suited one for our goals.</a:t>
            </a:r>
          </a:p>
        </p:txBody>
      </p:sp>
    </p:spTree>
    <p:extLst>
      <p:ext uri="{BB962C8B-B14F-4D97-AF65-F5344CB8AC3E}">
        <p14:creationId xmlns:p14="http://schemas.microsoft.com/office/powerpoint/2010/main" val="29156819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BFC9644-673A-459F-B3C5-9310A4E50E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bg2">
              <a:lumMod val="60000"/>
              <a:lumOff val="40000"/>
              <a:alpha val="60000"/>
            </a:schemeClr>
          </a:solidFill>
        </p:grpSpPr>
        <p:sp>
          <p:nvSpPr>
            <p:cNvPr id="11"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12"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3"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4"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5"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6"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7"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8"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9"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0"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1"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2"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23"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4"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5"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6"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7"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28"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9"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0"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1"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2"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3"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4"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5"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6"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7"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grpSp>
      <p:sp>
        <p:nvSpPr>
          <p:cNvPr id="2" name="Titolo 1">
            <a:extLst>
              <a:ext uri="{FF2B5EF4-FFF2-40B4-BE49-F238E27FC236}">
                <a16:creationId xmlns:a16="http://schemas.microsoft.com/office/drawing/2014/main" id="{C4A7F217-EBD1-F279-9024-651A000AF3A7}"/>
              </a:ext>
            </a:extLst>
          </p:cNvPr>
          <p:cNvSpPr>
            <a:spLocks noGrp="1"/>
          </p:cNvSpPr>
          <p:nvPr>
            <p:ph type="title"/>
          </p:nvPr>
        </p:nvSpPr>
        <p:spPr>
          <a:xfrm>
            <a:off x="1019015" y="1093787"/>
            <a:ext cx="3059969" cy="4697413"/>
          </a:xfrm>
        </p:spPr>
        <p:txBody>
          <a:bodyPr>
            <a:normAutofit/>
          </a:bodyPr>
          <a:lstStyle/>
          <a:p>
            <a:r>
              <a:rPr lang="it-IT" dirty="0"/>
              <a:t>Evaluation </a:t>
            </a:r>
            <a:r>
              <a:rPr lang="it-IT" dirty="0" err="1"/>
              <a:t>metrics</a:t>
            </a:r>
            <a:endParaRPr lang="it-IT" dirty="0"/>
          </a:p>
        </p:txBody>
      </p:sp>
      <p:sp useBgFill="1">
        <p:nvSpPr>
          <p:cNvPr id="39" name="Round Diagonal Corner Rectangle 7">
            <a:extLst>
              <a:ext uri="{FF2B5EF4-FFF2-40B4-BE49-F238E27FC236}">
                <a16:creationId xmlns:a16="http://schemas.microsoft.com/office/drawing/2014/main" id="{7D1C411D-0818-4640-8657-2AF78250C8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5084" y="0"/>
            <a:ext cx="7566916" cy="6848476"/>
          </a:xfrm>
          <a:prstGeom prst="round2DiagRect">
            <a:avLst>
              <a:gd name="adj1" fmla="val 0"/>
              <a:gd name="adj2" fmla="val 0"/>
            </a:avLst>
          </a:prstGeom>
          <a:ln w="19050" cap="sq">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Segnaposto contenuto 2">
            <a:extLst>
              <a:ext uri="{FF2B5EF4-FFF2-40B4-BE49-F238E27FC236}">
                <a16:creationId xmlns:a16="http://schemas.microsoft.com/office/drawing/2014/main" id="{B5A3A62C-9F20-EC47-7378-4B63560DDD1B}"/>
              </a:ext>
            </a:extLst>
          </p:cNvPr>
          <p:cNvSpPr>
            <a:spLocks noGrp="1"/>
          </p:cNvSpPr>
          <p:nvPr>
            <p:ph idx="1"/>
          </p:nvPr>
        </p:nvSpPr>
        <p:spPr>
          <a:xfrm>
            <a:off x="4910040" y="1550639"/>
            <a:ext cx="6997003" cy="3747198"/>
          </a:xfrm>
        </p:spPr>
        <p:txBody>
          <a:bodyPr>
            <a:normAutofit lnSpcReduction="10000"/>
          </a:bodyPr>
          <a:lstStyle/>
          <a:p>
            <a:pPr marL="0" indent="0">
              <a:buNone/>
            </a:pPr>
            <a:r>
              <a:rPr lang="it-IT" sz="2200" dirty="0">
                <a:latin typeface="Calibri Light" panose="020F0302020204030204" pitchFamily="34" charset="0"/>
                <a:ea typeface="Calibri Light" panose="020F0302020204030204" pitchFamily="34" charset="0"/>
                <a:cs typeface="Calibri Light" panose="020F0302020204030204" pitchFamily="34" charset="0"/>
              </a:rPr>
              <a:t>Having a number of clear objectives makes it easy to evaluate the success of the overall training process and, in addition to avoiding obstacles and reaching the final coordinates, we want to use the number of steps, meaning the time needed, to reach the final objective as another evalution metric.</a:t>
            </a:r>
          </a:p>
          <a:p>
            <a:pPr marL="0" indent="0">
              <a:buNone/>
            </a:pPr>
            <a:r>
              <a:rPr lang="it-IT" sz="2200" dirty="0">
                <a:latin typeface="Calibri Light" panose="020F0302020204030204" pitchFamily="34" charset="0"/>
                <a:ea typeface="Calibri Light" panose="020F0302020204030204" pitchFamily="34" charset="0"/>
                <a:cs typeface="Calibri Light" panose="020F0302020204030204" pitchFamily="34" charset="0"/>
              </a:rPr>
              <a:t>This has also the purpose of helping us troubleshooting, as a slower time helps us to evaluate if we need to change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our</a:t>
            </a:r>
            <a:r>
              <a:rPr lang="it-IT" sz="2200" dirty="0">
                <a:latin typeface="Calibri Light" panose="020F0302020204030204" pitchFamily="34" charset="0"/>
                <a:ea typeface="Calibri Light" panose="020F0302020204030204" pitchFamily="34" charset="0"/>
                <a:cs typeface="Calibri Light" panose="020F0302020204030204" pitchFamily="34" charset="0"/>
              </a:rPr>
              <a:t> training strategy.</a:t>
            </a:r>
          </a:p>
        </p:txBody>
      </p:sp>
    </p:spTree>
    <p:extLst>
      <p:ext uri="{BB962C8B-B14F-4D97-AF65-F5344CB8AC3E}">
        <p14:creationId xmlns:p14="http://schemas.microsoft.com/office/powerpoint/2010/main" val="28607585"/>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o">
  <a:themeElements>
    <a:clrScheme name="Circuito">
      <a:dk1>
        <a:sysClr val="windowText" lastClr="000000"/>
      </a:dk1>
      <a:lt1>
        <a:sysClr val="window" lastClr="FFFFFF"/>
      </a:lt1>
      <a:dk2>
        <a:srgbClr val="134770"/>
      </a:dk2>
      <a:lt2>
        <a:srgbClr val="82FFFF"/>
      </a:lt2>
      <a:accent1>
        <a:srgbClr val="9ACD4C"/>
      </a:accent1>
      <a:accent2>
        <a:srgbClr val="FAA93A"/>
      </a:accent2>
      <a:accent3>
        <a:srgbClr val="D35940"/>
      </a:accent3>
      <a:accent4>
        <a:srgbClr val="B258D3"/>
      </a:accent4>
      <a:accent5>
        <a:srgbClr val="63A0CC"/>
      </a:accent5>
      <a:accent6>
        <a:srgbClr val="8AC4A7"/>
      </a:accent6>
      <a:hlink>
        <a:srgbClr val="B8FA56"/>
      </a:hlink>
      <a:folHlink>
        <a:srgbClr val="7AF8CC"/>
      </a:folHlink>
    </a:clrScheme>
    <a:fontScheme name="Circuito">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o">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50000"/>
              </a:schemeClr>
            </a:gs>
            <a:gs pos="100000">
              <a:schemeClr val="phClr">
                <a:shade val="92000"/>
                <a:hueMod val="104000"/>
                <a:satMod val="140000"/>
                <a:lumMod val="68000"/>
              </a:schemeClr>
            </a:gs>
          </a:gsLst>
          <a:lin ang="5040000" scaled="0"/>
        </a:gradFill>
        <a:blipFill>
          <a:blip xmlns:r="http://schemas.openxmlformats.org/officeDocument/2006/relationships" r:embed="rId1">
            <a:duotone>
              <a:schemeClr val="phClr">
                <a:shade val="88000"/>
                <a:hueMod val="106000"/>
                <a:satMod val="140000"/>
                <a:lumMod val="54000"/>
              </a:schemeClr>
              <a:schemeClr val="phClr">
                <a:tint val="98000"/>
                <a:hueMod val="90000"/>
                <a:satMod val="150000"/>
                <a:lumMod val="16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0911B802-464C-4241-8DD9-B60FF88E379F}"/>
    </a:ext>
  </a:extLst>
</a:theme>
</file>

<file path=docProps/app.xml><?xml version="1.0" encoding="utf-8"?>
<Properties xmlns="http://schemas.openxmlformats.org/officeDocument/2006/extended-properties" xmlns:vt="http://schemas.openxmlformats.org/officeDocument/2006/docPropsVTypes">
  <Template>TM04033919[[fn=Circuito]]</Template>
  <TotalTime>339</TotalTime>
  <Words>631</Words>
  <Application>Microsoft Office PowerPoint</Application>
  <PresentationFormat>Widescreen</PresentationFormat>
  <Paragraphs>26</Paragraphs>
  <Slides>8</Slides>
  <Notes>0</Notes>
  <HiddenSlides>0</HiddenSlides>
  <MMClips>0</MMClips>
  <ScaleCrop>false</ScaleCrop>
  <HeadingPairs>
    <vt:vector size="6" baseType="variant">
      <vt:variant>
        <vt:lpstr>Caratteri utilizzati</vt:lpstr>
      </vt:variant>
      <vt:variant>
        <vt:i4>3</vt:i4>
      </vt:variant>
      <vt:variant>
        <vt:lpstr>Tema</vt:lpstr>
      </vt:variant>
      <vt:variant>
        <vt:i4>1</vt:i4>
      </vt:variant>
      <vt:variant>
        <vt:lpstr>Titoli diapositive</vt:lpstr>
      </vt:variant>
      <vt:variant>
        <vt:i4>8</vt:i4>
      </vt:variant>
    </vt:vector>
  </HeadingPairs>
  <TitlesOfParts>
    <vt:vector size="12" baseType="lpstr">
      <vt:lpstr>Arial</vt:lpstr>
      <vt:lpstr>Calibri Light</vt:lpstr>
      <vt:lpstr>Tw Cen MT</vt:lpstr>
      <vt:lpstr>Circuito</vt:lpstr>
      <vt:lpstr>project proposal Group K</vt:lpstr>
      <vt:lpstr>enviROnment</vt:lpstr>
      <vt:lpstr>tASK</vt:lpstr>
      <vt:lpstr>Input and sensor</vt:lpstr>
      <vt:lpstr>Drl algorithm</vt:lpstr>
      <vt:lpstr>Reward structure and curriculum</vt:lpstr>
      <vt:lpstr>Training strategy</vt:lpstr>
      <vt:lpstr>Evaluation metrics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Alessandro Fioritto</dc:creator>
  <cp:lastModifiedBy>Alessandro Fioritto</cp:lastModifiedBy>
  <cp:revision>10</cp:revision>
  <dcterms:created xsi:type="dcterms:W3CDTF">2025-12-23T10:16:16Z</dcterms:created>
  <dcterms:modified xsi:type="dcterms:W3CDTF">2026-01-18T08:46:59Z</dcterms:modified>
</cp:coreProperties>
</file>